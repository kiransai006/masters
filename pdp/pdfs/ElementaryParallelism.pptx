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2"/>
  </p:notesMasterIdLst>
  <p:sldIdLst>
    <p:sldId id="256" r:id="rId2"/>
    <p:sldId id="261" r:id="rId3"/>
    <p:sldId id="262" r:id="rId4"/>
    <p:sldId id="263" r:id="rId5"/>
    <p:sldId id="322" r:id="rId6"/>
    <p:sldId id="321" r:id="rId7"/>
    <p:sldId id="324" r:id="rId8"/>
    <p:sldId id="264" r:id="rId9"/>
    <p:sldId id="265" r:id="rId10"/>
    <p:sldId id="266" r:id="rId11"/>
    <p:sldId id="267" r:id="rId12"/>
    <p:sldId id="268" r:id="rId13"/>
    <p:sldId id="269" r:id="rId14"/>
    <p:sldId id="325" r:id="rId15"/>
    <p:sldId id="326" r:id="rId16"/>
    <p:sldId id="327" r:id="rId17"/>
    <p:sldId id="328" r:id="rId18"/>
    <p:sldId id="329" r:id="rId19"/>
    <p:sldId id="330" r:id="rId20"/>
    <p:sldId id="331" r:id="rId21"/>
    <p:sldId id="332" r:id="rId22"/>
    <p:sldId id="333" r:id="rId23"/>
    <p:sldId id="334" r:id="rId24"/>
    <p:sldId id="335" r:id="rId25"/>
    <p:sldId id="336" r:id="rId26"/>
    <p:sldId id="337" r:id="rId27"/>
    <p:sldId id="338" r:id="rId28"/>
    <p:sldId id="339" r:id="rId29"/>
    <p:sldId id="340" r:id="rId30"/>
    <p:sldId id="341" r:id="rId31"/>
    <p:sldId id="342" r:id="rId32"/>
    <p:sldId id="343" r:id="rId33"/>
    <p:sldId id="344" r:id="rId34"/>
    <p:sldId id="345" r:id="rId35"/>
    <p:sldId id="346" r:id="rId36"/>
    <p:sldId id="347" r:id="rId37"/>
    <p:sldId id="348" r:id="rId38"/>
    <p:sldId id="349" r:id="rId39"/>
    <p:sldId id="350" r:id="rId40"/>
    <p:sldId id="351" r:id="rId41"/>
    <p:sldId id="352" r:id="rId42"/>
    <p:sldId id="353" r:id="rId43"/>
    <p:sldId id="354" r:id="rId44"/>
    <p:sldId id="290" r:id="rId45"/>
    <p:sldId id="291" r:id="rId46"/>
    <p:sldId id="375" r:id="rId47"/>
    <p:sldId id="292" r:id="rId48"/>
    <p:sldId id="293" r:id="rId49"/>
    <p:sldId id="294" r:id="rId50"/>
    <p:sldId id="295" r:id="rId51"/>
    <p:sldId id="400" r:id="rId52"/>
    <p:sldId id="296" r:id="rId53"/>
    <p:sldId id="297" r:id="rId54"/>
    <p:sldId id="298" r:id="rId55"/>
    <p:sldId id="299" r:id="rId56"/>
    <p:sldId id="311" r:id="rId57"/>
    <p:sldId id="312" r:id="rId58"/>
    <p:sldId id="313" r:id="rId59"/>
    <p:sldId id="314" r:id="rId60"/>
    <p:sldId id="315" r:id="rId61"/>
    <p:sldId id="305" r:id="rId62"/>
    <p:sldId id="306" r:id="rId63"/>
    <p:sldId id="307" r:id="rId64"/>
    <p:sldId id="308" r:id="rId65"/>
    <p:sldId id="309" r:id="rId66"/>
    <p:sldId id="310" r:id="rId67"/>
    <p:sldId id="376" r:id="rId68"/>
    <p:sldId id="316" r:id="rId69"/>
    <p:sldId id="317" r:id="rId70"/>
    <p:sldId id="318" r:id="rId71"/>
    <p:sldId id="319" r:id="rId72"/>
    <p:sldId id="320" r:id="rId73"/>
    <p:sldId id="355" r:id="rId74"/>
    <p:sldId id="377" r:id="rId75"/>
    <p:sldId id="378" r:id="rId76"/>
    <p:sldId id="379" r:id="rId77"/>
    <p:sldId id="380" r:id="rId78"/>
    <p:sldId id="382" r:id="rId79"/>
    <p:sldId id="383" r:id="rId80"/>
    <p:sldId id="384" r:id="rId81"/>
    <p:sldId id="385" r:id="rId82"/>
    <p:sldId id="386" r:id="rId83"/>
    <p:sldId id="387" r:id="rId84"/>
    <p:sldId id="388" r:id="rId85"/>
    <p:sldId id="389" r:id="rId86"/>
    <p:sldId id="390" r:id="rId87"/>
    <p:sldId id="391" r:id="rId88"/>
    <p:sldId id="392" r:id="rId89"/>
    <p:sldId id="393" r:id="rId90"/>
    <p:sldId id="394" r:id="rId91"/>
    <p:sldId id="395" r:id="rId92"/>
    <p:sldId id="356" r:id="rId93"/>
    <p:sldId id="357" r:id="rId94"/>
    <p:sldId id="358" r:id="rId95"/>
    <p:sldId id="359" r:id="rId96"/>
    <p:sldId id="360" r:id="rId97"/>
    <p:sldId id="396" r:id="rId98"/>
    <p:sldId id="397" r:id="rId99"/>
    <p:sldId id="398" r:id="rId100"/>
    <p:sldId id="399" r:id="rId10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200" smtClean="0">
                <a:latin typeface="Arial" charset="0"/>
                <a:ea typeface="ＭＳ Ｐゴシック" charset="0"/>
              </a:defRPr>
            </a:lvl1pPr>
          </a:lstStyle>
          <a:p>
            <a:pPr>
              <a:defRPr/>
            </a:pPr>
            <a:endParaRPr lang="en-US"/>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200" smtClean="0">
                <a:latin typeface="Arial" charset="0"/>
                <a:ea typeface="ＭＳ Ｐゴシック"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defRPr sz="1200" smtClean="0">
                <a:latin typeface="Arial" charset="0"/>
                <a:ea typeface="ＭＳ Ｐゴシック" charset="0"/>
              </a:defRPr>
            </a:lvl1pPr>
          </a:lstStyle>
          <a:p>
            <a:pPr>
              <a:defRPr/>
            </a:pPr>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r">
              <a:defRPr sz="1200"/>
            </a:lvl1pPr>
          </a:lstStyle>
          <a:p>
            <a:fld id="{A89CAD8E-47C9-4FBF-B5E9-7100DA14764F}"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C06904EE-BBF7-4631-8B26-F0AB5B3B596F}" type="slidenum">
              <a:rPr lang="en-US"/>
              <a:pPr/>
              <a:t>1</a:t>
            </a:fld>
            <a:endParaRPr lang="en-US"/>
          </a:p>
        </p:txBody>
      </p:sp>
      <p:sp>
        <p:nvSpPr>
          <p:cNvPr id="409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099"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69884CD5-9B24-4548-BE10-9A62D565396D}" type="slidenum">
              <a:rPr lang="en-US"/>
              <a:pPr/>
              <a:t>2</a:t>
            </a:fld>
            <a:endParaRPr lang="en-US"/>
          </a:p>
        </p:txBody>
      </p:sp>
      <p:sp>
        <p:nvSpPr>
          <p:cNvPr id="1638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6387"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5BA33E7C-EB6A-4555-847D-D04732A2698E}" type="slidenum">
              <a:rPr lang="en-US"/>
              <a:pPr/>
              <a:t>3</a:t>
            </a:fld>
            <a:endParaRPr lang="en-US"/>
          </a:p>
        </p:txBody>
      </p:sp>
      <p:sp>
        <p:nvSpPr>
          <p:cNvPr id="1843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8435"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1B9FB217-602D-4970-BA3E-901E2C50035F}" type="slidenum">
              <a:rPr lang="en-US"/>
              <a:pPr/>
              <a:t>4</a:t>
            </a:fld>
            <a:endParaRPr lang="en-US"/>
          </a:p>
        </p:txBody>
      </p:sp>
      <p:sp>
        <p:nvSpPr>
          <p:cNvPr id="1741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7411"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031CD136-3204-45AA-B388-6E5FEE297B39}" type="slidenum">
              <a:rPr lang="en-US"/>
              <a:pPr/>
              <a:t>8</a:t>
            </a:fld>
            <a:endParaRPr lang="en-US"/>
          </a:p>
        </p:txBody>
      </p:sp>
      <p:sp>
        <p:nvSpPr>
          <p:cNvPr id="2560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5603"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63316BB0-B68E-4557-B359-BAE4E0628EFD}" type="slidenum">
              <a:rPr lang="en-US"/>
              <a:pPr/>
              <a:t>9</a:t>
            </a:fld>
            <a:endParaRPr lang="en-US"/>
          </a:p>
        </p:txBody>
      </p:sp>
      <p:sp>
        <p:nvSpPr>
          <p:cNvPr id="2662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6627"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0AEEEE8E-3E28-446B-B5BB-71F07353077C}" type="slidenum">
              <a:rPr lang="en-US"/>
              <a:pPr/>
              <a:t>10</a:t>
            </a:fld>
            <a:endParaRPr lang="en-US"/>
          </a:p>
        </p:txBody>
      </p:sp>
      <p:sp>
        <p:nvSpPr>
          <p:cNvPr id="2765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7651"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06789748-4757-4FDE-88F4-6AA47AF76A14}" type="slidenum">
              <a:rPr lang="en-US"/>
              <a:pPr/>
              <a:t>11</a:t>
            </a:fld>
            <a:endParaRPr lang="en-US"/>
          </a:p>
        </p:txBody>
      </p:sp>
      <p:sp>
        <p:nvSpPr>
          <p:cNvPr id="2867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8675"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D96BDAC3-E994-420D-B088-A1BA0659405E}" type="slidenum">
              <a:rPr lang="en-US"/>
              <a:pPr/>
              <a:t>12</a:t>
            </a:fld>
            <a:endParaRPr lang="en-US"/>
          </a:p>
        </p:txBody>
      </p:sp>
      <p:sp>
        <p:nvSpPr>
          <p:cNvPr id="2969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9699"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0034EF87-036D-4895-BA0F-6CE577E30C37}" type="slidenum">
              <a:rPr lang="en-US"/>
              <a:pPr/>
              <a:t>13</a:t>
            </a:fld>
            <a:endParaRPr lang="en-US"/>
          </a:p>
        </p:txBody>
      </p:sp>
      <p:sp>
        <p:nvSpPr>
          <p:cNvPr id="3072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0723"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9CDEDA64-BA23-473E-94F2-E2CB0CE3F77B}" type="slidenum">
              <a:rPr lang="en-US"/>
              <a:pPr/>
              <a:t>44</a:t>
            </a:fld>
            <a:endParaRPr lang="en-US"/>
          </a:p>
        </p:txBody>
      </p:sp>
      <p:sp>
        <p:nvSpPr>
          <p:cNvPr id="593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9395"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770068A5-E858-42B1-9327-10195673C9FB}" type="slidenum">
              <a:rPr lang="en-US"/>
              <a:pPr/>
              <a:t>45</a:t>
            </a:fld>
            <a:endParaRPr lang="en-US"/>
          </a:p>
        </p:txBody>
      </p:sp>
      <p:sp>
        <p:nvSpPr>
          <p:cNvPr id="6041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0419"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7CD0A302-29C2-4426-8A7D-155F8AAC266A}" type="slidenum">
              <a:rPr lang="en-US"/>
              <a:pPr/>
              <a:t>47</a:t>
            </a:fld>
            <a:endParaRPr lang="en-US"/>
          </a:p>
        </p:txBody>
      </p:sp>
      <p:sp>
        <p:nvSpPr>
          <p:cNvPr id="614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1443"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C5EC3D18-8D97-42DC-A1FC-286317810E50}" type="slidenum">
              <a:rPr lang="en-US"/>
              <a:pPr/>
              <a:t>48</a:t>
            </a:fld>
            <a:endParaRPr lang="en-US"/>
          </a:p>
        </p:txBody>
      </p:sp>
      <p:sp>
        <p:nvSpPr>
          <p:cNvPr id="6246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2467"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431B7456-31E1-44E9-ABB8-1CC819E43ACC}" type="slidenum">
              <a:rPr lang="en-US"/>
              <a:pPr/>
              <a:t>49</a:t>
            </a:fld>
            <a:endParaRPr lang="en-US"/>
          </a:p>
        </p:txBody>
      </p:sp>
      <p:sp>
        <p:nvSpPr>
          <p:cNvPr id="6349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3491"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81C07C69-A3D3-4844-BA6A-B493903BD91F}" type="slidenum">
              <a:rPr lang="en-US"/>
              <a:pPr/>
              <a:t>50</a:t>
            </a:fld>
            <a:endParaRPr lang="en-US"/>
          </a:p>
        </p:txBody>
      </p:sp>
      <p:sp>
        <p:nvSpPr>
          <p:cNvPr id="6451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4515"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B3A61F2C-186B-4A6E-9EA4-E744769D5064}" type="slidenum">
              <a:rPr lang="en-US"/>
              <a:pPr/>
              <a:t>52</a:t>
            </a:fld>
            <a:endParaRPr lang="en-US"/>
          </a:p>
        </p:txBody>
      </p:sp>
      <p:sp>
        <p:nvSpPr>
          <p:cNvPr id="6553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65539"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BE0CDC26-4A92-464C-930E-A1F7C927834E}" type="slidenum">
              <a:rPr lang="en-US"/>
              <a:pPr/>
              <a:t>92</a:t>
            </a:fld>
            <a:endParaRPr lang="en-US"/>
          </a:p>
        </p:txBody>
      </p:sp>
      <p:sp>
        <p:nvSpPr>
          <p:cNvPr id="3993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9939"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C10855AC-43DD-4063-9634-236CD42D6983}" type="slidenum">
              <a:rPr lang="en-US"/>
              <a:pPr/>
              <a:t>93</a:t>
            </a:fld>
            <a:endParaRPr lang="en-US"/>
          </a:p>
        </p:txBody>
      </p:sp>
      <p:sp>
        <p:nvSpPr>
          <p:cNvPr id="4096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0963"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A9632541-3195-4B17-B586-A3504A0EF008}" type="slidenum">
              <a:rPr lang="en-US"/>
              <a:pPr/>
              <a:t>94</a:t>
            </a:fld>
            <a:endParaRPr lang="en-US"/>
          </a:p>
        </p:txBody>
      </p:sp>
      <p:sp>
        <p:nvSpPr>
          <p:cNvPr id="4198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1987"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927ABD01-8D7F-4368-8A38-6B35E521A8EA}" type="slidenum">
              <a:rPr lang="en-US"/>
              <a:pPr/>
              <a:t>95</a:t>
            </a:fld>
            <a:endParaRPr lang="en-US"/>
          </a:p>
        </p:txBody>
      </p:sp>
      <p:sp>
        <p:nvSpPr>
          <p:cNvPr id="4301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3011"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514331EE-4918-4C85-B735-D6CE82FD923B}" type="slidenum">
              <a:rPr lang="en-US"/>
              <a:pPr/>
              <a:t>96</a:t>
            </a:fld>
            <a:endParaRPr lang="en-US"/>
          </a:p>
        </p:txBody>
      </p:sp>
      <p:sp>
        <p:nvSpPr>
          <p:cNvPr id="4403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4035" name="Rectangle 3"/>
          <p:cNvSpPr>
            <a:spLocks noGrp="1" noChangeArrowheads="1"/>
          </p:cNvSpPr>
          <p:nvPr>
            <p:ph type="body" idx="1"/>
          </p:nvPr>
        </p:nvSpPr>
        <p:spPr/>
        <p:txBody>
          <a:bodyPr/>
          <a:lstStyle/>
          <a:p>
            <a:pPr eaLnBrk="1" hangingPunct="1">
              <a:defRPr/>
            </a:pP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ga-I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ga-IE"/>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r>
              <a:rPr lang="en-US"/>
              <a:t>Tony Mullins</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Concurrent Programming</a:t>
            </a:r>
          </a:p>
        </p:txBody>
      </p:sp>
      <p:sp>
        <p:nvSpPr>
          <p:cNvPr id="6" name="Rectangle 6"/>
          <p:cNvSpPr>
            <a:spLocks noGrp="1" noChangeArrowheads="1"/>
          </p:cNvSpPr>
          <p:nvPr>
            <p:ph type="sldNum" sz="quarter" idx="12"/>
          </p:nvPr>
        </p:nvSpPr>
        <p:spPr>
          <a:ln/>
        </p:spPr>
        <p:txBody>
          <a:bodyPr/>
          <a:lstStyle>
            <a:lvl1pPr>
              <a:defRPr/>
            </a:lvl1pPr>
          </a:lstStyle>
          <a:p>
            <a:fld id="{7312F9D8-8B77-4B17-8C95-5C8331C42F9C}"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490066"/>
          </a:xfrm>
        </p:spPr>
        <p:style>
          <a:lnRef idx="2">
            <a:schemeClr val="accent2"/>
          </a:lnRef>
          <a:fillRef idx="1">
            <a:schemeClr val="lt1"/>
          </a:fillRef>
          <a:effectRef idx="0">
            <a:schemeClr val="accent2"/>
          </a:effectRef>
          <a:fontRef idx="none"/>
        </p:style>
        <p:txBody>
          <a:bodyPr/>
          <a:lstStyle>
            <a:lvl1pPr>
              <a:defRPr sz="2800">
                <a:solidFill>
                  <a:srgbClr val="FF0000"/>
                </a:solidFill>
              </a:defRPr>
            </a:lvl1pPr>
          </a:lstStyle>
          <a:p>
            <a:r>
              <a:rPr lang="ga-IE" dirty="0"/>
              <a:t>Click to edit Master title style</a:t>
            </a:r>
            <a:endParaRPr lang="en-US" dirty="0"/>
          </a:p>
        </p:txBody>
      </p:sp>
      <p:sp>
        <p:nvSpPr>
          <p:cNvPr id="3" name="Content Placeholder 2"/>
          <p:cNvSpPr>
            <a:spLocks noGrp="1"/>
          </p:cNvSpPr>
          <p:nvPr>
            <p:ph idx="1"/>
          </p:nvPr>
        </p:nvSpPr>
        <p:spPr>
          <a:xfrm>
            <a:off x="395288" y="836713"/>
            <a:ext cx="8229600" cy="5318026"/>
          </a:xfrm>
        </p:spPr>
        <p:txBody>
          <a:bodyPr/>
          <a:lstStyle/>
          <a:p>
            <a:pPr lvl="0"/>
            <a:r>
              <a:rPr lang="ga-IE" dirty="0"/>
              <a:t>Click to edit Master text styles</a:t>
            </a:r>
          </a:p>
          <a:p>
            <a:pPr lvl="1"/>
            <a:r>
              <a:rPr lang="ga-IE" dirty="0"/>
              <a:t>Second level</a:t>
            </a:r>
          </a:p>
          <a:p>
            <a:pPr lvl="2"/>
            <a:r>
              <a:rPr lang="ga-IE" dirty="0"/>
              <a:t>Third level</a:t>
            </a:r>
          </a:p>
          <a:p>
            <a:pPr lvl="3"/>
            <a:r>
              <a:rPr lang="ga-IE" dirty="0"/>
              <a:t>Fourth level</a:t>
            </a:r>
          </a:p>
          <a:p>
            <a:pPr lvl="4"/>
            <a:r>
              <a:rPr lang="ga-IE" dirty="0"/>
              <a:t>Fifth level</a:t>
            </a:r>
            <a:endParaRPr lang="en-US" dirty="0"/>
          </a:p>
        </p:txBody>
      </p:sp>
      <p:sp>
        <p:nvSpPr>
          <p:cNvPr id="4" name="Rectangle 4"/>
          <p:cNvSpPr>
            <a:spLocks noGrp="1" noChangeArrowheads="1"/>
          </p:cNvSpPr>
          <p:nvPr>
            <p:ph type="dt" sz="half" idx="10"/>
          </p:nvPr>
        </p:nvSpPr>
        <p:spPr>
          <a:ln/>
        </p:spPr>
        <p:txBody>
          <a:bodyPr/>
          <a:lstStyle>
            <a:lvl1pPr>
              <a:defRPr/>
            </a:lvl1pPr>
          </a:lstStyle>
          <a:p>
            <a:pPr>
              <a:defRPr/>
            </a:pPr>
            <a:r>
              <a:rPr lang="en-US"/>
              <a:t>Tony Mullins</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Concurrent Programming</a:t>
            </a:r>
          </a:p>
        </p:txBody>
      </p:sp>
      <p:sp>
        <p:nvSpPr>
          <p:cNvPr id="6" name="Rectangle 6"/>
          <p:cNvSpPr>
            <a:spLocks noGrp="1" noChangeArrowheads="1"/>
          </p:cNvSpPr>
          <p:nvPr>
            <p:ph type="sldNum" sz="quarter" idx="12"/>
          </p:nvPr>
        </p:nvSpPr>
        <p:spPr>
          <a:ln/>
        </p:spPr>
        <p:txBody>
          <a:bodyPr/>
          <a:lstStyle>
            <a:lvl1pPr>
              <a:defRPr/>
            </a:lvl1pPr>
          </a:lstStyle>
          <a:p>
            <a:fld id="{2C77B6D4-FF60-4BA7-86A9-72D6106BD70D}"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ga-IE"/>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ga-IE"/>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a:t>Tony Mullins</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Concurrent Programming</a:t>
            </a:r>
          </a:p>
        </p:txBody>
      </p:sp>
      <p:sp>
        <p:nvSpPr>
          <p:cNvPr id="6" name="Rectangle 6"/>
          <p:cNvSpPr>
            <a:spLocks noGrp="1" noChangeArrowheads="1"/>
          </p:cNvSpPr>
          <p:nvPr>
            <p:ph type="sldNum" sz="quarter" idx="12"/>
          </p:nvPr>
        </p:nvSpPr>
        <p:spPr>
          <a:ln/>
        </p:spPr>
        <p:txBody>
          <a:bodyPr/>
          <a:lstStyle>
            <a:lvl1pPr>
              <a:defRPr/>
            </a:lvl1pPr>
          </a:lstStyle>
          <a:p>
            <a:fld id="{E9CC6B8C-0E0F-461A-93A1-4E5411C520FB}"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sz="half" idx="1"/>
          </p:nvPr>
        </p:nvSpPr>
        <p:spPr>
          <a:xfrm>
            <a:off x="395288" y="981075"/>
            <a:ext cx="4038600" cy="51736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4586288" y="981075"/>
            <a:ext cx="4038600" cy="51736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r>
              <a:rPr lang="en-US"/>
              <a:t>Tony Mullins</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Concurrent Programming</a:t>
            </a:r>
          </a:p>
        </p:txBody>
      </p:sp>
      <p:sp>
        <p:nvSpPr>
          <p:cNvPr id="7" name="Rectangle 6"/>
          <p:cNvSpPr>
            <a:spLocks noGrp="1" noChangeArrowheads="1"/>
          </p:cNvSpPr>
          <p:nvPr>
            <p:ph type="sldNum" sz="quarter" idx="12"/>
          </p:nvPr>
        </p:nvSpPr>
        <p:spPr>
          <a:ln/>
        </p:spPr>
        <p:txBody>
          <a:bodyPr/>
          <a:lstStyle>
            <a:lvl1pPr>
              <a:defRPr/>
            </a:lvl1pPr>
          </a:lstStyle>
          <a:p>
            <a:fld id="{D6E8E215-44F4-434E-AFBF-27B7A936BCC9}"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ga-IE"/>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r>
              <a:rPr lang="en-US"/>
              <a:t>Tony Mullins</a:t>
            </a:r>
          </a:p>
        </p:txBody>
      </p:sp>
      <p:sp>
        <p:nvSpPr>
          <p:cNvPr id="8" name="Rectangle 5"/>
          <p:cNvSpPr>
            <a:spLocks noGrp="1" noChangeArrowheads="1"/>
          </p:cNvSpPr>
          <p:nvPr>
            <p:ph type="ftr" sz="quarter" idx="11"/>
          </p:nvPr>
        </p:nvSpPr>
        <p:spPr>
          <a:ln/>
        </p:spPr>
        <p:txBody>
          <a:bodyPr/>
          <a:lstStyle>
            <a:lvl1pPr>
              <a:defRPr/>
            </a:lvl1pPr>
          </a:lstStyle>
          <a:p>
            <a:pPr>
              <a:defRPr/>
            </a:pPr>
            <a:r>
              <a:rPr lang="en-US"/>
              <a:t>Concurrent Programming</a:t>
            </a:r>
          </a:p>
        </p:txBody>
      </p:sp>
      <p:sp>
        <p:nvSpPr>
          <p:cNvPr id="9" name="Rectangle 6"/>
          <p:cNvSpPr>
            <a:spLocks noGrp="1" noChangeArrowheads="1"/>
          </p:cNvSpPr>
          <p:nvPr>
            <p:ph type="sldNum" sz="quarter" idx="12"/>
          </p:nvPr>
        </p:nvSpPr>
        <p:spPr>
          <a:ln/>
        </p:spPr>
        <p:txBody>
          <a:bodyPr/>
          <a:lstStyle>
            <a:lvl1pPr>
              <a:defRPr/>
            </a:lvl1pPr>
          </a:lstStyle>
          <a:p>
            <a:fld id="{13A6892F-D0D3-4FCF-A4BA-CE0B5753515C}"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r>
              <a:rPr lang="en-US"/>
              <a:t>Tony Mullins</a:t>
            </a:r>
          </a:p>
        </p:txBody>
      </p:sp>
      <p:sp>
        <p:nvSpPr>
          <p:cNvPr id="4" name="Rectangle 5"/>
          <p:cNvSpPr>
            <a:spLocks noGrp="1" noChangeArrowheads="1"/>
          </p:cNvSpPr>
          <p:nvPr>
            <p:ph type="ftr" sz="quarter" idx="11"/>
          </p:nvPr>
        </p:nvSpPr>
        <p:spPr>
          <a:ln/>
        </p:spPr>
        <p:txBody>
          <a:bodyPr/>
          <a:lstStyle>
            <a:lvl1pPr>
              <a:defRPr/>
            </a:lvl1pPr>
          </a:lstStyle>
          <a:p>
            <a:pPr>
              <a:defRPr/>
            </a:pPr>
            <a:r>
              <a:rPr lang="en-US"/>
              <a:t>Concurrent Programming</a:t>
            </a:r>
          </a:p>
        </p:txBody>
      </p:sp>
      <p:sp>
        <p:nvSpPr>
          <p:cNvPr id="5" name="Rectangle 6"/>
          <p:cNvSpPr>
            <a:spLocks noGrp="1" noChangeArrowheads="1"/>
          </p:cNvSpPr>
          <p:nvPr>
            <p:ph type="sldNum" sz="quarter" idx="12"/>
          </p:nvPr>
        </p:nvSpPr>
        <p:spPr>
          <a:ln/>
        </p:spPr>
        <p:txBody>
          <a:bodyPr/>
          <a:lstStyle>
            <a:lvl1pPr>
              <a:defRPr/>
            </a:lvl1pPr>
          </a:lstStyle>
          <a:p>
            <a:fld id="{6B91C7FF-F640-4A75-8593-86E5E7410E28}"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a:t>Tony Mullins</a:t>
            </a:r>
          </a:p>
        </p:txBody>
      </p:sp>
      <p:sp>
        <p:nvSpPr>
          <p:cNvPr id="3" name="Rectangle 5"/>
          <p:cNvSpPr>
            <a:spLocks noGrp="1" noChangeArrowheads="1"/>
          </p:cNvSpPr>
          <p:nvPr>
            <p:ph type="ftr" sz="quarter" idx="11"/>
          </p:nvPr>
        </p:nvSpPr>
        <p:spPr>
          <a:ln/>
        </p:spPr>
        <p:txBody>
          <a:bodyPr/>
          <a:lstStyle>
            <a:lvl1pPr>
              <a:defRPr/>
            </a:lvl1pPr>
          </a:lstStyle>
          <a:p>
            <a:pPr>
              <a:defRPr/>
            </a:pPr>
            <a:r>
              <a:rPr lang="en-US"/>
              <a:t>Concurrent Programming</a:t>
            </a:r>
          </a:p>
        </p:txBody>
      </p:sp>
      <p:sp>
        <p:nvSpPr>
          <p:cNvPr id="4" name="Rectangle 6"/>
          <p:cNvSpPr>
            <a:spLocks noGrp="1" noChangeArrowheads="1"/>
          </p:cNvSpPr>
          <p:nvPr>
            <p:ph type="sldNum" sz="quarter" idx="12"/>
          </p:nvPr>
        </p:nvSpPr>
        <p:spPr>
          <a:ln/>
        </p:spPr>
        <p:txBody>
          <a:bodyPr/>
          <a:lstStyle>
            <a:lvl1pPr>
              <a:defRPr/>
            </a:lvl1pPr>
          </a:lstStyle>
          <a:p>
            <a:fld id="{1237243D-0D70-430B-BE78-E358EC5D57E9}"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ga-IE"/>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Tony Mullins</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Concurrent Programming</a:t>
            </a:r>
          </a:p>
        </p:txBody>
      </p:sp>
      <p:sp>
        <p:nvSpPr>
          <p:cNvPr id="7" name="Rectangle 6"/>
          <p:cNvSpPr>
            <a:spLocks noGrp="1" noChangeArrowheads="1"/>
          </p:cNvSpPr>
          <p:nvPr>
            <p:ph type="sldNum" sz="quarter" idx="12"/>
          </p:nvPr>
        </p:nvSpPr>
        <p:spPr>
          <a:ln/>
        </p:spPr>
        <p:txBody>
          <a:bodyPr/>
          <a:lstStyle>
            <a:lvl1pPr>
              <a:defRPr/>
            </a:lvl1pPr>
          </a:lstStyle>
          <a:p>
            <a:fld id="{E64180F1-D615-4177-9E5A-67EEEDCDE107}"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ga-IE"/>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Tony Mullins</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Concurrent Programming</a:t>
            </a:r>
          </a:p>
        </p:txBody>
      </p:sp>
      <p:sp>
        <p:nvSpPr>
          <p:cNvPr id="7" name="Rectangle 6"/>
          <p:cNvSpPr>
            <a:spLocks noGrp="1" noChangeArrowheads="1"/>
          </p:cNvSpPr>
          <p:nvPr>
            <p:ph type="sldNum" sz="quarter" idx="12"/>
          </p:nvPr>
        </p:nvSpPr>
        <p:spPr>
          <a:ln/>
        </p:spPr>
        <p:txBody>
          <a:bodyPr/>
          <a:lstStyle>
            <a:lvl1pPr>
              <a:defRPr/>
            </a:lvl1pPr>
          </a:lstStyle>
          <a:p>
            <a:fld id="{0E801CED-1246-49C7-817A-AEBEDBD21269}"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r>
              <a:rPr lang="en-US"/>
              <a:t>Tony Mullins</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Concurrent Programming</a:t>
            </a:r>
          </a:p>
        </p:txBody>
      </p:sp>
      <p:sp>
        <p:nvSpPr>
          <p:cNvPr id="6" name="Rectangle 6"/>
          <p:cNvSpPr>
            <a:spLocks noGrp="1" noChangeArrowheads="1"/>
          </p:cNvSpPr>
          <p:nvPr>
            <p:ph type="sldNum" sz="quarter" idx="12"/>
          </p:nvPr>
        </p:nvSpPr>
        <p:spPr>
          <a:ln/>
        </p:spPr>
        <p:txBody>
          <a:bodyPr/>
          <a:lstStyle>
            <a:lvl1pPr>
              <a:defRPr/>
            </a:lvl1pPr>
          </a:lstStyle>
          <a:p>
            <a:fld id="{213EB04F-610B-4213-B071-513A5A706B4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5113" y="274638"/>
            <a:ext cx="2071687" cy="5880100"/>
          </a:xfrm>
        </p:spPr>
        <p:txBody>
          <a:bodyPr vert="eaVert"/>
          <a:lstStyle/>
          <a:p>
            <a:r>
              <a:rPr lang="ga-IE"/>
              <a:t>Click to edit Master title style</a:t>
            </a:r>
            <a:endParaRPr lang="en-US"/>
          </a:p>
        </p:txBody>
      </p:sp>
      <p:sp>
        <p:nvSpPr>
          <p:cNvPr id="3" name="Vertical Text Placeholder 2"/>
          <p:cNvSpPr>
            <a:spLocks noGrp="1"/>
          </p:cNvSpPr>
          <p:nvPr>
            <p:ph type="body" orient="vert" idx="1"/>
          </p:nvPr>
        </p:nvSpPr>
        <p:spPr>
          <a:xfrm>
            <a:off x="395288" y="274638"/>
            <a:ext cx="6067425" cy="5880100"/>
          </a:xfrm>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r>
              <a:rPr lang="en-US"/>
              <a:t>Tony Mullins</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Concurrent Programming</a:t>
            </a:r>
          </a:p>
        </p:txBody>
      </p:sp>
      <p:sp>
        <p:nvSpPr>
          <p:cNvPr id="6" name="Rectangle 6"/>
          <p:cNvSpPr>
            <a:spLocks noGrp="1" noChangeArrowheads="1"/>
          </p:cNvSpPr>
          <p:nvPr>
            <p:ph type="sldNum" sz="quarter" idx="12"/>
          </p:nvPr>
        </p:nvSpPr>
        <p:spPr>
          <a:ln/>
        </p:spPr>
        <p:txBody>
          <a:bodyPr/>
          <a:lstStyle>
            <a:lvl1pPr>
              <a:defRPr/>
            </a:lvl1pPr>
          </a:lstStyle>
          <a:p>
            <a:fld id="{FBEB0BE6-A772-463F-B2C5-88EEFCE38B72}"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7064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395288" y="981075"/>
            <a:ext cx="8229600" cy="5173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400" smtClean="0">
                <a:latin typeface="Arial" charset="0"/>
                <a:ea typeface="ＭＳ Ｐゴシック" charset="0"/>
              </a:defRPr>
            </a:lvl1pPr>
          </a:lstStyle>
          <a:p>
            <a:pPr>
              <a:defRPr/>
            </a:pPr>
            <a:r>
              <a:rPr lang="en-US"/>
              <a:t>Tony Mullins</a:t>
            </a: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ctr">
              <a:defRPr sz="1400" smtClean="0">
                <a:latin typeface="Arial" charset="0"/>
                <a:ea typeface="ＭＳ Ｐゴシック" charset="0"/>
              </a:defRPr>
            </a:lvl1pPr>
          </a:lstStyle>
          <a:p>
            <a:pPr>
              <a:defRPr/>
            </a:pPr>
            <a:r>
              <a:rPr lang="en-US"/>
              <a:t>Concurrent Programming</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400"/>
            </a:lvl1pPr>
          </a:lstStyle>
          <a:p>
            <a:fld id="{0ACB2439-9881-4AB4-979E-341286BD1E5A}" type="slidenum">
              <a:rPr lang="en-US"/>
              <a:pPr/>
              <a:t>‹#›</a:t>
            </a:fld>
            <a:endParaRPr lang="en-US"/>
          </a:p>
        </p:txBody>
      </p:sp>
      <p:sp>
        <p:nvSpPr>
          <p:cNvPr id="1031" name="Line 7"/>
          <p:cNvSpPr>
            <a:spLocks noChangeShapeType="1"/>
          </p:cNvSpPr>
          <p:nvPr userDrawn="1"/>
        </p:nvSpPr>
        <p:spPr bwMode="auto">
          <a:xfrm>
            <a:off x="323850" y="6237288"/>
            <a:ext cx="8351838"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Arial" charset="0"/>
              <a:ea typeface="ＭＳ Ｐゴシック"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r" rtl="0" eaLnBrk="0" fontAlgn="base" hangingPunct="0">
        <a:spcBef>
          <a:spcPct val="0"/>
        </a:spcBef>
        <a:spcAft>
          <a:spcPct val="0"/>
        </a:spcAft>
        <a:defRPr sz="3200" u="sng">
          <a:solidFill>
            <a:schemeClr val="tx2"/>
          </a:solidFill>
          <a:latin typeface="+mj-lt"/>
          <a:ea typeface="+mj-ea"/>
          <a:cs typeface="+mj-cs"/>
        </a:defRPr>
      </a:lvl1pPr>
      <a:lvl2pPr algn="r" rtl="0" eaLnBrk="0" fontAlgn="base" hangingPunct="0">
        <a:spcBef>
          <a:spcPct val="0"/>
        </a:spcBef>
        <a:spcAft>
          <a:spcPct val="0"/>
        </a:spcAft>
        <a:defRPr sz="3200" u="sng">
          <a:solidFill>
            <a:schemeClr val="tx2"/>
          </a:solidFill>
          <a:latin typeface="Arial" charset="0"/>
          <a:ea typeface="ＭＳ Ｐゴシック" charset="0"/>
        </a:defRPr>
      </a:lvl2pPr>
      <a:lvl3pPr algn="r" rtl="0" eaLnBrk="0" fontAlgn="base" hangingPunct="0">
        <a:spcBef>
          <a:spcPct val="0"/>
        </a:spcBef>
        <a:spcAft>
          <a:spcPct val="0"/>
        </a:spcAft>
        <a:defRPr sz="3200" u="sng">
          <a:solidFill>
            <a:schemeClr val="tx2"/>
          </a:solidFill>
          <a:latin typeface="Arial" charset="0"/>
          <a:ea typeface="ＭＳ Ｐゴシック" charset="0"/>
        </a:defRPr>
      </a:lvl3pPr>
      <a:lvl4pPr algn="r" rtl="0" eaLnBrk="0" fontAlgn="base" hangingPunct="0">
        <a:spcBef>
          <a:spcPct val="0"/>
        </a:spcBef>
        <a:spcAft>
          <a:spcPct val="0"/>
        </a:spcAft>
        <a:defRPr sz="3200" u="sng">
          <a:solidFill>
            <a:schemeClr val="tx2"/>
          </a:solidFill>
          <a:latin typeface="Arial" charset="0"/>
          <a:ea typeface="ＭＳ Ｐゴシック" charset="0"/>
        </a:defRPr>
      </a:lvl4pPr>
      <a:lvl5pPr algn="r" rtl="0" eaLnBrk="0" fontAlgn="base" hangingPunct="0">
        <a:spcBef>
          <a:spcPct val="0"/>
        </a:spcBef>
        <a:spcAft>
          <a:spcPct val="0"/>
        </a:spcAft>
        <a:defRPr sz="3200" u="sng">
          <a:solidFill>
            <a:schemeClr val="tx2"/>
          </a:solidFill>
          <a:latin typeface="Arial" charset="0"/>
          <a:ea typeface="ＭＳ Ｐゴシック" charset="0"/>
        </a:defRPr>
      </a:lvl5pPr>
      <a:lvl6pPr marL="457200" algn="r" rtl="0" fontAlgn="base">
        <a:spcBef>
          <a:spcPct val="0"/>
        </a:spcBef>
        <a:spcAft>
          <a:spcPct val="0"/>
        </a:spcAft>
        <a:defRPr sz="3200" u="sng">
          <a:solidFill>
            <a:schemeClr val="tx2"/>
          </a:solidFill>
          <a:latin typeface="Arial" charset="0"/>
          <a:ea typeface="ＭＳ Ｐゴシック" charset="0"/>
        </a:defRPr>
      </a:lvl6pPr>
      <a:lvl7pPr marL="914400" algn="r" rtl="0" fontAlgn="base">
        <a:spcBef>
          <a:spcPct val="0"/>
        </a:spcBef>
        <a:spcAft>
          <a:spcPct val="0"/>
        </a:spcAft>
        <a:defRPr sz="3200" u="sng">
          <a:solidFill>
            <a:schemeClr val="tx2"/>
          </a:solidFill>
          <a:latin typeface="Arial" charset="0"/>
          <a:ea typeface="ＭＳ Ｐゴシック" charset="0"/>
        </a:defRPr>
      </a:lvl7pPr>
      <a:lvl8pPr marL="1371600" algn="r" rtl="0" fontAlgn="base">
        <a:spcBef>
          <a:spcPct val="0"/>
        </a:spcBef>
        <a:spcAft>
          <a:spcPct val="0"/>
        </a:spcAft>
        <a:defRPr sz="3200" u="sng">
          <a:solidFill>
            <a:schemeClr val="tx2"/>
          </a:solidFill>
          <a:latin typeface="Arial" charset="0"/>
          <a:ea typeface="ＭＳ Ｐゴシック" charset="0"/>
        </a:defRPr>
      </a:lvl8pPr>
      <a:lvl9pPr marL="1828800" algn="r" rtl="0" fontAlgn="base">
        <a:spcBef>
          <a:spcPct val="0"/>
        </a:spcBef>
        <a:spcAft>
          <a:spcPct val="0"/>
        </a:spcAft>
        <a:defRPr sz="3200" u="sng">
          <a:solidFill>
            <a:schemeClr val="tx2"/>
          </a:solidFill>
          <a:latin typeface="Arial" charset="0"/>
          <a:ea typeface="ＭＳ Ｐゴシック" charset="0"/>
        </a:defRPr>
      </a:lvl9pPr>
    </p:titleStyle>
    <p:bodyStyle>
      <a:lvl1pPr marL="342900" indent="-342900" algn="l" rtl="0" eaLnBrk="0" fontAlgn="base" hangingPunct="0">
        <a:spcBef>
          <a:spcPct val="20000"/>
        </a:spcBef>
        <a:spcAft>
          <a:spcPct val="0"/>
        </a:spcAft>
        <a:defRPr sz="2800">
          <a:solidFill>
            <a:schemeClr val="tx1"/>
          </a:solidFill>
          <a:latin typeface="+mn-lt"/>
          <a:ea typeface="+mn-ea"/>
          <a:cs typeface="+mn-cs"/>
        </a:defRPr>
      </a:lvl1pPr>
      <a:lvl2pPr marL="742950" indent="-285750" algn="l" rtl="0" eaLnBrk="0" fontAlgn="base" hangingPunct="0">
        <a:spcBef>
          <a:spcPct val="20000"/>
        </a:spcBef>
        <a:spcAft>
          <a:spcPct val="0"/>
        </a:spcAft>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All%20Users/Documents/docs/api/java/util/concurrent/TimeUnit.html"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All%20Users/Documents/docs/api/java/lang/InterruptedException.html"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All%20Users/Documents/docs/api/java/lang/InterruptedException.html"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All%20Users/Documents/docs/api/java/util/concurrent/ExecutionException.html"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All%20Users/Documents/docs/api/java/lang/Runnable.html"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All%20Users/Documents/docs/api/java/lang/Exception.html"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5EE2A2E2-4DC1-4CEF-B66E-D817B3719DEF}" type="slidenum">
              <a:rPr lang="en-US"/>
              <a:pPr/>
              <a:t>1</a:t>
            </a:fld>
            <a:endParaRPr lang="en-US"/>
          </a:p>
        </p:txBody>
      </p:sp>
      <p:sp>
        <p:nvSpPr>
          <p:cNvPr id="2050" name="Rectangle 2"/>
          <p:cNvSpPr>
            <a:spLocks noGrp="1" noChangeArrowheads="1"/>
          </p:cNvSpPr>
          <p:nvPr>
            <p:ph type="ctrTitle"/>
          </p:nvPr>
        </p:nvSpPr>
        <p:spPr/>
        <p:txBody>
          <a:bodyPr/>
          <a:lstStyle/>
          <a:p>
            <a:pPr eaLnBrk="1" hangingPunct="1">
              <a:defRPr/>
            </a:pPr>
            <a:r>
              <a:rPr lang="en-GB" dirty="0">
                <a:solidFill>
                  <a:srgbClr val="FF0000"/>
                </a:solidFill>
              </a:rPr>
              <a:t>Parallelising Sequential Algorithms</a:t>
            </a:r>
            <a:endParaRPr lang="en-US" dirty="0">
              <a:solidFill>
                <a:srgbClr val="FF0000"/>
              </a:solidFill>
            </a:endParaRPr>
          </a:p>
        </p:txBody>
      </p:sp>
      <p:sp>
        <p:nvSpPr>
          <p:cNvPr id="2051" name="Rectangle 3"/>
          <p:cNvSpPr>
            <a:spLocks noGrp="1" noChangeArrowheads="1"/>
          </p:cNvSpPr>
          <p:nvPr>
            <p:ph type="subTitle" idx="1"/>
          </p:nvPr>
        </p:nvSpPr>
        <p:spPr/>
        <p:txBody>
          <a:bodyPr/>
          <a:lstStyle/>
          <a:p>
            <a:pPr eaLnBrk="1" hangingPunct="1">
              <a:defRPr/>
            </a:pP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74BEA5C5-F25C-4EF8-82F2-6AC5E469A9EA}" type="slidenum">
              <a:rPr lang="en-US"/>
              <a:pPr/>
              <a:t>2</a:t>
            </a:fld>
            <a:endParaRPr lang="en-US"/>
          </a:p>
        </p:txBody>
      </p:sp>
      <p:sp>
        <p:nvSpPr>
          <p:cNvPr id="9218" name="Rectangle 2"/>
          <p:cNvSpPr>
            <a:spLocks noGrp="1" noChangeArrowheads="1"/>
          </p:cNvSpPr>
          <p:nvPr>
            <p:ph type="title"/>
          </p:nvPr>
        </p:nvSpPr>
        <p:spPr/>
        <p:txBody>
          <a:bodyPr/>
          <a:lstStyle/>
          <a:p>
            <a:pPr eaLnBrk="1" hangingPunct="1">
              <a:defRPr/>
            </a:pPr>
            <a:r>
              <a:rPr lang="en-GB"/>
              <a:t>Parallel Search</a:t>
            </a:r>
            <a:endParaRPr lang="en-US"/>
          </a:p>
        </p:txBody>
      </p:sp>
      <p:sp>
        <p:nvSpPr>
          <p:cNvPr id="9219" name="Rectangle 3"/>
          <p:cNvSpPr>
            <a:spLocks noGrp="1" noChangeArrowheads="1"/>
          </p:cNvSpPr>
          <p:nvPr>
            <p:ph type="body" idx="1"/>
          </p:nvPr>
        </p:nvSpPr>
        <p:spPr/>
        <p:txBody>
          <a:bodyPr/>
          <a:lstStyle/>
          <a:p>
            <a:pPr eaLnBrk="1" hangingPunct="1">
              <a:lnSpc>
                <a:spcPct val="80000"/>
              </a:lnSpc>
              <a:defRPr/>
            </a:pPr>
            <a:r>
              <a:rPr lang="en-GB" sz="2400" dirty="0">
                <a:latin typeface="Comic Sans MS" charset="0"/>
              </a:rPr>
              <a:t>	</a:t>
            </a:r>
          </a:p>
          <a:p>
            <a:pPr eaLnBrk="1" hangingPunct="1">
              <a:lnSpc>
                <a:spcPct val="80000"/>
              </a:lnSpc>
              <a:defRPr/>
            </a:pPr>
            <a:r>
              <a:rPr lang="en-GB" sz="2400" dirty="0">
                <a:latin typeface="Comic Sans MS" charset="0"/>
              </a:rPr>
              <a:t>	class Searcher extends Thread {</a:t>
            </a:r>
          </a:p>
          <a:p>
            <a:pPr eaLnBrk="1" hangingPunct="1">
              <a:lnSpc>
                <a:spcPct val="80000"/>
              </a:lnSpc>
              <a:defRPr/>
            </a:pPr>
            <a:r>
              <a:rPr lang="en-GB" sz="2400" dirty="0">
                <a:latin typeface="Comic Sans MS" charset="0"/>
              </a:rPr>
              <a:t>             </a:t>
            </a:r>
          </a:p>
          <a:p>
            <a:pPr eaLnBrk="1" hangingPunct="1">
              <a:lnSpc>
                <a:spcPct val="80000"/>
              </a:lnSpc>
              <a:defRPr/>
            </a:pPr>
            <a:r>
              <a:rPr lang="en-GB" sz="2400" dirty="0">
                <a:latin typeface="Comic Sans MS" charset="0"/>
              </a:rPr>
              <a:t>        private </a:t>
            </a:r>
            <a:r>
              <a:rPr lang="en-GB" sz="2400" dirty="0" err="1">
                <a:latin typeface="Comic Sans MS" charset="0"/>
              </a:rPr>
              <a:t>int</a:t>
            </a:r>
            <a:r>
              <a:rPr lang="en-GB" sz="2400" dirty="0">
                <a:latin typeface="Comic Sans MS" charset="0"/>
              </a:rPr>
              <a:t> f[];</a:t>
            </a:r>
          </a:p>
          <a:p>
            <a:pPr eaLnBrk="1" hangingPunct="1">
              <a:lnSpc>
                <a:spcPct val="80000"/>
              </a:lnSpc>
              <a:defRPr/>
            </a:pPr>
            <a:r>
              <a:rPr lang="en-GB" sz="2400" dirty="0">
                <a:latin typeface="Comic Sans MS" charset="0"/>
              </a:rPr>
              <a:t>        private </a:t>
            </a:r>
            <a:r>
              <a:rPr lang="en-GB" sz="2400" dirty="0" err="1">
                <a:latin typeface="Comic Sans MS" charset="0"/>
              </a:rPr>
              <a:t>int</a:t>
            </a:r>
            <a:r>
              <a:rPr lang="en-GB" sz="2400" dirty="0">
                <a:latin typeface="Comic Sans MS" charset="0"/>
              </a:rPr>
              <a:t> a, b;</a:t>
            </a:r>
          </a:p>
          <a:p>
            <a:pPr eaLnBrk="1" hangingPunct="1">
              <a:lnSpc>
                <a:spcPct val="80000"/>
              </a:lnSpc>
              <a:defRPr/>
            </a:pPr>
            <a:r>
              <a:rPr lang="en-GB" sz="2400" dirty="0">
                <a:latin typeface="Comic Sans MS" charset="0"/>
              </a:rPr>
              <a:t>        private </a:t>
            </a:r>
            <a:r>
              <a:rPr lang="en-GB" sz="2400" dirty="0" err="1">
                <a:latin typeface="Comic Sans MS" charset="0"/>
              </a:rPr>
              <a:t>int</a:t>
            </a:r>
            <a:r>
              <a:rPr lang="en-GB" sz="2400" dirty="0">
                <a:latin typeface="Comic Sans MS" charset="0"/>
              </a:rPr>
              <a:t> x;</a:t>
            </a:r>
          </a:p>
          <a:p>
            <a:pPr eaLnBrk="1" hangingPunct="1">
              <a:lnSpc>
                <a:spcPct val="80000"/>
              </a:lnSpc>
              <a:defRPr/>
            </a:pPr>
            <a:r>
              <a:rPr lang="en-GB" sz="2400" dirty="0">
                <a:latin typeface="Comic Sans MS" charset="0"/>
              </a:rPr>
              <a:t>        </a:t>
            </a:r>
            <a:r>
              <a:rPr lang="en-GB" sz="2400" dirty="0" err="1">
                <a:latin typeface="Comic Sans MS" charset="0"/>
              </a:rPr>
              <a:t>boolean</a:t>
            </a:r>
            <a:r>
              <a:rPr lang="en-GB" sz="2400" dirty="0">
                <a:latin typeface="Comic Sans MS" charset="0"/>
              </a:rPr>
              <a:t> found;</a:t>
            </a:r>
          </a:p>
          <a:p>
            <a:pPr eaLnBrk="1" hangingPunct="1">
              <a:lnSpc>
                <a:spcPct val="80000"/>
              </a:lnSpc>
              <a:defRPr/>
            </a:pPr>
            <a:r>
              <a:rPr lang="en-GB" sz="2400" dirty="0">
                <a:latin typeface="Comic Sans MS" charset="0"/>
              </a:rPr>
              <a:t>        </a:t>
            </a:r>
          </a:p>
          <a:p>
            <a:pPr eaLnBrk="1" hangingPunct="1">
              <a:lnSpc>
                <a:spcPct val="80000"/>
              </a:lnSpc>
              <a:defRPr/>
            </a:pPr>
            <a:r>
              <a:rPr lang="en-GB" sz="2400" dirty="0">
                <a:latin typeface="Comic Sans MS" charset="0"/>
              </a:rPr>
              <a:t>        Searcher(</a:t>
            </a:r>
            <a:r>
              <a:rPr lang="en-GB" sz="2400" dirty="0" err="1">
                <a:latin typeface="Comic Sans MS" charset="0"/>
              </a:rPr>
              <a:t>int</a:t>
            </a:r>
            <a:r>
              <a:rPr lang="en-GB" sz="2400" dirty="0">
                <a:latin typeface="Comic Sans MS" charset="0"/>
              </a:rPr>
              <a:t> f1[], </a:t>
            </a:r>
            <a:r>
              <a:rPr lang="en-GB" sz="2400" dirty="0" err="1">
                <a:latin typeface="Comic Sans MS" charset="0"/>
              </a:rPr>
              <a:t>int</a:t>
            </a:r>
            <a:r>
              <a:rPr lang="en-GB" sz="2400" dirty="0">
                <a:latin typeface="Comic Sans MS" charset="0"/>
              </a:rPr>
              <a:t> a, </a:t>
            </a:r>
            <a:r>
              <a:rPr lang="en-GB" sz="2400" dirty="0" err="1">
                <a:latin typeface="Comic Sans MS" charset="0"/>
              </a:rPr>
              <a:t>int</a:t>
            </a:r>
            <a:r>
              <a:rPr lang="en-GB" sz="2400" dirty="0">
                <a:latin typeface="Comic Sans MS" charset="0"/>
              </a:rPr>
              <a:t> b, </a:t>
            </a:r>
            <a:r>
              <a:rPr lang="en-GB" sz="2400" dirty="0" err="1">
                <a:latin typeface="Comic Sans MS" charset="0"/>
              </a:rPr>
              <a:t>int</a:t>
            </a:r>
            <a:r>
              <a:rPr lang="en-GB" sz="2400" dirty="0">
                <a:latin typeface="Comic Sans MS" charset="0"/>
              </a:rPr>
              <a:t> x) {</a:t>
            </a:r>
          </a:p>
          <a:p>
            <a:pPr eaLnBrk="1" hangingPunct="1">
              <a:lnSpc>
                <a:spcPct val="80000"/>
              </a:lnSpc>
              <a:defRPr/>
            </a:pPr>
            <a:r>
              <a:rPr lang="en-GB" sz="2400" dirty="0">
                <a:latin typeface="Comic Sans MS" charset="0"/>
              </a:rPr>
              <a:t>            f = f1; </a:t>
            </a:r>
            <a:r>
              <a:rPr lang="en-GB" sz="2400" dirty="0" err="1">
                <a:latin typeface="Comic Sans MS" charset="0"/>
              </a:rPr>
              <a:t>this.a</a:t>
            </a:r>
            <a:r>
              <a:rPr lang="en-GB" sz="2400" dirty="0">
                <a:latin typeface="Comic Sans MS" charset="0"/>
              </a:rPr>
              <a:t> = a; </a:t>
            </a:r>
            <a:r>
              <a:rPr lang="en-GB" sz="2400" dirty="0" err="1">
                <a:latin typeface="Comic Sans MS" charset="0"/>
              </a:rPr>
              <a:t>this.b</a:t>
            </a:r>
            <a:r>
              <a:rPr lang="en-GB" sz="2400" dirty="0">
                <a:latin typeface="Comic Sans MS" charset="0"/>
              </a:rPr>
              <a:t> = b; </a:t>
            </a:r>
            <a:r>
              <a:rPr lang="en-GB" sz="2400" dirty="0" err="1">
                <a:latin typeface="Comic Sans MS" charset="0"/>
              </a:rPr>
              <a:t>this.x</a:t>
            </a:r>
            <a:r>
              <a:rPr lang="en-GB" sz="2400" dirty="0">
                <a:latin typeface="Comic Sans MS" charset="0"/>
              </a:rPr>
              <a:t> = x;</a:t>
            </a:r>
          </a:p>
          <a:p>
            <a:pPr eaLnBrk="1" hangingPunct="1">
              <a:lnSpc>
                <a:spcPct val="80000"/>
              </a:lnSpc>
              <a:defRPr/>
            </a:pPr>
            <a:r>
              <a:rPr lang="en-GB" sz="2400" dirty="0">
                <a:latin typeface="Comic Sans MS" charset="0"/>
              </a:rPr>
              <a:t>        }   </a:t>
            </a:r>
          </a:p>
          <a:p>
            <a:pPr eaLnBrk="1" hangingPunct="1">
              <a:lnSpc>
                <a:spcPct val="80000"/>
              </a:lnSpc>
              <a:defRPr/>
            </a:pPr>
            <a:r>
              <a:rPr lang="en-GB" sz="2400" dirty="0">
                <a:latin typeface="Comic Sans MS" charset="0"/>
              </a:rPr>
              <a:t>        </a:t>
            </a:r>
            <a:endParaRPr lang="en-US" sz="2400" dirty="0">
              <a:latin typeface="Comic Sans MS"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234662FD-91C1-4DA3-94AB-710BC5316BC1}" type="slidenum">
              <a:rPr lang="en-US"/>
              <a:pPr/>
              <a:t>3</a:t>
            </a:fld>
            <a:endParaRPr lang="en-US"/>
          </a:p>
        </p:txBody>
      </p:sp>
      <p:sp>
        <p:nvSpPr>
          <p:cNvPr id="10242" name="Rectangle 2"/>
          <p:cNvSpPr>
            <a:spLocks noGrp="1" noChangeArrowheads="1"/>
          </p:cNvSpPr>
          <p:nvPr>
            <p:ph type="title"/>
          </p:nvPr>
        </p:nvSpPr>
        <p:spPr/>
        <p:txBody>
          <a:bodyPr/>
          <a:lstStyle/>
          <a:p>
            <a:pPr eaLnBrk="1" hangingPunct="1">
              <a:defRPr/>
            </a:pPr>
            <a:r>
              <a:rPr lang="en-GB"/>
              <a:t>Parallel Search</a:t>
            </a:r>
            <a:endParaRPr lang="en-US"/>
          </a:p>
        </p:txBody>
      </p:sp>
      <p:sp>
        <p:nvSpPr>
          <p:cNvPr id="10243" name="Rectangle 3"/>
          <p:cNvSpPr>
            <a:spLocks noGrp="1" noChangeArrowheads="1"/>
          </p:cNvSpPr>
          <p:nvPr>
            <p:ph type="body" idx="1"/>
          </p:nvPr>
        </p:nvSpPr>
        <p:spPr/>
        <p:txBody>
          <a:bodyPr/>
          <a:lstStyle/>
          <a:p>
            <a:pPr eaLnBrk="1" hangingPunct="1">
              <a:lnSpc>
                <a:spcPct val="80000"/>
              </a:lnSpc>
              <a:defRPr/>
            </a:pPr>
            <a:r>
              <a:rPr lang="en-GB">
                <a:latin typeface="Comic Sans MS" charset="0"/>
              </a:rPr>
              <a:t>	public void run() {</a:t>
            </a:r>
          </a:p>
          <a:p>
            <a:pPr eaLnBrk="1" hangingPunct="1">
              <a:lnSpc>
                <a:spcPct val="80000"/>
              </a:lnSpc>
              <a:defRPr/>
            </a:pPr>
            <a:r>
              <a:rPr lang="en-GB">
                <a:latin typeface="Comic Sans MS" charset="0"/>
              </a:rPr>
              <a:t>           int k = a; found = false;</a:t>
            </a:r>
          </a:p>
          <a:p>
            <a:pPr eaLnBrk="1" hangingPunct="1">
              <a:lnSpc>
                <a:spcPct val="80000"/>
              </a:lnSpc>
              <a:defRPr/>
            </a:pPr>
            <a:r>
              <a:rPr lang="en-GB">
                <a:latin typeface="Comic Sans MS" charset="0"/>
              </a:rPr>
              <a:t>        	 while (k &lt; b &amp;&amp; !found){</a:t>
            </a:r>
          </a:p>
          <a:p>
            <a:pPr eaLnBrk="1" hangingPunct="1">
              <a:lnSpc>
                <a:spcPct val="80000"/>
              </a:lnSpc>
              <a:defRPr/>
            </a:pPr>
            <a:r>
              <a:rPr lang="en-GB">
                <a:latin typeface="Comic Sans MS" charset="0"/>
              </a:rPr>
              <a:t>        	    if(f[k] == x) found = true;</a:t>
            </a:r>
          </a:p>
          <a:p>
            <a:pPr eaLnBrk="1" hangingPunct="1">
              <a:lnSpc>
                <a:spcPct val="80000"/>
              </a:lnSpc>
              <a:defRPr/>
            </a:pPr>
            <a:r>
              <a:rPr lang="en-GB">
                <a:latin typeface="Comic Sans MS" charset="0"/>
              </a:rPr>
              <a:t>        	    k++;	</a:t>
            </a:r>
          </a:p>
          <a:p>
            <a:pPr eaLnBrk="1" hangingPunct="1">
              <a:lnSpc>
                <a:spcPct val="80000"/>
              </a:lnSpc>
              <a:defRPr/>
            </a:pPr>
            <a:r>
              <a:rPr lang="en-GB">
                <a:latin typeface="Comic Sans MS" charset="0"/>
              </a:rPr>
              <a:t>        	} </a:t>
            </a:r>
          </a:p>
          <a:p>
            <a:pPr eaLnBrk="1" hangingPunct="1">
              <a:lnSpc>
                <a:spcPct val="80000"/>
              </a:lnSpc>
              <a:defRPr/>
            </a:pPr>
            <a:r>
              <a:rPr lang="en-GB">
                <a:latin typeface="Comic Sans MS" charset="0"/>
              </a:rPr>
              <a:t>        }</a:t>
            </a:r>
          </a:p>
          <a:p>
            <a:pPr eaLnBrk="1" hangingPunct="1">
              <a:lnSpc>
                <a:spcPct val="80000"/>
              </a:lnSpc>
              <a:defRPr/>
            </a:pPr>
            <a:r>
              <a:rPr lang="en-GB">
                <a:latin typeface="Comic Sans MS" charset="0"/>
              </a:rPr>
              <a:t>        boolean getResult() {</a:t>
            </a:r>
          </a:p>
          <a:p>
            <a:pPr eaLnBrk="1" hangingPunct="1">
              <a:lnSpc>
                <a:spcPct val="80000"/>
              </a:lnSpc>
              <a:defRPr/>
            </a:pPr>
            <a:r>
              <a:rPr lang="en-GB">
                <a:latin typeface="Comic Sans MS" charset="0"/>
              </a:rPr>
              <a:t>        	return found;</a:t>
            </a:r>
          </a:p>
          <a:p>
            <a:pPr eaLnBrk="1" hangingPunct="1">
              <a:lnSpc>
                <a:spcPct val="80000"/>
              </a:lnSpc>
              <a:defRPr/>
            </a:pPr>
            <a:r>
              <a:rPr lang="en-GB">
                <a:latin typeface="Comic Sans MS" charset="0"/>
              </a:rPr>
              <a:t>        }        </a:t>
            </a:r>
          </a:p>
          <a:p>
            <a:pPr eaLnBrk="1" hangingPunct="1">
              <a:lnSpc>
                <a:spcPct val="80000"/>
              </a:lnSpc>
              <a:defRPr/>
            </a:pPr>
            <a:r>
              <a:rPr lang="en-GB">
                <a:latin typeface="Comic Sans MS" charset="0"/>
              </a:rPr>
              <a:t>    }</a:t>
            </a:r>
            <a:endParaRPr lang="en-US">
              <a:latin typeface="Comic Sans MS" charset="0"/>
            </a:endParaRPr>
          </a:p>
          <a:p>
            <a:pPr eaLnBrk="1" hangingPunct="1">
              <a:lnSpc>
                <a:spcPct val="80000"/>
              </a:lnSpc>
              <a:defRPr/>
            </a:pPr>
            <a:endParaRPr lang="en-US"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ABBA35A4-B5D2-4F7B-AD69-9D61C7C83AB8}" type="slidenum">
              <a:rPr lang="en-US"/>
              <a:pPr/>
              <a:t>4</a:t>
            </a:fld>
            <a:endParaRPr lang="en-US"/>
          </a:p>
        </p:txBody>
      </p:sp>
      <p:sp>
        <p:nvSpPr>
          <p:cNvPr id="11266" name="Rectangle 2"/>
          <p:cNvSpPr>
            <a:spLocks noGrp="1" noChangeArrowheads="1"/>
          </p:cNvSpPr>
          <p:nvPr>
            <p:ph type="title"/>
          </p:nvPr>
        </p:nvSpPr>
        <p:spPr/>
        <p:txBody>
          <a:bodyPr/>
          <a:lstStyle/>
          <a:p>
            <a:pPr eaLnBrk="1" hangingPunct="1">
              <a:defRPr/>
            </a:pPr>
            <a:r>
              <a:rPr lang="en-GB"/>
              <a:t>Parallel Search</a:t>
            </a:r>
            <a:endParaRPr lang="en-US"/>
          </a:p>
        </p:txBody>
      </p:sp>
      <p:sp>
        <p:nvSpPr>
          <p:cNvPr id="11267" name="Rectangle 3"/>
          <p:cNvSpPr>
            <a:spLocks noGrp="1" noChangeArrowheads="1"/>
          </p:cNvSpPr>
          <p:nvPr>
            <p:ph type="body" idx="1"/>
          </p:nvPr>
        </p:nvSpPr>
        <p:spPr/>
        <p:txBody>
          <a:bodyPr/>
          <a:lstStyle/>
          <a:p>
            <a:pPr eaLnBrk="1" hangingPunct="1">
              <a:lnSpc>
                <a:spcPct val="80000"/>
              </a:lnSpc>
              <a:defRPr/>
            </a:pPr>
            <a:r>
              <a:rPr lang="en-GB" sz="2400">
                <a:latin typeface="Comic Sans MS" charset="0"/>
              </a:rPr>
              <a:t>class LinearSearch{</a:t>
            </a:r>
          </a:p>
          <a:p>
            <a:pPr eaLnBrk="1" hangingPunct="1">
              <a:lnSpc>
                <a:spcPct val="80000"/>
              </a:lnSpc>
              <a:defRPr/>
            </a:pPr>
            <a:r>
              <a:rPr lang="en-GB" sz="2400">
                <a:latin typeface="Comic Sans MS" charset="0"/>
              </a:rPr>
              <a:t>	public static void main(String args[]){</a:t>
            </a:r>
          </a:p>
          <a:p>
            <a:pPr eaLnBrk="1" hangingPunct="1">
              <a:lnSpc>
                <a:spcPct val="80000"/>
              </a:lnSpc>
              <a:defRPr/>
            </a:pPr>
            <a:r>
              <a:rPr lang="en-GB" sz="2400">
                <a:latin typeface="Comic Sans MS" charset="0"/>
              </a:rPr>
              <a:t>		int list[] = new int[100];</a:t>
            </a:r>
          </a:p>
          <a:p>
            <a:pPr eaLnBrk="1" hangingPunct="1">
              <a:lnSpc>
                <a:spcPct val="80000"/>
              </a:lnSpc>
              <a:defRPr/>
            </a:pPr>
            <a:r>
              <a:rPr lang="en-GB" sz="2400">
                <a:latin typeface="Comic Sans MS" charset="0"/>
              </a:rPr>
              <a:t>           // get data and value for x</a:t>
            </a:r>
          </a:p>
          <a:p>
            <a:pPr eaLnBrk="1" hangingPunct="1">
              <a:lnSpc>
                <a:spcPct val="80000"/>
              </a:lnSpc>
              <a:defRPr/>
            </a:pPr>
            <a:r>
              <a:rPr lang="en-GB" sz="2400">
                <a:latin typeface="Comic Sans MS" charset="0"/>
              </a:rPr>
              <a:t>	       Searcher t = new Searcher(list,0,50,x);</a:t>
            </a:r>
          </a:p>
          <a:p>
            <a:pPr eaLnBrk="1" hangingPunct="1">
              <a:lnSpc>
                <a:spcPct val="80000"/>
              </a:lnSpc>
              <a:defRPr/>
            </a:pPr>
            <a:r>
              <a:rPr lang="en-GB" sz="2400">
                <a:latin typeface="Comic Sans MS" charset="0"/>
              </a:rPr>
              <a:t>		Searcher t1 = new Searcher(list,50,100,x);</a:t>
            </a:r>
          </a:p>
          <a:p>
            <a:pPr eaLnBrk="1" hangingPunct="1">
              <a:lnSpc>
                <a:spcPct val="80000"/>
              </a:lnSpc>
              <a:defRPr/>
            </a:pPr>
            <a:r>
              <a:rPr lang="en-GB" sz="2400">
                <a:latin typeface="Comic Sans MS" charset="0"/>
              </a:rPr>
              <a:t>		t.start(); t1.start();</a:t>
            </a:r>
          </a:p>
          <a:p>
            <a:pPr eaLnBrk="1" hangingPunct="1">
              <a:lnSpc>
                <a:spcPct val="80000"/>
              </a:lnSpc>
              <a:defRPr/>
            </a:pPr>
            <a:r>
              <a:rPr lang="en-GB" sz="2400">
                <a:latin typeface="Comic Sans MS" charset="0"/>
              </a:rPr>
              <a:t>		try{</a:t>
            </a:r>
          </a:p>
          <a:p>
            <a:pPr eaLnBrk="1" hangingPunct="1">
              <a:lnSpc>
                <a:spcPct val="80000"/>
              </a:lnSpc>
              <a:defRPr/>
            </a:pPr>
            <a:r>
              <a:rPr lang="en-GB" sz="2400">
                <a:latin typeface="Comic Sans MS" charset="0"/>
              </a:rPr>
              <a:t>			t.join(); t1.join();</a:t>
            </a:r>
          </a:p>
          <a:p>
            <a:pPr eaLnBrk="1" hangingPunct="1">
              <a:lnSpc>
                <a:spcPct val="80000"/>
              </a:lnSpc>
              <a:defRPr/>
            </a:pPr>
            <a:r>
              <a:rPr lang="en-GB" sz="2400">
                <a:latin typeface="Comic Sans MS" charset="0"/>
              </a:rPr>
              <a:t>		}</a:t>
            </a:r>
          </a:p>
          <a:p>
            <a:pPr eaLnBrk="1" hangingPunct="1">
              <a:lnSpc>
                <a:spcPct val="80000"/>
              </a:lnSpc>
              <a:defRPr/>
            </a:pPr>
            <a:r>
              <a:rPr lang="en-GB" sz="2400">
                <a:latin typeface="Comic Sans MS" charset="0"/>
              </a:rPr>
              <a:t>		catch(InterruptedException e){}</a:t>
            </a:r>
          </a:p>
          <a:p>
            <a:pPr eaLnBrk="1" hangingPunct="1">
              <a:lnSpc>
                <a:spcPct val="80000"/>
              </a:lnSpc>
              <a:defRPr/>
            </a:pPr>
            <a:r>
              <a:rPr lang="en-GB" sz="2400">
                <a:latin typeface="Comic Sans MS" charset="0"/>
              </a:rPr>
              <a:t>		boolean found = t.getResult() || t1.getResult();</a:t>
            </a:r>
          </a:p>
          <a:p>
            <a:pPr eaLnBrk="1" hangingPunct="1">
              <a:lnSpc>
                <a:spcPct val="80000"/>
              </a:lnSpc>
              <a:defRPr/>
            </a:pPr>
            <a:r>
              <a:rPr lang="en-GB" sz="2400">
                <a:latin typeface="Comic Sans MS" charset="0"/>
              </a:rPr>
              <a:t>		System.out.println("Found = " + found);	</a:t>
            </a:r>
          </a:p>
          <a:p>
            <a:pPr eaLnBrk="1" hangingPunct="1">
              <a:lnSpc>
                <a:spcPct val="80000"/>
              </a:lnSpc>
              <a:defRPr/>
            </a:pPr>
            <a:r>
              <a:rPr lang="en-GB" sz="2400">
                <a:latin typeface="Comic Sans MS" charset="0"/>
              </a:rPr>
              <a:t>	}}</a:t>
            </a:r>
            <a:endParaRPr lang="en-US" sz="2400">
              <a:latin typeface="Comic Sans MS"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Performance</a:t>
            </a:r>
          </a:p>
        </p:txBody>
      </p:sp>
      <p:sp>
        <p:nvSpPr>
          <p:cNvPr id="3" name="Content Placeholder 2"/>
          <p:cNvSpPr>
            <a:spLocks noGrp="1"/>
          </p:cNvSpPr>
          <p:nvPr>
            <p:ph idx="1"/>
          </p:nvPr>
        </p:nvSpPr>
        <p:spPr/>
        <p:txBody>
          <a:bodyPr/>
          <a:lstStyle/>
          <a:p>
            <a:pPr>
              <a:buFont typeface="Arial" pitchFamily="34" charset="0"/>
              <a:buChar char="•"/>
            </a:pPr>
            <a:r>
              <a:rPr lang="en-GB" dirty="0">
                <a:solidFill>
                  <a:schemeClr val="tx1"/>
                </a:solidFill>
                <a:latin typeface="+mn-lt"/>
                <a:ea typeface="+mn-ea"/>
                <a:cs typeface="+mn-cs"/>
              </a:rPr>
              <a:t>The size of the data set is so small that a single threaded solution would be a better option. </a:t>
            </a:r>
          </a:p>
          <a:p>
            <a:endParaRPr lang="en-GB" dirty="0"/>
          </a:p>
          <a:p>
            <a:pPr>
              <a:buFont typeface="Arial" pitchFamily="34" charset="0"/>
              <a:buChar char="•"/>
            </a:pPr>
            <a:r>
              <a:rPr lang="en-GB" dirty="0">
                <a:solidFill>
                  <a:schemeClr val="tx1"/>
                </a:solidFill>
                <a:latin typeface="+mn-lt"/>
                <a:ea typeface="+mn-ea"/>
                <a:cs typeface="+mn-cs"/>
              </a:rPr>
              <a:t>Also the cost of setting up the threads in the first instance is probably greater than the actual cost of searching. </a:t>
            </a:r>
          </a:p>
          <a:p>
            <a:pPr>
              <a:buFont typeface="Arial" pitchFamily="34" charset="0"/>
              <a:buChar char="•"/>
            </a:pPr>
            <a:endParaRPr lang="en-GB" dirty="0">
              <a:solidFill>
                <a:schemeClr val="tx1"/>
              </a:solidFill>
              <a:latin typeface="+mn-lt"/>
              <a:ea typeface="+mn-ea"/>
              <a:cs typeface="+mn-cs"/>
            </a:endParaRPr>
          </a:p>
          <a:p>
            <a:pPr>
              <a:buFont typeface="Arial" pitchFamily="34" charset="0"/>
              <a:buChar char="•"/>
            </a:pPr>
            <a:r>
              <a:rPr lang="en-GB" dirty="0"/>
              <a:t>Design flaw</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endParaRPr lang="en-GB" dirty="0">
              <a:solidFill>
                <a:schemeClr val="tx1"/>
              </a:solidFill>
              <a:latin typeface="+mn-lt"/>
              <a:ea typeface="+mn-ea"/>
              <a:cs typeface="+mn-cs"/>
            </a:endParaRPr>
          </a:p>
          <a:p>
            <a:r>
              <a:rPr lang="en-GB" dirty="0">
                <a:solidFill>
                  <a:schemeClr val="tx1"/>
                </a:solidFill>
                <a:latin typeface="+mn-lt"/>
                <a:ea typeface="+mn-ea"/>
                <a:cs typeface="+mn-cs"/>
              </a:rPr>
              <a:t>class Found{</a:t>
            </a:r>
            <a:endParaRPr lang="en-IE" dirty="0">
              <a:solidFill>
                <a:schemeClr val="tx1"/>
              </a:solidFill>
              <a:latin typeface="+mn-lt"/>
              <a:ea typeface="+mn-ea"/>
              <a:cs typeface="+mn-cs"/>
            </a:endParaRPr>
          </a:p>
          <a:p>
            <a:r>
              <a:rPr lang="en-GB" dirty="0">
                <a:solidFill>
                  <a:schemeClr val="tx1"/>
                </a:solidFill>
                <a:latin typeface="+mn-lt"/>
                <a:ea typeface="+mn-ea"/>
                <a:cs typeface="+mn-cs"/>
              </a:rPr>
              <a:t>	private </a:t>
            </a:r>
            <a:r>
              <a:rPr lang="en-GB" dirty="0" err="1">
                <a:solidFill>
                  <a:schemeClr val="tx1"/>
                </a:solidFill>
                <a:latin typeface="+mn-lt"/>
                <a:ea typeface="+mn-ea"/>
                <a:cs typeface="+mn-cs"/>
              </a:rPr>
              <a:t>boolean</a:t>
            </a:r>
            <a:r>
              <a:rPr lang="en-GB" dirty="0">
                <a:solidFill>
                  <a:schemeClr val="tx1"/>
                </a:solidFill>
                <a:latin typeface="+mn-lt"/>
                <a:ea typeface="+mn-ea"/>
                <a:cs typeface="+mn-cs"/>
              </a:rPr>
              <a:t> found = false;</a:t>
            </a:r>
            <a:endParaRPr lang="en-IE" dirty="0">
              <a:solidFill>
                <a:schemeClr val="tx1"/>
              </a:solidFill>
              <a:latin typeface="+mn-lt"/>
              <a:ea typeface="+mn-ea"/>
              <a:cs typeface="+mn-cs"/>
            </a:endParaRPr>
          </a:p>
          <a:p>
            <a:r>
              <a:rPr lang="en-GB" dirty="0">
                <a:solidFill>
                  <a:schemeClr val="tx1"/>
                </a:solidFill>
                <a:latin typeface="+mn-lt"/>
                <a:ea typeface="+mn-ea"/>
                <a:cs typeface="+mn-cs"/>
              </a:rPr>
              <a:t>	public void set(){found = true;}</a:t>
            </a:r>
            <a:endParaRPr lang="en-IE" dirty="0">
              <a:solidFill>
                <a:schemeClr val="tx1"/>
              </a:solidFill>
              <a:latin typeface="+mn-lt"/>
              <a:ea typeface="+mn-ea"/>
              <a:cs typeface="+mn-cs"/>
            </a:endParaRPr>
          </a:p>
          <a:p>
            <a:r>
              <a:rPr lang="en-GB" dirty="0">
                <a:solidFill>
                  <a:schemeClr val="tx1"/>
                </a:solidFill>
                <a:latin typeface="+mn-lt"/>
                <a:ea typeface="+mn-ea"/>
                <a:cs typeface="+mn-cs"/>
              </a:rPr>
              <a:t>	public </a:t>
            </a:r>
            <a:r>
              <a:rPr lang="en-GB" dirty="0" err="1">
                <a:solidFill>
                  <a:schemeClr val="tx1"/>
                </a:solidFill>
                <a:latin typeface="+mn-lt"/>
                <a:ea typeface="+mn-ea"/>
                <a:cs typeface="+mn-cs"/>
              </a:rPr>
              <a:t>boolean</a:t>
            </a:r>
            <a:r>
              <a:rPr lang="en-GB" dirty="0">
                <a:solidFill>
                  <a:schemeClr val="tx1"/>
                </a:solidFill>
                <a:latin typeface="+mn-lt"/>
                <a:ea typeface="+mn-ea"/>
                <a:cs typeface="+mn-cs"/>
              </a:rPr>
              <a:t> found(){return found;}</a:t>
            </a:r>
            <a:endParaRPr lang="en-IE" dirty="0">
              <a:solidFill>
                <a:schemeClr val="tx1"/>
              </a:solidFill>
              <a:latin typeface="+mn-lt"/>
              <a:ea typeface="+mn-ea"/>
              <a:cs typeface="+mn-cs"/>
            </a:endParaRPr>
          </a:p>
          <a:p>
            <a:r>
              <a:rPr lang="en-GB" dirty="0">
                <a:solidFill>
                  <a:schemeClr val="tx1"/>
                </a:solidFill>
                <a:latin typeface="+mn-lt"/>
                <a:ea typeface="+mn-ea"/>
                <a:cs typeface="+mn-cs"/>
              </a:rPr>
              <a:t>	public String </a:t>
            </a:r>
            <a:r>
              <a:rPr lang="en-GB" dirty="0" err="1">
                <a:solidFill>
                  <a:schemeClr val="tx1"/>
                </a:solidFill>
                <a:latin typeface="+mn-lt"/>
                <a:ea typeface="+mn-ea"/>
                <a:cs typeface="+mn-cs"/>
              </a:rPr>
              <a:t>toString</a:t>
            </a:r>
            <a:r>
              <a:rPr lang="en-GB" dirty="0">
                <a:solidFill>
                  <a:schemeClr val="tx1"/>
                </a:solidFill>
                <a:latin typeface="+mn-lt"/>
                <a:ea typeface="+mn-ea"/>
                <a:cs typeface="+mn-cs"/>
              </a:rPr>
              <a:t>(){return found+"";}</a:t>
            </a:r>
            <a:endParaRPr lang="en-IE" dirty="0">
              <a:solidFill>
                <a:schemeClr val="tx1"/>
              </a:solidFill>
              <a:latin typeface="+mn-lt"/>
              <a:ea typeface="+mn-ea"/>
              <a:cs typeface="+mn-cs"/>
            </a:endParaRPr>
          </a:p>
          <a:p>
            <a:r>
              <a:rPr lang="en-GB" dirty="0">
                <a:solidFill>
                  <a:schemeClr val="tx1"/>
                </a:solidFill>
                <a:latin typeface="+mn-lt"/>
                <a:ea typeface="+mn-ea"/>
                <a:cs typeface="+mn-cs"/>
              </a:rPr>
              <a:t>} </a:t>
            </a:r>
            <a:endParaRPr lang="en-IE" dirty="0">
              <a:solidFill>
                <a:schemeClr val="tx1"/>
              </a:solidFill>
              <a:latin typeface="+mn-lt"/>
              <a:ea typeface="+mn-ea"/>
              <a:cs typeface="+mn-cs"/>
            </a:endParaRPr>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GB" dirty="0">
                <a:solidFill>
                  <a:schemeClr val="tx1"/>
                </a:solidFill>
                <a:latin typeface="+mn-lt"/>
                <a:ea typeface="+mn-ea"/>
                <a:cs typeface="+mn-cs"/>
              </a:rPr>
              <a:t>   Searcher(</a:t>
            </a:r>
            <a:r>
              <a:rPr lang="en-GB" dirty="0" err="1">
                <a:solidFill>
                  <a:schemeClr val="tx1"/>
                </a:solidFill>
                <a:latin typeface="+mn-lt"/>
                <a:ea typeface="+mn-ea"/>
                <a:cs typeface="+mn-cs"/>
              </a:rPr>
              <a:t>int</a:t>
            </a:r>
            <a:r>
              <a:rPr lang="en-GB" dirty="0">
                <a:solidFill>
                  <a:schemeClr val="tx1"/>
                </a:solidFill>
                <a:latin typeface="+mn-lt"/>
                <a:ea typeface="+mn-ea"/>
                <a:cs typeface="+mn-cs"/>
              </a:rPr>
              <a:t> f1[], </a:t>
            </a:r>
            <a:r>
              <a:rPr lang="en-GB" dirty="0" err="1">
                <a:solidFill>
                  <a:schemeClr val="tx1"/>
                </a:solidFill>
                <a:latin typeface="+mn-lt"/>
                <a:ea typeface="+mn-ea"/>
                <a:cs typeface="+mn-cs"/>
              </a:rPr>
              <a:t>int</a:t>
            </a:r>
            <a:r>
              <a:rPr lang="en-GB" dirty="0">
                <a:solidFill>
                  <a:schemeClr val="tx1"/>
                </a:solidFill>
                <a:latin typeface="+mn-lt"/>
                <a:ea typeface="+mn-ea"/>
                <a:cs typeface="+mn-cs"/>
              </a:rPr>
              <a:t> a, </a:t>
            </a:r>
            <a:r>
              <a:rPr lang="en-GB" dirty="0" err="1">
                <a:solidFill>
                  <a:schemeClr val="tx1"/>
                </a:solidFill>
                <a:latin typeface="+mn-lt"/>
                <a:ea typeface="+mn-ea"/>
                <a:cs typeface="+mn-cs"/>
              </a:rPr>
              <a:t>int</a:t>
            </a:r>
            <a:r>
              <a:rPr lang="en-GB" dirty="0">
                <a:solidFill>
                  <a:schemeClr val="tx1"/>
                </a:solidFill>
                <a:latin typeface="+mn-lt"/>
                <a:ea typeface="+mn-ea"/>
                <a:cs typeface="+mn-cs"/>
              </a:rPr>
              <a:t> b, </a:t>
            </a:r>
            <a:r>
              <a:rPr lang="en-GB" dirty="0" err="1">
                <a:solidFill>
                  <a:schemeClr val="tx1"/>
                </a:solidFill>
                <a:latin typeface="+mn-lt"/>
                <a:ea typeface="+mn-ea"/>
                <a:cs typeface="+mn-cs"/>
              </a:rPr>
              <a:t>int</a:t>
            </a:r>
            <a:r>
              <a:rPr lang="en-GB" dirty="0">
                <a:solidFill>
                  <a:schemeClr val="tx1"/>
                </a:solidFill>
                <a:latin typeface="+mn-lt"/>
                <a:ea typeface="+mn-ea"/>
                <a:cs typeface="+mn-cs"/>
              </a:rPr>
              <a:t> x, Found </a:t>
            </a:r>
            <a:r>
              <a:rPr lang="en-GB" dirty="0" err="1">
                <a:solidFill>
                  <a:schemeClr val="tx1"/>
                </a:solidFill>
                <a:latin typeface="+mn-lt"/>
                <a:ea typeface="+mn-ea"/>
                <a:cs typeface="+mn-cs"/>
              </a:rPr>
              <a:t>fd</a:t>
            </a:r>
            <a:r>
              <a:rPr lang="en-GB" dirty="0">
                <a:solidFill>
                  <a:schemeClr val="tx1"/>
                </a:solidFill>
                <a:latin typeface="+mn-lt"/>
                <a:ea typeface="+mn-ea"/>
                <a:cs typeface="+mn-cs"/>
              </a:rPr>
              <a:t>) {</a:t>
            </a:r>
            <a:endParaRPr lang="en-IE" dirty="0">
              <a:solidFill>
                <a:schemeClr val="tx1"/>
              </a:solidFill>
              <a:latin typeface="+mn-lt"/>
              <a:ea typeface="+mn-ea"/>
              <a:cs typeface="+mn-cs"/>
            </a:endParaRPr>
          </a:p>
          <a:p>
            <a:r>
              <a:rPr lang="en-GB" dirty="0">
                <a:solidFill>
                  <a:schemeClr val="tx1"/>
                </a:solidFill>
                <a:latin typeface="+mn-lt"/>
                <a:ea typeface="+mn-ea"/>
                <a:cs typeface="+mn-cs"/>
              </a:rPr>
              <a:t>     f = f1; lb = a; </a:t>
            </a:r>
            <a:r>
              <a:rPr lang="en-GB" dirty="0" err="1">
                <a:solidFill>
                  <a:schemeClr val="tx1"/>
                </a:solidFill>
                <a:latin typeface="+mn-lt"/>
                <a:ea typeface="+mn-ea"/>
                <a:cs typeface="+mn-cs"/>
              </a:rPr>
              <a:t>ub</a:t>
            </a:r>
            <a:r>
              <a:rPr lang="en-GB" dirty="0">
                <a:solidFill>
                  <a:schemeClr val="tx1"/>
                </a:solidFill>
                <a:latin typeface="+mn-lt"/>
                <a:ea typeface="+mn-ea"/>
                <a:cs typeface="+mn-cs"/>
              </a:rPr>
              <a:t> = b; </a:t>
            </a:r>
            <a:r>
              <a:rPr lang="en-GB" dirty="0" err="1">
                <a:solidFill>
                  <a:schemeClr val="tx1"/>
                </a:solidFill>
                <a:latin typeface="+mn-lt"/>
                <a:ea typeface="+mn-ea"/>
                <a:cs typeface="+mn-cs"/>
              </a:rPr>
              <a:t>this.x</a:t>
            </a:r>
            <a:r>
              <a:rPr lang="en-GB" dirty="0">
                <a:solidFill>
                  <a:schemeClr val="tx1"/>
                </a:solidFill>
                <a:latin typeface="+mn-lt"/>
                <a:ea typeface="+mn-ea"/>
                <a:cs typeface="+mn-cs"/>
              </a:rPr>
              <a:t> = x; </a:t>
            </a:r>
            <a:r>
              <a:rPr lang="en-GB" dirty="0" err="1">
                <a:solidFill>
                  <a:schemeClr val="tx1"/>
                </a:solidFill>
                <a:latin typeface="+mn-lt"/>
                <a:ea typeface="+mn-ea"/>
                <a:cs typeface="+mn-cs"/>
              </a:rPr>
              <a:t>fnd</a:t>
            </a:r>
            <a:r>
              <a:rPr lang="en-GB" dirty="0">
                <a:solidFill>
                  <a:schemeClr val="tx1"/>
                </a:solidFill>
                <a:latin typeface="+mn-lt"/>
                <a:ea typeface="+mn-ea"/>
                <a:cs typeface="+mn-cs"/>
              </a:rPr>
              <a:t> = </a:t>
            </a:r>
            <a:r>
              <a:rPr lang="en-GB" dirty="0" err="1">
                <a:solidFill>
                  <a:schemeClr val="tx1"/>
                </a:solidFill>
                <a:latin typeface="+mn-lt"/>
                <a:ea typeface="+mn-ea"/>
                <a:cs typeface="+mn-cs"/>
              </a:rPr>
              <a:t>fd</a:t>
            </a:r>
            <a:r>
              <a:rPr lang="en-GB" dirty="0">
                <a:solidFill>
                  <a:schemeClr val="tx1"/>
                </a:solidFill>
                <a:latin typeface="+mn-lt"/>
                <a:ea typeface="+mn-ea"/>
                <a:cs typeface="+mn-cs"/>
              </a:rPr>
              <a:t>;</a:t>
            </a:r>
            <a:endParaRPr lang="en-IE" dirty="0">
              <a:solidFill>
                <a:schemeClr val="tx1"/>
              </a:solidFill>
              <a:latin typeface="+mn-lt"/>
              <a:ea typeface="+mn-ea"/>
              <a:cs typeface="+mn-cs"/>
            </a:endParaRPr>
          </a:p>
          <a:p>
            <a:r>
              <a:rPr lang="en-GB" dirty="0">
                <a:solidFill>
                  <a:schemeClr val="tx1"/>
                </a:solidFill>
                <a:latin typeface="+mn-lt"/>
                <a:ea typeface="+mn-ea"/>
                <a:cs typeface="+mn-cs"/>
              </a:rPr>
              <a:t>   }</a:t>
            </a:r>
            <a:endParaRPr lang="en-IE" dirty="0">
              <a:solidFill>
                <a:schemeClr val="tx1"/>
              </a:solidFill>
              <a:latin typeface="+mn-lt"/>
              <a:ea typeface="+mn-ea"/>
              <a:cs typeface="+mn-cs"/>
            </a:endParaRPr>
          </a:p>
          <a:p>
            <a:r>
              <a:rPr lang="en-GB" dirty="0">
                <a:solidFill>
                  <a:schemeClr val="tx1"/>
                </a:solidFill>
                <a:latin typeface="+mn-lt"/>
                <a:ea typeface="+mn-ea"/>
                <a:cs typeface="+mn-cs"/>
              </a:rPr>
              <a:t>   public void run() {</a:t>
            </a:r>
            <a:endParaRPr lang="en-IE" dirty="0">
              <a:solidFill>
                <a:schemeClr val="tx1"/>
              </a:solidFill>
              <a:latin typeface="+mn-lt"/>
              <a:ea typeface="+mn-ea"/>
              <a:cs typeface="+mn-cs"/>
            </a:endParaRPr>
          </a:p>
          <a:p>
            <a:r>
              <a:rPr lang="en-GB" dirty="0">
                <a:solidFill>
                  <a:schemeClr val="tx1"/>
                </a:solidFill>
                <a:latin typeface="+mn-lt"/>
                <a:ea typeface="+mn-ea"/>
                <a:cs typeface="+mn-cs"/>
              </a:rPr>
              <a:t>     </a:t>
            </a:r>
            <a:r>
              <a:rPr lang="en-GB" dirty="0" err="1">
                <a:solidFill>
                  <a:schemeClr val="tx1"/>
                </a:solidFill>
                <a:latin typeface="+mn-lt"/>
                <a:ea typeface="+mn-ea"/>
                <a:cs typeface="+mn-cs"/>
              </a:rPr>
              <a:t>int</a:t>
            </a:r>
            <a:r>
              <a:rPr lang="en-GB" dirty="0">
                <a:solidFill>
                  <a:schemeClr val="tx1"/>
                </a:solidFill>
                <a:latin typeface="+mn-lt"/>
                <a:ea typeface="+mn-ea"/>
                <a:cs typeface="+mn-cs"/>
              </a:rPr>
              <a:t> k = lb;</a:t>
            </a:r>
            <a:endParaRPr lang="en-IE" dirty="0">
              <a:solidFill>
                <a:schemeClr val="tx1"/>
              </a:solidFill>
              <a:latin typeface="+mn-lt"/>
              <a:ea typeface="+mn-ea"/>
              <a:cs typeface="+mn-cs"/>
            </a:endParaRPr>
          </a:p>
          <a:p>
            <a:r>
              <a:rPr lang="en-GB" dirty="0">
                <a:solidFill>
                  <a:schemeClr val="tx1"/>
                </a:solidFill>
                <a:latin typeface="+mn-lt"/>
                <a:ea typeface="+mn-ea"/>
                <a:cs typeface="+mn-cs"/>
              </a:rPr>
              <a:t>     while (k &lt; </a:t>
            </a:r>
            <a:r>
              <a:rPr lang="en-GB" dirty="0" err="1">
                <a:solidFill>
                  <a:schemeClr val="tx1"/>
                </a:solidFill>
                <a:latin typeface="+mn-lt"/>
                <a:ea typeface="+mn-ea"/>
                <a:cs typeface="+mn-cs"/>
              </a:rPr>
              <a:t>ub</a:t>
            </a:r>
            <a:r>
              <a:rPr lang="en-GB" dirty="0">
                <a:solidFill>
                  <a:schemeClr val="tx1"/>
                </a:solidFill>
                <a:latin typeface="+mn-lt"/>
                <a:ea typeface="+mn-ea"/>
                <a:cs typeface="+mn-cs"/>
              </a:rPr>
              <a:t> &amp;&amp; !</a:t>
            </a:r>
            <a:r>
              <a:rPr lang="en-GB" dirty="0" err="1">
                <a:solidFill>
                  <a:schemeClr val="tx1"/>
                </a:solidFill>
                <a:latin typeface="+mn-lt"/>
                <a:ea typeface="+mn-ea"/>
                <a:cs typeface="+mn-cs"/>
              </a:rPr>
              <a:t>fnd.found</a:t>
            </a:r>
            <a:r>
              <a:rPr lang="en-GB" dirty="0">
                <a:solidFill>
                  <a:schemeClr val="tx1"/>
                </a:solidFill>
                <a:latin typeface="+mn-lt"/>
                <a:ea typeface="+mn-ea"/>
                <a:cs typeface="+mn-cs"/>
              </a:rPr>
              <a:t>()){</a:t>
            </a:r>
            <a:endParaRPr lang="en-IE" dirty="0">
              <a:solidFill>
                <a:schemeClr val="tx1"/>
              </a:solidFill>
              <a:latin typeface="+mn-lt"/>
              <a:ea typeface="+mn-ea"/>
              <a:cs typeface="+mn-cs"/>
            </a:endParaRPr>
          </a:p>
          <a:p>
            <a:r>
              <a:rPr lang="en-GB" dirty="0">
                <a:solidFill>
                  <a:schemeClr val="tx1"/>
                </a:solidFill>
                <a:latin typeface="+mn-lt"/>
                <a:ea typeface="+mn-ea"/>
                <a:cs typeface="+mn-cs"/>
              </a:rPr>
              <a:t>        if(f[k] == x) </a:t>
            </a:r>
            <a:r>
              <a:rPr lang="en-GB" dirty="0" err="1">
                <a:solidFill>
                  <a:schemeClr val="tx1"/>
                </a:solidFill>
                <a:latin typeface="+mn-lt"/>
                <a:ea typeface="+mn-ea"/>
                <a:cs typeface="+mn-cs"/>
              </a:rPr>
              <a:t>fnd.set</a:t>
            </a:r>
            <a:r>
              <a:rPr lang="en-GB" dirty="0">
                <a:solidFill>
                  <a:schemeClr val="tx1"/>
                </a:solidFill>
                <a:latin typeface="+mn-lt"/>
                <a:ea typeface="+mn-ea"/>
                <a:cs typeface="+mn-cs"/>
              </a:rPr>
              <a:t>();</a:t>
            </a:r>
            <a:endParaRPr lang="en-IE" dirty="0">
              <a:solidFill>
                <a:schemeClr val="tx1"/>
              </a:solidFill>
              <a:latin typeface="+mn-lt"/>
              <a:ea typeface="+mn-ea"/>
              <a:cs typeface="+mn-cs"/>
            </a:endParaRPr>
          </a:p>
          <a:p>
            <a:r>
              <a:rPr lang="en-GB" dirty="0">
                <a:solidFill>
                  <a:schemeClr val="tx1"/>
                </a:solidFill>
                <a:latin typeface="+mn-lt"/>
                <a:ea typeface="+mn-ea"/>
                <a:cs typeface="+mn-cs"/>
              </a:rPr>
              <a:t>        k++;</a:t>
            </a:r>
            <a:endParaRPr lang="en-IE" dirty="0">
              <a:solidFill>
                <a:schemeClr val="tx1"/>
              </a:solidFill>
              <a:latin typeface="+mn-lt"/>
              <a:ea typeface="+mn-ea"/>
              <a:cs typeface="+mn-cs"/>
            </a:endParaRPr>
          </a:p>
          <a:p>
            <a:r>
              <a:rPr lang="en-GB" dirty="0">
                <a:solidFill>
                  <a:schemeClr val="tx1"/>
                </a:solidFill>
                <a:latin typeface="+mn-lt"/>
                <a:ea typeface="+mn-ea"/>
                <a:cs typeface="+mn-cs"/>
              </a:rPr>
              <a:t>     }</a:t>
            </a:r>
            <a:endParaRPr lang="en-IE" dirty="0">
              <a:solidFill>
                <a:schemeClr val="tx1"/>
              </a:solidFill>
              <a:latin typeface="+mn-lt"/>
              <a:ea typeface="+mn-ea"/>
              <a:cs typeface="+mn-cs"/>
            </a:endParaRPr>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FF9E5A35-2382-4CDF-B44C-441869652142}" type="slidenum">
              <a:rPr lang="en-US"/>
              <a:pPr/>
              <a:t>8</a:t>
            </a:fld>
            <a:endParaRPr lang="en-US"/>
          </a:p>
        </p:txBody>
      </p:sp>
      <p:sp>
        <p:nvSpPr>
          <p:cNvPr id="19458" name="Rectangle 2"/>
          <p:cNvSpPr>
            <a:spLocks noGrp="1" noChangeArrowheads="1"/>
          </p:cNvSpPr>
          <p:nvPr>
            <p:ph type="title"/>
          </p:nvPr>
        </p:nvSpPr>
        <p:spPr/>
        <p:txBody>
          <a:bodyPr/>
          <a:lstStyle/>
          <a:p>
            <a:pPr eaLnBrk="1" hangingPunct="1">
              <a:defRPr/>
            </a:pPr>
            <a:r>
              <a:rPr lang="en-GB"/>
              <a:t>Selection Sort</a:t>
            </a:r>
            <a:endParaRPr lang="en-US"/>
          </a:p>
        </p:txBody>
      </p:sp>
      <p:sp>
        <p:nvSpPr>
          <p:cNvPr id="19459" name="Rectangle 3"/>
          <p:cNvSpPr>
            <a:spLocks noGrp="1" noChangeArrowheads="1"/>
          </p:cNvSpPr>
          <p:nvPr>
            <p:ph type="body" idx="1"/>
          </p:nvPr>
        </p:nvSpPr>
        <p:spPr/>
        <p:txBody>
          <a:bodyPr/>
          <a:lstStyle/>
          <a:p>
            <a:pPr eaLnBrk="1" hangingPunct="1">
              <a:defRPr/>
            </a:pPr>
            <a:endParaRPr lang="en-GB">
              <a:latin typeface="Comic Sans MS" charset="0"/>
            </a:endParaRPr>
          </a:p>
          <a:p>
            <a:pPr eaLnBrk="1" hangingPunct="1">
              <a:defRPr/>
            </a:pPr>
            <a:r>
              <a:rPr lang="en-GB">
                <a:latin typeface="Comic Sans MS" charset="0"/>
              </a:rPr>
              <a:t>class SelectionSort extends Thread{</a:t>
            </a:r>
          </a:p>
          <a:p>
            <a:pPr eaLnBrk="1" hangingPunct="1">
              <a:defRPr/>
            </a:pPr>
            <a:r>
              <a:rPr lang="en-GB">
                <a:latin typeface="Comic Sans MS" charset="0"/>
              </a:rPr>
              <a:t>	int dt[];</a:t>
            </a:r>
          </a:p>
          <a:p>
            <a:pPr eaLnBrk="1" hangingPunct="1">
              <a:defRPr/>
            </a:pPr>
            <a:r>
              <a:rPr lang="en-GB">
                <a:latin typeface="Comic Sans MS" charset="0"/>
              </a:rPr>
              <a:t>	int a, b;</a:t>
            </a:r>
          </a:p>
          <a:p>
            <a:pPr eaLnBrk="1" hangingPunct="1">
              <a:defRPr/>
            </a:pPr>
            <a:r>
              <a:rPr lang="en-GB">
                <a:latin typeface="Comic Sans MS" charset="0"/>
              </a:rPr>
              <a:t>	public SelectionSort(int f[], int a, int b){ </a:t>
            </a:r>
          </a:p>
          <a:p>
            <a:pPr eaLnBrk="1" hangingPunct="1">
              <a:defRPr/>
            </a:pPr>
            <a:r>
              <a:rPr lang="en-GB">
                <a:latin typeface="Comic Sans MS" charset="0"/>
              </a:rPr>
              <a:t>	           // f[a..b) to be sorted</a:t>
            </a:r>
          </a:p>
          <a:p>
            <a:pPr eaLnBrk="1" hangingPunct="1">
              <a:defRPr/>
            </a:pPr>
            <a:r>
              <a:rPr lang="en-GB">
                <a:latin typeface="Comic Sans MS" charset="0"/>
              </a:rPr>
              <a:t>		dt = f; this.a = a; this.b = b;</a:t>
            </a:r>
          </a:p>
          <a:p>
            <a:pPr eaLnBrk="1" hangingPunct="1">
              <a:defRPr/>
            </a:pPr>
            <a:r>
              <a:rPr lang="en-GB">
                <a:latin typeface="Comic Sans MS" charset="0"/>
              </a:rPr>
              <a:t>	}</a:t>
            </a:r>
          </a:p>
          <a:p>
            <a:pPr eaLnBrk="1" hangingPunct="1">
              <a:defRPr/>
            </a:pPr>
            <a:r>
              <a:rPr lang="en-GB"/>
              <a:t>	</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2D2051A9-9A5F-439E-96D4-597F9BB8A94C}" type="slidenum">
              <a:rPr lang="en-US"/>
              <a:pPr/>
              <a:t>9</a:t>
            </a:fld>
            <a:endParaRPr lang="en-US"/>
          </a:p>
        </p:txBody>
      </p:sp>
      <p:sp>
        <p:nvSpPr>
          <p:cNvPr id="20482" name="Rectangle 2"/>
          <p:cNvSpPr>
            <a:spLocks noGrp="1" noChangeArrowheads="1"/>
          </p:cNvSpPr>
          <p:nvPr>
            <p:ph type="title"/>
          </p:nvPr>
        </p:nvSpPr>
        <p:spPr/>
        <p:txBody>
          <a:bodyPr/>
          <a:lstStyle/>
          <a:p>
            <a:pPr eaLnBrk="1" hangingPunct="1">
              <a:defRPr/>
            </a:pPr>
            <a:r>
              <a:rPr lang="en-GB"/>
              <a:t>Selection Sort</a:t>
            </a:r>
            <a:endParaRPr lang="en-US"/>
          </a:p>
        </p:txBody>
      </p:sp>
      <p:sp>
        <p:nvSpPr>
          <p:cNvPr id="20483" name="Rectangle 3"/>
          <p:cNvSpPr>
            <a:spLocks noGrp="1" noChangeArrowheads="1"/>
          </p:cNvSpPr>
          <p:nvPr>
            <p:ph type="body" idx="1"/>
          </p:nvPr>
        </p:nvSpPr>
        <p:spPr/>
        <p:txBody>
          <a:bodyPr/>
          <a:lstStyle/>
          <a:p>
            <a:pPr eaLnBrk="1" hangingPunct="1">
              <a:lnSpc>
                <a:spcPct val="80000"/>
              </a:lnSpc>
              <a:defRPr/>
            </a:pPr>
            <a:r>
              <a:rPr lang="en-GB" sz="2400">
                <a:latin typeface="Comic Sans MS" charset="0"/>
              </a:rPr>
              <a:t>	public void run(){</a:t>
            </a:r>
          </a:p>
          <a:p>
            <a:pPr eaLnBrk="1" hangingPunct="1">
              <a:lnSpc>
                <a:spcPct val="80000"/>
              </a:lnSpc>
              <a:defRPr/>
            </a:pPr>
            <a:r>
              <a:rPr lang="en-GB" sz="2400">
                <a:latin typeface="Comic Sans MS" charset="0"/>
              </a:rPr>
              <a:t>		for(int i = a; i &lt; b; i++){</a:t>
            </a:r>
          </a:p>
          <a:p>
            <a:pPr eaLnBrk="1" hangingPunct="1">
              <a:lnSpc>
                <a:spcPct val="80000"/>
              </a:lnSpc>
              <a:defRPr/>
            </a:pPr>
            <a:r>
              <a:rPr lang="en-GB" sz="2400">
                <a:latin typeface="Comic Sans MS" charset="0"/>
              </a:rPr>
              <a:t>			int j = i; int k = i + 1;</a:t>
            </a:r>
          </a:p>
          <a:p>
            <a:pPr eaLnBrk="1" hangingPunct="1">
              <a:lnSpc>
                <a:spcPct val="80000"/>
              </a:lnSpc>
              <a:defRPr/>
            </a:pPr>
            <a:r>
              <a:rPr lang="en-GB" sz="2400">
                <a:latin typeface="Comic Sans MS" charset="0"/>
              </a:rPr>
              <a:t>			while(k &lt; b){</a:t>
            </a:r>
          </a:p>
          <a:p>
            <a:pPr eaLnBrk="1" hangingPunct="1">
              <a:lnSpc>
                <a:spcPct val="80000"/>
              </a:lnSpc>
              <a:defRPr/>
            </a:pPr>
            <a:r>
              <a:rPr lang="en-GB" sz="2400">
                <a:latin typeface="Comic Sans MS" charset="0"/>
              </a:rPr>
              <a:t>				if(dt[j] &gt; dt[k])</a:t>
            </a:r>
          </a:p>
          <a:p>
            <a:pPr eaLnBrk="1" hangingPunct="1">
              <a:lnSpc>
                <a:spcPct val="80000"/>
              </a:lnSpc>
              <a:defRPr/>
            </a:pPr>
            <a:r>
              <a:rPr lang="en-GB" sz="2400">
                <a:latin typeface="Comic Sans MS" charset="0"/>
              </a:rPr>
              <a:t>				   j = k;</a:t>
            </a:r>
          </a:p>
          <a:p>
            <a:pPr eaLnBrk="1" hangingPunct="1">
              <a:lnSpc>
                <a:spcPct val="80000"/>
              </a:lnSpc>
              <a:defRPr/>
            </a:pPr>
            <a:r>
              <a:rPr lang="en-GB" sz="2400">
                <a:latin typeface="Comic Sans MS" charset="0"/>
              </a:rPr>
              <a:t>				else</a:t>
            </a:r>
          </a:p>
          <a:p>
            <a:pPr eaLnBrk="1" hangingPunct="1">
              <a:lnSpc>
                <a:spcPct val="80000"/>
              </a:lnSpc>
              <a:defRPr/>
            </a:pPr>
            <a:r>
              <a:rPr lang="en-GB" sz="2400">
                <a:latin typeface="Comic Sans MS" charset="0"/>
              </a:rPr>
              <a:t>				   ; //skip</a:t>
            </a:r>
          </a:p>
          <a:p>
            <a:pPr eaLnBrk="1" hangingPunct="1">
              <a:lnSpc>
                <a:spcPct val="80000"/>
              </a:lnSpc>
              <a:defRPr/>
            </a:pPr>
            <a:r>
              <a:rPr lang="en-GB" sz="2400">
                <a:latin typeface="Comic Sans MS" charset="0"/>
              </a:rPr>
              <a:t>				k++;</a:t>
            </a:r>
          </a:p>
          <a:p>
            <a:pPr eaLnBrk="1" hangingPunct="1">
              <a:lnSpc>
                <a:spcPct val="80000"/>
              </a:lnSpc>
              <a:defRPr/>
            </a:pPr>
            <a:r>
              <a:rPr lang="en-GB" sz="2400">
                <a:latin typeface="Comic Sans MS" charset="0"/>
              </a:rPr>
              <a:t>			}</a:t>
            </a:r>
          </a:p>
          <a:p>
            <a:pPr eaLnBrk="1" hangingPunct="1">
              <a:lnSpc>
                <a:spcPct val="80000"/>
              </a:lnSpc>
              <a:defRPr/>
            </a:pPr>
            <a:r>
              <a:rPr lang="en-GB" sz="2400">
                <a:latin typeface="Comic Sans MS" charset="0"/>
              </a:rPr>
              <a:t>			//swap dt[j] with dt[i]</a:t>
            </a:r>
          </a:p>
          <a:p>
            <a:pPr eaLnBrk="1" hangingPunct="1">
              <a:lnSpc>
                <a:spcPct val="80000"/>
              </a:lnSpc>
              <a:defRPr/>
            </a:pPr>
            <a:r>
              <a:rPr lang="en-GB" sz="2400">
                <a:latin typeface="Comic Sans MS" charset="0"/>
              </a:rPr>
              <a:t>			int temp = dt[i]; dt[i] = dt[j]; dt[j] = temp;</a:t>
            </a:r>
          </a:p>
          <a:p>
            <a:pPr eaLnBrk="1" hangingPunct="1">
              <a:lnSpc>
                <a:spcPct val="80000"/>
              </a:lnSpc>
              <a:defRPr/>
            </a:pPr>
            <a:r>
              <a:rPr lang="en-GB" sz="2400">
                <a:latin typeface="Comic Sans MS" charset="0"/>
              </a:rPr>
              <a:t>		}}</a:t>
            </a:r>
          </a:p>
          <a:p>
            <a:pPr eaLnBrk="1" hangingPunct="1">
              <a:lnSpc>
                <a:spcPct val="80000"/>
              </a:lnSpc>
              <a:defRPr/>
            </a:pPr>
            <a:r>
              <a:rPr lang="en-GB" sz="2400">
                <a:latin typeface="Comic Sans MS" charset="0"/>
              </a:rPr>
              <a:t>}</a:t>
            </a:r>
            <a:endParaRPr lang="en-US" sz="2400">
              <a:latin typeface="Comic Sans MS" charset="0"/>
            </a:endParaRPr>
          </a:p>
          <a:p>
            <a:pPr eaLnBrk="1" hangingPunct="1">
              <a:lnSpc>
                <a:spcPct val="80000"/>
              </a:lnSpc>
              <a:defRPr/>
            </a:pPr>
            <a:endParaRPr lang="en-US" sz="2400">
              <a:latin typeface="Comic Sans MS"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587161E5-A2CD-47F8-A435-82E95808D583}" type="slidenum">
              <a:rPr lang="en-US"/>
              <a:pPr/>
              <a:t>10</a:t>
            </a:fld>
            <a:endParaRPr lang="en-US"/>
          </a:p>
        </p:txBody>
      </p:sp>
      <p:sp>
        <p:nvSpPr>
          <p:cNvPr id="21506" name="Rectangle 2"/>
          <p:cNvSpPr>
            <a:spLocks noGrp="1" noChangeArrowheads="1"/>
          </p:cNvSpPr>
          <p:nvPr>
            <p:ph type="title"/>
          </p:nvPr>
        </p:nvSpPr>
        <p:spPr/>
        <p:txBody>
          <a:bodyPr/>
          <a:lstStyle/>
          <a:p>
            <a:pPr eaLnBrk="1" hangingPunct="1">
              <a:defRPr/>
            </a:pPr>
            <a:r>
              <a:rPr lang="en-GB"/>
              <a:t>Selection Sort</a:t>
            </a:r>
            <a:endParaRPr lang="en-US"/>
          </a:p>
        </p:txBody>
      </p:sp>
      <p:sp>
        <p:nvSpPr>
          <p:cNvPr id="21507" name="Rectangle 3"/>
          <p:cNvSpPr>
            <a:spLocks noGrp="1" noChangeArrowheads="1"/>
          </p:cNvSpPr>
          <p:nvPr>
            <p:ph type="body" idx="1"/>
          </p:nvPr>
        </p:nvSpPr>
        <p:spPr/>
        <p:txBody>
          <a:bodyPr/>
          <a:lstStyle/>
          <a:p>
            <a:pPr eaLnBrk="1" hangingPunct="1">
              <a:lnSpc>
                <a:spcPct val="80000"/>
              </a:lnSpc>
              <a:defRPr/>
            </a:pPr>
            <a:r>
              <a:rPr lang="en-GB" sz="2000">
                <a:latin typeface="Comic Sans MS" charset="0"/>
              </a:rPr>
              <a:t>class Sorting{</a:t>
            </a:r>
          </a:p>
          <a:p>
            <a:pPr eaLnBrk="1" hangingPunct="1">
              <a:lnSpc>
                <a:spcPct val="80000"/>
              </a:lnSpc>
              <a:defRPr/>
            </a:pPr>
            <a:r>
              <a:rPr lang="en-GB" sz="2000">
                <a:latin typeface="Comic Sans MS" charset="0"/>
              </a:rPr>
              <a:t>	public static void main(String args[]){</a:t>
            </a:r>
          </a:p>
          <a:p>
            <a:pPr eaLnBrk="1" hangingPunct="1">
              <a:lnSpc>
                <a:spcPct val="80000"/>
              </a:lnSpc>
              <a:defRPr/>
            </a:pPr>
            <a:r>
              <a:rPr lang="en-GB" sz="2000">
                <a:latin typeface="Comic Sans MS" charset="0"/>
              </a:rPr>
              <a:t>                      // 1 million values</a:t>
            </a:r>
          </a:p>
          <a:p>
            <a:pPr eaLnBrk="1" hangingPunct="1">
              <a:lnSpc>
                <a:spcPct val="80000"/>
              </a:lnSpc>
              <a:defRPr/>
            </a:pPr>
            <a:r>
              <a:rPr lang="en-GB" sz="2000">
                <a:latin typeface="Comic Sans MS" charset="0"/>
              </a:rPr>
              <a:t>		int f[] = new int[1000000];</a:t>
            </a:r>
          </a:p>
          <a:p>
            <a:pPr eaLnBrk="1" hangingPunct="1">
              <a:lnSpc>
                <a:spcPct val="80000"/>
              </a:lnSpc>
              <a:defRPr/>
            </a:pPr>
            <a:r>
              <a:rPr lang="en-GB" sz="2000">
                <a:latin typeface="Comic Sans MS" charset="0"/>
              </a:rPr>
              <a:t>		int n1 = 500000;</a:t>
            </a:r>
          </a:p>
          <a:p>
            <a:pPr eaLnBrk="1" hangingPunct="1">
              <a:lnSpc>
                <a:spcPct val="80000"/>
              </a:lnSpc>
              <a:defRPr/>
            </a:pPr>
            <a:r>
              <a:rPr lang="en-GB" sz="2000">
                <a:latin typeface="Comic Sans MS" charset="0"/>
              </a:rPr>
              <a:t>		int n2 = 1000000;</a:t>
            </a:r>
          </a:p>
          <a:p>
            <a:pPr eaLnBrk="1" hangingPunct="1">
              <a:lnSpc>
                <a:spcPct val="80000"/>
              </a:lnSpc>
              <a:defRPr/>
            </a:pPr>
            <a:r>
              <a:rPr lang="en-GB" sz="2000">
                <a:latin typeface="Comic Sans MS" charset="0"/>
              </a:rPr>
              <a:t>		for(int j = 0; j &lt; f.length; j++) </a:t>
            </a:r>
          </a:p>
          <a:p>
            <a:pPr eaLnBrk="1" hangingPunct="1">
              <a:lnSpc>
                <a:spcPct val="80000"/>
              </a:lnSpc>
              <a:defRPr/>
            </a:pPr>
            <a:r>
              <a:rPr lang="en-GB" sz="2000">
                <a:latin typeface="Comic Sans MS" charset="0"/>
              </a:rPr>
              <a:t>			f[j] = (int)(Math.random()*100);</a:t>
            </a:r>
          </a:p>
          <a:p>
            <a:pPr eaLnBrk="1" hangingPunct="1">
              <a:lnSpc>
                <a:spcPct val="80000"/>
              </a:lnSpc>
              <a:defRPr/>
            </a:pPr>
            <a:r>
              <a:rPr lang="en-GB" sz="2000">
                <a:latin typeface="Comic Sans MS" charset="0"/>
              </a:rPr>
              <a:t>		Thread t = new SelectionSort(f,0,n1);</a:t>
            </a:r>
          </a:p>
          <a:p>
            <a:pPr eaLnBrk="1" hangingPunct="1">
              <a:lnSpc>
                <a:spcPct val="80000"/>
              </a:lnSpc>
              <a:defRPr/>
            </a:pPr>
            <a:r>
              <a:rPr lang="en-GB" sz="2000">
                <a:latin typeface="Comic Sans MS" charset="0"/>
              </a:rPr>
              <a:t>		Thread t1 = new SelectionSort(f,n1, n2);</a:t>
            </a:r>
          </a:p>
          <a:p>
            <a:pPr eaLnBrk="1" hangingPunct="1">
              <a:lnSpc>
                <a:spcPct val="80000"/>
              </a:lnSpc>
              <a:defRPr/>
            </a:pPr>
            <a:r>
              <a:rPr lang="en-GB" sz="2000">
                <a:latin typeface="Comic Sans MS" charset="0"/>
              </a:rPr>
              <a:t>		long startTime = System.currentTimeMillis();</a:t>
            </a:r>
          </a:p>
          <a:p>
            <a:pPr eaLnBrk="1" hangingPunct="1">
              <a:lnSpc>
                <a:spcPct val="80000"/>
              </a:lnSpc>
              <a:defRPr/>
            </a:pPr>
            <a:r>
              <a:rPr lang="en-GB" sz="2000">
                <a:latin typeface="Comic Sans MS" charset="0"/>
              </a:rPr>
              <a:t>		t.start();t1.start();</a:t>
            </a:r>
          </a:p>
          <a:p>
            <a:pPr eaLnBrk="1" hangingPunct="1">
              <a:lnSpc>
                <a:spcPct val="80000"/>
              </a:lnSpc>
              <a:defRPr/>
            </a:pPr>
            <a:r>
              <a:rPr lang="en-GB" sz="2000">
                <a:latin typeface="Comic Sans MS" charset="0"/>
              </a:rPr>
              <a:t>		try{</a:t>
            </a:r>
          </a:p>
          <a:p>
            <a:pPr eaLnBrk="1" hangingPunct="1">
              <a:lnSpc>
                <a:spcPct val="80000"/>
              </a:lnSpc>
              <a:defRPr/>
            </a:pPr>
            <a:r>
              <a:rPr lang="en-GB" sz="2000">
                <a:latin typeface="Comic Sans MS" charset="0"/>
              </a:rPr>
              <a:t>			t.join();t1.join();</a:t>
            </a:r>
          </a:p>
          <a:p>
            <a:pPr eaLnBrk="1" hangingPunct="1">
              <a:lnSpc>
                <a:spcPct val="80000"/>
              </a:lnSpc>
              <a:defRPr/>
            </a:pPr>
            <a:r>
              <a:rPr lang="en-GB" sz="2000">
                <a:latin typeface="Comic Sans MS" charset="0"/>
              </a:rPr>
              <a:t>		}</a:t>
            </a:r>
          </a:p>
          <a:p>
            <a:pPr eaLnBrk="1" hangingPunct="1">
              <a:lnSpc>
                <a:spcPct val="80000"/>
              </a:lnSpc>
              <a:defRPr/>
            </a:pPr>
            <a:r>
              <a:rPr lang="en-GB" sz="2000">
                <a:latin typeface="Comic Sans MS" charset="0"/>
              </a:rPr>
              <a:t>		catch(InterruptedException e){}</a:t>
            </a:r>
            <a:endParaRPr lang="en-US" sz="2000">
              <a:latin typeface="Comic Sans MS"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3696DB18-34CA-479E-ABDB-0FEAE4623138}" type="slidenum">
              <a:rPr lang="en-US"/>
              <a:pPr/>
              <a:t>11</a:t>
            </a:fld>
            <a:endParaRPr lang="en-US"/>
          </a:p>
        </p:txBody>
      </p:sp>
      <p:sp>
        <p:nvSpPr>
          <p:cNvPr id="22531" name="Rectangle 3"/>
          <p:cNvSpPr>
            <a:spLocks noGrp="1" noChangeArrowheads="1"/>
          </p:cNvSpPr>
          <p:nvPr>
            <p:ph type="body" idx="1"/>
          </p:nvPr>
        </p:nvSpPr>
        <p:spPr>
          <a:xfrm>
            <a:off x="395288" y="260350"/>
            <a:ext cx="8229600" cy="5905500"/>
          </a:xfrm>
        </p:spPr>
        <p:txBody>
          <a:bodyPr/>
          <a:lstStyle/>
          <a:p>
            <a:pPr eaLnBrk="1" hangingPunct="1">
              <a:lnSpc>
                <a:spcPct val="90000"/>
              </a:lnSpc>
              <a:defRPr/>
            </a:pPr>
            <a:r>
              <a:rPr lang="en-GB" sz="2000" dirty="0"/>
              <a:t>		</a:t>
            </a:r>
            <a:r>
              <a:rPr lang="en-GB" sz="2000" dirty="0">
                <a:latin typeface="Comic Sans MS" charset="0"/>
              </a:rPr>
              <a:t>//merge component parts</a:t>
            </a:r>
          </a:p>
          <a:p>
            <a:pPr eaLnBrk="1" hangingPunct="1">
              <a:lnSpc>
                <a:spcPct val="90000"/>
              </a:lnSpc>
              <a:defRPr/>
            </a:pPr>
            <a:r>
              <a:rPr lang="en-GB" sz="2000" dirty="0">
                <a:latin typeface="Comic Sans MS" charset="0"/>
              </a:rPr>
              <a:t>		int c[] = new int[</a:t>
            </a:r>
            <a:r>
              <a:rPr lang="en-GB" sz="2000" dirty="0" err="1">
                <a:latin typeface="Comic Sans MS" charset="0"/>
              </a:rPr>
              <a:t>f.length</a:t>
            </a:r>
            <a:r>
              <a:rPr lang="en-GB" sz="2000" dirty="0">
                <a:latin typeface="Comic Sans MS" charset="0"/>
              </a:rPr>
              <a:t>];</a:t>
            </a:r>
          </a:p>
          <a:p>
            <a:pPr eaLnBrk="1" hangingPunct="1">
              <a:lnSpc>
                <a:spcPct val="90000"/>
              </a:lnSpc>
              <a:defRPr/>
            </a:pPr>
            <a:r>
              <a:rPr lang="en-GB" sz="2000" dirty="0">
                <a:latin typeface="Comic Sans MS" charset="0"/>
              </a:rPr>
              <a:t>		int k = 0;int j = 0;int h = n1;</a:t>
            </a:r>
          </a:p>
          <a:p>
            <a:pPr eaLnBrk="1" hangingPunct="1">
              <a:lnSpc>
                <a:spcPct val="90000"/>
              </a:lnSpc>
              <a:defRPr/>
            </a:pPr>
            <a:r>
              <a:rPr lang="en-GB" sz="2000" dirty="0">
                <a:latin typeface="Comic Sans MS" charset="0"/>
              </a:rPr>
              <a:t>		while(j &lt; n1 &amp;&amp; h &lt; n2){</a:t>
            </a:r>
          </a:p>
          <a:p>
            <a:pPr eaLnBrk="1" hangingPunct="1">
              <a:lnSpc>
                <a:spcPct val="90000"/>
              </a:lnSpc>
              <a:defRPr/>
            </a:pPr>
            <a:r>
              <a:rPr lang="en-GB" sz="2000" dirty="0">
                <a:latin typeface="Comic Sans MS" charset="0"/>
              </a:rPr>
              <a:t>			if(f[j] &lt;= f[h]){</a:t>
            </a:r>
          </a:p>
          <a:p>
            <a:pPr eaLnBrk="1" hangingPunct="1">
              <a:lnSpc>
                <a:spcPct val="90000"/>
              </a:lnSpc>
              <a:defRPr/>
            </a:pPr>
            <a:r>
              <a:rPr lang="en-GB" sz="2000" dirty="0">
                <a:latin typeface="Comic Sans MS" charset="0"/>
              </a:rPr>
              <a:t>				c[k] = f[j];</a:t>
            </a:r>
          </a:p>
          <a:p>
            <a:pPr eaLnBrk="1" hangingPunct="1">
              <a:lnSpc>
                <a:spcPct val="90000"/>
              </a:lnSpc>
              <a:defRPr/>
            </a:pPr>
            <a:r>
              <a:rPr lang="en-GB" sz="2000" dirty="0">
                <a:latin typeface="Comic Sans MS" charset="0"/>
              </a:rPr>
              <a:t>				</a:t>
            </a:r>
            <a:r>
              <a:rPr lang="en-GB" sz="2000" dirty="0" err="1">
                <a:latin typeface="Comic Sans MS" charset="0"/>
              </a:rPr>
              <a:t>j++</a:t>
            </a:r>
            <a:r>
              <a:rPr lang="en-GB" sz="2000" dirty="0">
                <a:latin typeface="Comic Sans MS" charset="0"/>
              </a:rPr>
              <a:t>;</a:t>
            </a:r>
          </a:p>
          <a:p>
            <a:pPr eaLnBrk="1" hangingPunct="1">
              <a:lnSpc>
                <a:spcPct val="90000"/>
              </a:lnSpc>
              <a:defRPr/>
            </a:pPr>
            <a:r>
              <a:rPr lang="en-GB" sz="2000" dirty="0">
                <a:latin typeface="Comic Sans MS" charset="0"/>
              </a:rPr>
              <a:t>			}</a:t>
            </a:r>
          </a:p>
          <a:p>
            <a:pPr eaLnBrk="1" hangingPunct="1">
              <a:lnSpc>
                <a:spcPct val="90000"/>
              </a:lnSpc>
              <a:defRPr/>
            </a:pPr>
            <a:r>
              <a:rPr lang="en-GB" sz="2000" dirty="0">
                <a:latin typeface="Comic Sans MS" charset="0"/>
              </a:rPr>
              <a:t>			else{</a:t>
            </a:r>
          </a:p>
          <a:p>
            <a:pPr eaLnBrk="1" hangingPunct="1">
              <a:lnSpc>
                <a:spcPct val="90000"/>
              </a:lnSpc>
              <a:defRPr/>
            </a:pPr>
            <a:r>
              <a:rPr lang="en-GB" sz="2000" dirty="0">
                <a:latin typeface="Comic Sans MS" charset="0"/>
              </a:rPr>
              <a:t>				c[k] = f[h];</a:t>
            </a:r>
          </a:p>
          <a:p>
            <a:pPr eaLnBrk="1" hangingPunct="1">
              <a:lnSpc>
                <a:spcPct val="90000"/>
              </a:lnSpc>
              <a:defRPr/>
            </a:pPr>
            <a:r>
              <a:rPr lang="en-GB" sz="2000" dirty="0">
                <a:latin typeface="Comic Sans MS" charset="0"/>
              </a:rPr>
              <a:t>				h++;</a:t>
            </a:r>
          </a:p>
          <a:p>
            <a:pPr eaLnBrk="1" hangingPunct="1">
              <a:lnSpc>
                <a:spcPct val="90000"/>
              </a:lnSpc>
              <a:defRPr/>
            </a:pPr>
            <a:r>
              <a:rPr lang="en-GB" sz="2000" dirty="0">
                <a:latin typeface="Comic Sans MS" charset="0"/>
              </a:rPr>
              <a:t>			}</a:t>
            </a:r>
          </a:p>
          <a:p>
            <a:pPr eaLnBrk="1" hangingPunct="1">
              <a:lnSpc>
                <a:spcPct val="90000"/>
              </a:lnSpc>
              <a:defRPr/>
            </a:pPr>
            <a:r>
              <a:rPr lang="en-GB" sz="2000" dirty="0">
                <a:latin typeface="Comic Sans MS" charset="0"/>
              </a:rPr>
              <a:t>			k++;</a:t>
            </a:r>
          </a:p>
          <a:p>
            <a:pPr eaLnBrk="1" hangingPunct="1">
              <a:lnSpc>
                <a:spcPct val="90000"/>
              </a:lnSpc>
              <a:defRPr/>
            </a:pPr>
            <a:r>
              <a:rPr lang="en-GB" sz="2000" dirty="0">
                <a:latin typeface="Comic Sans MS" charset="0"/>
              </a:rPr>
              <a:t>		}</a:t>
            </a:r>
          </a:p>
          <a:p>
            <a:pPr eaLnBrk="1" hangingPunct="1">
              <a:lnSpc>
                <a:spcPct val="90000"/>
              </a:lnSpc>
              <a:defRPr/>
            </a:pPr>
            <a:r>
              <a:rPr lang="en-GB" sz="2000" dirty="0">
                <a:latin typeface="Comic Sans MS" charset="0"/>
              </a:rPr>
              <a:t>		while(j &lt; n1){ c[k] = f[j];  k++; </a:t>
            </a:r>
            <a:r>
              <a:rPr lang="en-GB" sz="2000" dirty="0" err="1">
                <a:latin typeface="Comic Sans MS" charset="0"/>
              </a:rPr>
              <a:t>j++</a:t>
            </a:r>
            <a:r>
              <a:rPr lang="en-GB" sz="2000" dirty="0">
                <a:latin typeface="Comic Sans MS" charset="0"/>
              </a:rPr>
              <a:t>; }</a:t>
            </a:r>
          </a:p>
          <a:p>
            <a:pPr eaLnBrk="1" hangingPunct="1">
              <a:lnSpc>
                <a:spcPct val="90000"/>
              </a:lnSpc>
              <a:defRPr/>
            </a:pPr>
            <a:r>
              <a:rPr lang="en-GB" sz="2000" dirty="0">
                <a:latin typeface="Comic Sans MS" charset="0"/>
              </a:rPr>
              <a:t>		while(h &lt; n2){c[k] = f[h]; k++; h++;}</a:t>
            </a:r>
          </a:p>
          <a:p>
            <a:pPr eaLnBrk="1" hangingPunct="1">
              <a:lnSpc>
                <a:spcPct val="90000"/>
              </a:lnSpc>
              <a:defRPr/>
            </a:pPr>
            <a:r>
              <a:rPr lang="en-GB" sz="2000" dirty="0">
                <a:latin typeface="Comic Sans MS" charset="0"/>
              </a:rPr>
              <a:t>		f = c;</a:t>
            </a:r>
            <a:endParaRPr lang="en-US" sz="2000" dirty="0">
              <a:latin typeface="Comic Sans MS"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D17BCEED-3914-4B2E-BC76-B5C77D6FF3F4}" type="slidenum">
              <a:rPr lang="en-US"/>
              <a:pPr/>
              <a:t>12</a:t>
            </a:fld>
            <a:endParaRPr lang="en-US"/>
          </a:p>
        </p:txBody>
      </p:sp>
      <p:sp>
        <p:nvSpPr>
          <p:cNvPr id="23554" name="Rectangle 2"/>
          <p:cNvSpPr>
            <a:spLocks noGrp="1" noChangeArrowheads="1"/>
          </p:cNvSpPr>
          <p:nvPr>
            <p:ph type="title"/>
          </p:nvPr>
        </p:nvSpPr>
        <p:spPr/>
        <p:txBody>
          <a:bodyPr/>
          <a:lstStyle/>
          <a:p>
            <a:pPr eaLnBrk="1" hangingPunct="1">
              <a:defRPr/>
            </a:pPr>
            <a:endParaRPr lang="en-US"/>
          </a:p>
        </p:txBody>
      </p:sp>
      <p:sp>
        <p:nvSpPr>
          <p:cNvPr id="23555" name="Rectangle 3"/>
          <p:cNvSpPr>
            <a:spLocks noGrp="1" noChangeArrowheads="1"/>
          </p:cNvSpPr>
          <p:nvPr>
            <p:ph type="body" idx="1"/>
          </p:nvPr>
        </p:nvSpPr>
        <p:spPr/>
        <p:txBody>
          <a:bodyPr/>
          <a:lstStyle/>
          <a:p>
            <a:pPr eaLnBrk="1" hangingPunct="1"/>
            <a:r>
              <a:rPr lang="en-GB"/>
              <a:t>		</a:t>
            </a:r>
            <a:r>
              <a:rPr lang="en-GB" sz="2400">
                <a:latin typeface="Comic Sans MS" pitchFamily="66" charset="0"/>
              </a:rPr>
              <a:t>long endTime = System.currentTimeMillis(); </a:t>
            </a:r>
          </a:p>
          <a:p>
            <a:pPr eaLnBrk="1" hangingPunct="1"/>
            <a:r>
              <a:rPr lang="en-GB" sz="2400">
                <a:latin typeface="Comic Sans MS" pitchFamily="66" charset="0"/>
              </a:rPr>
              <a:t>		long runningTime = endTime-startTime;</a:t>
            </a:r>
          </a:p>
          <a:p>
            <a:pPr eaLnBrk="1" hangingPunct="1"/>
            <a:r>
              <a:rPr lang="en-GB" sz="2400">
                <a:latin typeface="Comic Sans MS" pitchFamily="66" charset="0"/>
              </a:rPr>
              <a:t>		System.out.println(runningTime + " millisecs (</a:t>
            </a:r>
            <a:r>
              <a:rPr lang="en-GB" altLang="en-US" sz="2400">
                <a:latin typeface="Comic Sans MS" pitchFamily="66" charset="0"/>
              </a:rPr>
              <a:t>“</a:t>
            </a:r>
            <a:endParaRPr lang="en-GB" sz="2400">
              <a:latin typeface="Comic Sans MS" pitchFamily="66" charset="0"/>
            </a:endParaRPr>
          </a:p>
          <a:p>
            <a:pPr eaLnBrk="1" hangingPunct="1"/>
            <a:r>
              <a:rPr lang="en-GB" sz="2400">
                <a:latin typeface="Comic Sans MS" pitchFamily="66" charset="0"/>
              </a:rPr>
              <a:t>					 +(runningTime/1000.0) + ")");</a:t>
            </a:r>
          </a:p>
          <a:p>
            <a:pPr eaLnBrk="1" hangingPunct="1"/>
            <a:r>
              <a:rPr lang="en-GB" sz="2400">
                <a:latin typeface="Comic Sans MS" pitchFamily="66" charset="0"/>
              </a:rPr>
              <a:t>		System.out.println();</a:t>
            </a:r>
          </a:p>
          <a:p>
            <a:pPr eaLnBrk="1" hangingPunct="1"/>
            <a:r>
              <a:rPr lang="en-GB" sz="2400">
                <a:latin typeface="Comic Sans MS" pitchFamily="66" charset="0"/>
              </a:rPr>
              <a:t>		//for(int j1 = 0; j1 &lt; f.length; j1++) 	System.out.print(f[j1]+" ");</a:t>
            </a:r>
          </a:p>
          <a:p>
            <a:pPr eaLnBrk="1" hangingPunct="1"/>
            <a:r>
              <a:rPr lang="en-GB" sz="2400">
                <a:latin typeface="Comic Sans MS" pitchFamily="66" charset="0"/>
              </a:rPr>
              <a:t>		System.out.println();</a:t>
            </a:r>
          </a:p>
          <a:p>
            <a:pPr eaLnBrk="1" hangingPunct="1"/>
            <a:r>
              <a:rPr lang="en-GB" sz="2400">
                <a:latin typeface="Comic Sans MS" pitchFamily="66" charset="0"/>
              </a:rPr>
              <a:t>	}</a:t>
            </a:r>
          </a:p>
          <a:p>
            <a:pPr eaLnBrk="1" hangingPunct="1"/>
            <a:r>
              <a:rPr lang="en-GB" sz="2400">
                <a:latin typeface="Comic Sans MS" pitchFamily="66" charset="0"/>
              </a:rPr>
              <a:t>  }</a:t>
            </a:r>
            <a:endParaRPr lang="en-US" sz="2400">
              <a:latin typeface="Comic Sans MS" pitchFamily="66"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8BE1750A-F745-4B36-9784-2088DA5BB36D}" type="slidenum">
              <a:rPr lang="en-US"/>
              <a:pPr/>
              <a:t>13</a:t>
            </a:fld>
            <a:endParaRPr lang="en-US"/>
          </a:p>
        </p:txBody>
      </p:sp>
      <p:sp>
        <p:nvSpPr>
          <p:cNvPr id="24578" name="Rectangle 2"/>
          <p:cNvSpPr>
            <a:spLocks noGrp="1" noChangeArrowheads="1"/>
          </p:cNvSpPr>
          <p:nvPr>
            <p:ph type="title"/>
          </p:nvPr>
        </p:nvSpPr>
        <p:spPr/>
        <p:txBody>
          <a:bodyPr/>
          <a:lstStyle/>
          <a:p>
            <a:pPr eaLnBrk="1" hangingPunct="1">
              <a:defRPr/>
            </a:pPr>
            <a:r>
              <a:rPr lang="en-GB"/>
              <a:t>Selection Sort</a:t>
            </a:r>
            <a:endParaRPr lang="en-US"/>
          </a:p>
        </p:txBody>
      </p:sp>
      <p:sp>
        <p:nvSpPr>
          <p:cNvPr id="24579" name="Rectangle 3"/>
          <p:cNvSpPr>
            <a:spLocks noGrp="1" noChangeArrowheads="1"/>
          </p:cNvSpPr>
          <p:nvPr>
            <p:ph type="body" idx="1"/>
          </p:nvPr>
        </p:nvSpPr>
        <p:spPr/>
        <p:txBody>
          <a:bodyPr/>
          <a:lstStyle/>
          <a:p>
            <a:pPr eaLnBrk="1" hangingPunct="1">
              <a:defRPr/>
            </a:pPr>
            <a:r>
              <a:rPr lang="en-GB"/>
              <a:t>	</a:t>
            </a:r>
          </a:p>
          <a:p>
            <a:pPr eaLnBrk="1" hangingPunct="1">
              <a:defRPr/>
            </a:pPr>
            <a:r>
              <a:rPr lang="en-GB"/>
              <a:t>	The parallel version was approximately 4 times faster than the single threaded solution for 100000 values. </a:t>
            </a:r>
          </a:p>
          <a:p>
            <a:pPr eaLnBrk="1" hangingPunct="1">
              <a:defRPr/>
            </a:pPr>
            <a:r>
              <a:rPr lang="en-GB"/>
              <a:t>	</a:t>
            </a:r>
          </a:p>
          <a:p>
            <a:pPr eaLnBrk="1" hangingPunct="1">
              <a:defRPr/>
            </a:pPr>
            <a:r>
              <a:rPr lang="en-GB"/>
              <a:t>	The time was 5.9 secs as opposed to 20.9. </a:t>
            </a:r>
          </a:p>
          <a:p>
            <a:pPr eaLnBrk="1" hangingPunct="1">
              <a:defRPr/>
            </a:pPr>
            <a:endParaRPr lang="en-GB"/>
          </a:p>
          <a:p>
            <a:pPr eaLnBrk="1" hangingPunct="1">
              <a:defRPr/>
            </a:pPr>
            <a:r>
              <a:rPr lang="en-GB"/>
              <a:t>	Tested on Intel dual-core processor with 1Gb of ram.</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648071"/>
          </a:xfrm>
        </p:spPr>
        <p:txBody>
          <a:bodyPr/>
          <a:lstStyle/>
          <a:p>
            <a:br>
              <a:rPr lang="en-GB" b="1" dirty="0"/>
            </a:br>
            <a:r>
              <a:rPr lang="en-GB" b="1" dirty="0"/>
              <a:t>Distributing the Workload Fairly over Threads</a:t>
            </a:r>
            <a:br>
              <a:rPr lang="en-IE" dirty="0"/>
            </a:br>
            <a:endParaRPr lang="en-IE" dirty="0"/>
          </a:p>
        </p:txBody>
      </p:sp>
      <p:sp>
        <p:nvSpPr>
          <p:cNvPr id="3" name="Content Placeholder 2"/>
          <p:cNvSpPr>
            <a:spLocks noGrp="1"/>
          </p:cNvSpPr>
          <p:nvPr>
            <p:ph idx="1"/>
          </p:nvPr>
        </p:nvSpPr>
        <p:spPr/>
        <p:txBody>
          <a:bodyPr/>
          <a:lstStyle/>
          <a:p>
            <a:pPr>
              <a:buFont typeface="Arial" pitchFamily="34" charset="0"/>
              <a:buChar char="•"/>
            </a:pPr>
            <a:r>
              <a:rPr lang="en-GB" dirty="0"/>
              <a:t>optimise processing times by allocating the maximum number of processors available to compute results</a:t>
            </a:r>
          </a:p>
          <a:p>
            <a:r>
              <a:rPr lang="en-GB" dirty="0"/>
              <a:t> </a:t>
            </a:r>
          </a:p>
          <a:p>
            <a:pPr>
              <a:buFont typeface="Arial" pitchFamily="34" charset="0"/>
              <a:buChar char="•"/>
            </a:pPr>
            <a:r>
              <a:rPr lang="en-GB" dirty="0"/>
              <a:t>distribute the workload as fairly as possible over the maximum number of threads supported by the underlying processor.  </a:t>
            </a:r>
          </a:p>
          <a:p>
            <a:pPr>
              <a:buFont typeface="Arial" pitchFamily="34" charset="0"/>
              <a:buChar char="•"/>
            </a:pPr>
            <a:endParaRPr lang="en-GB" dirty="0"/>
          </a:p>
          <a:p>
            <a:pPr>
              <a:buFont typeface="Arial" pitchFamily="34" charset="0"/>
              <a:buChar char="•"/>
            </a:pPr>
            <a:r>
              <a:rPr lang="en-GB" dirty="0"/>
              <a:t>introducing more threads than available processors is counter productive</a:t>
            </a:r>
          </a:p>
          <a:p>
            <a:pPr>
              <a:buFont typeface="Arial" pitchFamily="34" charset="0"/>
              <a:buChar char="•"/>
            </a:pPr>
            <a:r>
              <a:rPr lang="en-GB" dirty="0"/>
              <a:t>I/O versus CPU bound</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Rank Sort</a:t>
            </a:r>
          </a:p>
        </p:txBody>
      </p:sp>
      <p:sp>
        <p:nvSpPr>
          <p:cNvPr id="3" name="Content Placeholder 2"/>
          <p:cNvSpPr>
            <a:spLocks noGrp="1"/>
          </p:cNvSpPr>
          <p:nvPr>
            <p:ph idx="1"/>
          </p:nvPr>
        </p:nvSpPr>
        <p:spPr/>
        <p:txBody>
          <a:bodyPr/>
          <a:lstStyle/>
          <a:p>
            <a:r>
              <a:rPr lang="en-GB" dirty="0"/>
              <a:t> 	   </a:t>
            </a:r>
          </a:p>
          <a:p>
            <a:r>
              <a:rPr lang="en-GB" dirty="0"/>
              <a:t>        </a:t>
            </a:r>
            <a:r>
              <a:rPr lang="en-GB" dirty="0" err="1"/>
              <a:t>int</a:t>
            </a:r>
            <a:r>
              <a:rPr lang="en-GB" dirty="0"/>
              <a:t> data[] = ...;</a:t>
            </a:r>
            <a:endParaRPr lang="en-IE" dirty="0"/>
          </a:p>
          <a:p>
            <a:r>
              <a:rPr lang="en-GB" dirty="0"/>
              <a:t>        </a:t>
            </a:r>
            <a:r>
              <a:rPr lang="en-GB" dirty="0" err="1"/>
              <a:t>int</a:t>
            </a:r>
            <a:r>
              <a:rPr lang="en-GB" dirty="0"/>
              <a:t> copy[] = new </a:t>
            </a:r>
            <a:r>
              <a:rPr lang="en-GB" dirty="0" err="1"/>
              <a:t>int</a:t>
            </a:r>
            <a:r>
              <a:rPr lang="en-GB" dirty="0"/>
              <a:t>[</a:t>
            </a:r>
            <a:r>
              <a:rPr lang="en-GB" dirty="0" err="1"/>
              <a:t>data.length</a:t>
            </a:r>
            <a:r>
              <a:rPr lang="en-GB" dirty="0"/>
              <a:t>];  </a:t>
            </a:r>
            <a:endParaRPr lang="en-IE" dirty="0"/>
          </a:p>
          <a:p>
            <a:r>
              <a:rPr lang="en-GB" dirty="0"/>
              <a:t>        for(</a:t>
            </a:r>
            <a:r>
              <a:rPr lang="en-GB" dirty="0" err="1"/>
              <a:t>int</a:t>
            </a:r>
            <a:r>
              <a:rPr lang="en-GB" dirty="0"/>
              <a:t> </a:t>
            </a:r>
            <a:r>
              <a:rPr lang="en-GB" dirty="0" err="1"/>
              <a:t>i</a:t>
            </a:r>
            <a:r>
              <a:rPr lang="en-GB" dirty="0"/>
              <a:t> = 0; </a:t>
            </a:r>
            <a:r>
              <a:rPr lang="en-GB" dirty="0" err="1"/>
              <a:t>i</a:t>
            </a:r>
            <a:r>
              <a:rPr lang="en-GB" dirty="0"/>
              <a:t> &lt; </a:t>
            </a:r>
            <a:r>
              <a:rPr lang="en-GB" dirty="0" err="1"/>
              <a:t>data.length</a:t>
            </a:r>
            <a:r>
              <a:rPr lang="en-GB" dirty="0"/>
              <a:t>; </a:t>
            </a:r>
            <a:r>
              <a:rPr lang="en-GB" dirty="0" err="1"/>
              <a:t>i</a:t>
            </a:r>
            <a:r>
              <a:rPr lang="en-GB" dirty="0"/>
              <a:t>++){</a:t>
            </a:r>
            <a:endParaRPr lang="en-IE" dirty="0"/>
          </a:p>
          <a:p>
            <a:r>
              <a:rPr lang="en-GB" dirty="0"/>
              <a:t>          </a:t>
            </a:r>
            <a:r>
              <a:rPr lang="en-GB" dirty="0" err="1"/>
              <a:t>int</a:t>
            </a:r>
            <a:r>
              <a:rPr lang="en-GB" dirty="0"/>
              <a:t> rank;</a:t>
            </a:r>
            <a:endParaRPr lang="en-IE" dirty="0"/>
          </a:p>
          <a:p>
            <a:r>
              <a:rPr lang="en-GB" dirty="0"/>
              <a:t>          //set rank = rank of data[</a:t>
            </a:r>
            <a:r>
              <a:rPr lang="en-GB" dirty="0" err="1"/>
              <a:t>i</a:t>
            </a:r>
            <a:r>
              <a:rPr lang="en-GB" dirty="0"/>
              <a:t>] </a:t>
            </a:r>
            <a:endParaRPr lang="en-IE" dirty="0"/>
          </a:p>
          <a:p>
            <a:r>
              <a:rPr lang="en-GB" dirty="0"/>
              <a:t>          copy[rank] = data[</a:t>
            </a:r>
            <a:r>
              <a:rPr lang="en-GB" dirty="0" err="1"/>
              <a:t>i</a:t>
            </a:r>
            <a:r>
              <a:rPr lang="en-GB" dirty="0"/>
              <a:t>]; </a:t>
            </a:r>
            <a:endParaRPr lang="en-IE" dirty="0"/>
          </a:p>
          <a:p>
            <a:r>
              <a:rPr lang="en-GB" dirty="0"/>
              <a:t>       }</a:t>
            </a:r>
          </a:p>
          <a:p>
            <a:endParaRPr lang="en-GB" dirty="0"/>
          </a:p>
          <a:p>
            <a:r>
              <a:rPr lang="en-GB" dirty="0"/>
              <a:t>Note: No duplicates</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Rank Sort</a:t>
            </a:r>
          </a:p>
        </p:txBody>
      </p:sp>
      <p:sp>
        <p:nvSpPr>
          <p:cNvPr id="3" name="Content Placeholder 2"/>
          <p:cNvSpPr>
            <a:spLocks noGrp="1"/>
          </p:cNvSpPr>
          <p:nvPr>
            <p:ph idx="1"/>
          </p:nvPr>
        </p:nvSpPr>
        <p:spPr/>
        <p:txBody>
          <a:bodyPr/>
          <a:lstStyle/>
          <a:p>
            <a:r>
              <a:rPr lang="en-GB" dirty="0"/>
              <a:t>      rank = 0;</a:t>
            </a:r>
            <a:endParaRPr lang="en-IE" dirty="0"/>
          </a:p>
          <a:p>
            <a:r>
              <a:rPr lang="en-GB" dirty="0"/>
              <a:t>      for(</a:t>
            </a:r>
            <a:r>
              <a:rPr lang="en-GB" dirty="0" err="1"/>
              <a:t>int</a:t>
            </a:r>
            <a:r>
              <a:rPr lang="en-GB" dirty="0"/>
              <a:t> j = 0; j &lt; </a:t>
            </a:r>
            <a:r>
              <a:rPr lang="en-GB" dirty="0" err="1"/>
              <a:t>data.length</a:t>
            </a:r>
            <a:r>
              <a:rPr lang="en-GB" dirty="0"/>
              <a:t>; j++)</a:t>
            </a:r>
            <a:endParaRPr lang="en-IE" dirty="0"/>
          </a:p>
          <a:p>
            <a:r>
              <a:rPr lang="en-GB" dirty="0"/>
              <a:t>           if(data[j] &lt; data[</a:t>
            </a:r>
            <a:r>
              <a:rPr lang="en-GB" dirty="0" err="1"/>
              <a:t>i</a:t>
            </a:r>
            <a:r>
              <a:rPr lang="en-GB" dirty="0"/>
              <a:t>]) rank++;</a:t>
            </a:r>
            <a:endParaRPr lang="en-IE"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Parallel Version</a:t>
            </a:r>
          </a:p>
        </p:txBody>
      </p:sp>
      <p:sp>
        <p:nvSpPr>
          <p:cNvPr id="3" name="Content Placeholder 2"/>
          <p:cNvSpPr>
            <a:spLocks noGrp="1"/>
          </p:cNvSpPr>
          <p:nvPr>
            <p:ph idx="1"/>
          </p:nvPr>
        </p:nvSpPr>
        <p:spPr/>
        <p:txBody>
          <a:bodyPr/>
          <a:lstStyle/>
          <a:p>
            <a:pPr>
              <a:buFont typeface="Arial" pitchFamily="34" charset="0"/>
              <a:buChar char="•"/>
            </a:pPr>
            <a:r>
              <a:rPr lang="en-IE" dirty="0"/>
              <a:t>Allocate one thread for each element</a:t>
            </a:r>
          </a:p>
          <a:p>
            <a:endParaRPr lang="en-IE" dirty="0"/>
          </a:p>
          <a:p>
            <a:pPr>
              <a:buFont typeface="Arial" pitchFamily="34" charset="0"/>
              <a:buChar char="•"/>
            </a:pPr>
            <a:r>
              <a:rPr lang="en-IE" dirty="0"/>
              <a:t>Replace code of inner loop with a thread</a:t>
            </a:r>
          </a:p>
        </p:txBody>
      </p:sp>
      <p:sp>
        <p:nvSpPr>
          <p:cNvPr id="6" name="Slide Number Placeholder 5"/>
          <p:cNvSpPr>
            <a:spLocks noGrp="1"/>
          </p:cNvSpPr>
          <p:nvPr>
            <p:ph type="sldNum" sz="quarter" idx="12"/>
          </p:nvPr>
        </p:nvSpPr>
        <p:spPr/>
        <p:txBody>
          <a:bodyPr/>
          <a:lstStyle/>
          <a:p>
            <a:fld id="{2C77B6D4-FF60-4BA7-86A9-72D6106BD70D}"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GB" sz="2400" dirty="0"/>
              <a:t>class </a:t>
            </a:r>
            <a:r>
              <a:rPr lang="en-GB" sz="2400" dirty="0" err="1"/>
              <a:t>RankerNoDup</a:t>
            </a:r>
            <a:r>
              <a:rPr lang="en-GB" sz="2400" dirty="0"/>
              <a:t> extends Thread{</a:t>
            </a:r>
            <a:endParaRPr lang="en-IE" sz="2400" dirty="0"/>
          </a:p>
          <a:p>
            <a:r>
              <a:rPr lang="en-GB" sz="2400" dirty="0"/>
              <a:t>  </a:t>
            </a:r>
            <a:r>
              <a:rPr lang="en-GB" sz="2400" dirty="0" err="1"/>
              <a:t>int</a:t>
            </a:r>
            <a:r>
              <a:rPr lang="en-GB" sz="2400" dirty="0"/>
              <a:t> data[]; </a:t>
            </a:r>
            <a:r>
              <a:rPr lang="en-GB" sz="2400" dirty="0" err="1"/>
              <a:t>int</a:t>
            </a:r>
            <a:r>
              <a:rPr lang="en-GB" sz="2400" dirty="0"/>
              <a:t> copy[];</a:t>
            </a:r>
            <a:r>
              <a:rPr lang="en-GB" sz="2400" dirty="0" err="1"/>
              <a:t>int</a:t>
            </a:r>
            <a:r>
              <a:rPr lang="en-GB" sz="2400" dirty="0"/>
              <a:t> </a:t>
            </a:r>
            <a:r>
              <a:rPr lang="en-GB" sz="2400" dirty="0" err="1"/>
              <a:t>i</a:t>
            </a:r>
            <a:r>
              <a:rPr lang="en-GB" sz="2400" dirty="0"/>
              <a:t>;</a:t>
            </a:r>
            <a:endParaRPr lang="en-IE" sz="2400" dirty="0"/>
          </a:p>
          <a:p>
            <a:r>
              <a:rPr lang="en-GB" sz="2400" dirty="0"/>
              <a:t>  public </a:t>
            </a:r>
            <a:r>
              <a:rPr lang="en-GB" sz="2400" dirty="0" err="1"/>
              <a:t>RankerNoDup</a:t>
            </a:r>
            <a:r>
              <a:rPr lang="en-GB" sz="2400" dirty="0"/>
              <a:t>(</a:t>
            </a:r>
            <a:r>
              <a:rPr lang="en-GB" sz="2400" dirty="0" err="1"/>
              <a:t>int</a:t>
            </a:r>
            <a:r>
              <a:rPr lang="en-GB" sz="2400" dirty="0"/>
              <a:t> d[], </a:t>
            </a:r>
            <a:r>
              <a:rPr lang="en-GB" sz="2400" dirty="0" err="1"/>
              <a:t>int</a:t>
            </a:r>
            <a:r>
              <a:rPr lang="en-GB" sz="2400" dirty="0"/>
              <a:t> c[], </a:t>
            </a:r>
            <a:r>
              <a:rPr lang="en-GB" sz="2400" dirty="0" err="1"/>
              <a:t>int</a:t>
            </a:r>
            <a:r>
              <a:rPr lang="en-GB" sz="2400" dirty="0"/>
              <a:t> k){</a:t>
            </a:r>
            <a:endParaRPr lang="en-IE" sz="2400" dirty="0"/>
          </a:p>
          <a:p>
            <a:r>
              <a:rPr lang="en-GB" sz="2400" dirty="0"/>
              <a:t>	  data = d; copy = c; </a:t>
            </a:r>
            <a:r>
              <a:rPr lang="en-GB" sz="2400" dirty="0" err="1"/>
              <a:t>i</a:t>
            </a:r>
            <a:r>
              <a:rPr lang="en-GB" sz="2400" dirty="0"/>
              <a:t> = k;</a:t>
            </a:r>
            <a:endParaRPr lang="en-IE" sz="2400" dirty="0"/>
          </a:p>
          <a:p>
            <a:r>
              <a:rPr lang="en-GB" sz="2400" dirty="0"/>
              <a:t>  }</a:t>
            </a:r>
            <a:endParaRPr lang="en-IE" sz="2400" dirty="0"/>
          </a:p>
          <a:p>
            <a:r>
              <a:rPr lang="en-GB" sz="2400" dirty="0"/>
              <a:t>  public void run(){</a:t>
            </a:r>
            <a:endParaRPr lang="en-IE" sz="2400" dirty="0"/>
          </a:p>
          <a:p>
            <a:r>
              <a:rPr lang="en-GB" sz="2400" dirty="0"/>
              <a:t>	  </a:t>
            </a:r>
            <a:r>
              <a:rPr lang="en-GB" sz="2400" dirty="0" err="1"/>
              <a:t>int</a:t>
            </a:r>
            <a:r>
              <a:rPr lang="en-GB" sz="2400" dirty="0"/>
              <a:t> rank = 0;</a:t>
            </a:r>
            <a:endParaRPr lang="en-IE" sz="2400" dirty="0"/>
          </a:p>
          <a:p>
            <a:r>
              <a:rPr lang="en-GB" sz="2400" dirty="0"/>
              <a:t>    for (</a:t>
            </a:r>
            <a:r>
              <a:rPr lang="en-GB" sz="2400" dirty="0" err="1"/>
              <a:t>int</a:t>
            </a:r>
            <a:r>
              <a:rPr lang="en-GB" sz="2400" dirty="0"/>
              <a:t> j = 0; j &lt; </a:t>
            </a:r>
            <a:r>
              <a:rPr lang="en-GB" sz="2400" dirty="0" err="1"/>
              <a:t>data.length</a:t>
            </a:r>
            <a:r>
              <a:rPr lang="en-GB" sz="2400" dirty="0"/>
              <a:t>; j++)</a:t>
            </a:r>
            <a:endParaRPr lang="en-IE" sz="2400" dirty="0"/>
          </a:p>
          <a:p>
            <a:r>
              <a:rPr lang="en-GB" sz="2400" dirty="0"/>
              <a:t>	   if (data[j] &lt; data[</a:t>
            </a:r>
            <a:r>
              <a:rPr lang="en-GB" sz="2400" dirty="0" err="1"/>
              <a:t>i</a:t>
            </a:r>
            <a:r>
              <a:rPr lang="en-GB" sz="2400" dirty="0"/>
              <a:t>])  rank++;</a:t>
            </a:r>
            <a:endParaRPr lang="en-IE" sz="2400" dirty="0"/>
          </a:p>
          <a:p>
            <a:r>
              <a:rPr lang="en-GB" sz="2400" dirty="0"/>
              <a:t>	  copy[rank] = data[</a:t>
            </a:r>
            <a:r>
              <a:rPr lang="en-GB" sz="2400" dirty="0" err="1"/>
              <a:t>i</a:t>
            </a:r>
            <a:r>
              <a:rPr lang="en-GB" sz="2400" dirty="0"/>
              <a:t>];</a:t>
            </a:r>
            <a:endParaRPr lang="en-IE" sz="2400" dirty="0"/>
          </a:p>
          <a:p>
            <a:r>
              <a:rPr lang="en-GB" sz="2400" dirty="0"/>
              <a:t>  }</a:t>
            </a:r>
            <a:endParaRPr lang="en-IE" sz="2400" dirty="0"/>
          </a:p>
          <a:p>
            <a:r>
              <a:rPr lang="en-GB" sz="2400" dirty="0"/>
              <a:t>}</a:t>
            </a:r>
            <a:endParaRPr lang="en-IE" sz="2400"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GB" sz="2400" dirty="0"/>
              <a:t>      Thread [] workers = new Thread[</a:t>
            </a:r>
            <a:r>
              <a:rPr lang="en-GB" sz="2400" dirty="0" err="1"/>
              <a:t>data.length</a:t>
            </a:r>
            <a:r>
              <a:rPr lang="en-GB" sz="2400" dirty="0"/>
              <a:t>];</a:t>
            </a:r>
            <a:endParaRPr lang="en-IE" sz="2400" dirty="0"/>
          </a:p>
          <a:p>
            <a:r>
              <a:rPr lang="en-GB" sz="2400" dirty="0"/>
              <a:t>       //Record start time</a:t>
            </a:r>
            <a:endParaRPr lang="en-IE" sz="2400" dirty="0"/>
          </a:p>
          <a:p>
            <a:r>
              <a:rPr lang="en-GB" sz="2400" dirty="0"/>
              <a:t>       long </a:t>
            </a:r>
            <a:r>
              <a:rPr lang="en-GB" sz="2400" dirty="0" err="1"/>
              <a:t>startTime</a:t>
            </a:r>
            <a:r>
              <a:rPr lang="en-GB" sz="2400" dirty="0"/>
              <a:t> = </a:t>
            </a:r>
            <a:r>
              <a:rPr lang="en-GB" sz="2400" dirty="0" err="1"/>
              <a:t>System.currentTimeMillis</a:t>
            </a:r>
            <a:r>
              <a:rPr lang="en-GB" sz="2400" dirty="0"/>
              <a:t>();</a:t>
            </a:r>
            <a:endParaRPr lang="en-IE" sz="2400" dirty="0"/>
          </a:p>
          <a:p>
            <a:r>
              <a:rPr lang="en-GB" sz="2400" dirty="0"/>
              <a:t>       for(</a:t>
            </a:r>
            <a:r>
              <a:rPr lang="en-GB" sz="2400" dirty="0" err="1"/>
              <a:t>int</a:t>
            </a:r>
            <a:r>
              <a:rPr lang="en-GB" sz="2400" dirty="0"/>
              <a:t> </a:t>
            </a:r>
            <a:r>
              <a:rPr lang="en-GB" sz="2400" dirty="0" err="1"/>
              <a:t>i</a:t>
            </a:r>
            <a:r>
              <a:rPr lang="en-GB" sz="2400" dirty="0"/>
              <a:t> = 0; </a:t>
            </a:r>
            <a:r>
              <a:rPr lang="en-GB" sz="2400" dirty="0" err="1"/>
              <a:t>i</a:t>
            </a:r>
            <a:r>
              <a:rPr lang="en-GB" sz="2400" dirty="0"/>
              <a:t> &lt; </a:t>
            </a:r>
            <a:r>
              <a:rPr lang="en-GB" sz="2400" dirty="0" err="1"/>
              <a:t>data.length</a:t>
            </a:r>
            <a:r>
              <a:rPr lang="en-GB" sz="2400" dirty="0"/>
              <a:t>; </a:t>
            </a:r>
            <a:r>
              <a:rPr lang="en-GB" sz="2400" dirty="0" err="1"/>
              <a:t>i</a:t>
            </a:r>
            <a:r>
              <a:rPr lang="en-GB" sz="2400" dirty="0"/>
              <a:t>++){</a:t>
            </a:r>
            <a:endParaRPr lang="en-IE" sz="2400" dirty="0"/>
          </a:p>
          <a:p>
            <a:r>
              <a:rPr lang="en-GB" sz="2400" dirty="0"/>
              <a:t>          workers[</a:t>
            </a:r>
            <a:r>
              <a:rPr lang="en-GB" sz="2400" dirty="0" err="1"/>
              <a:t>i</a:t>
            </a:r>
            <a:r>
              <a:rPr lang="en-GB" sz="2400" dirty="0"/>
              <a:t>] = new </a:t>
            </a:r>
            <a:r>
              <a:rPr lang="en-GB" sz="2400" dirty="0" err="1"/>
              <a:t>RankerNoDup</a:t>
            </a:r>
            <a:r>
              <a:rPr lang="en-GB" sz="2400" dirty="0"/>
              <a:t>(</a:t>
            </a:r>
            <a:r>
              <a:rPr lang="en-GB" sz="2400" dirty="0" err="1"/>
              <a:t>data,copy,i</a:t>
            </a:r>
            <a:r>
              <a:rPr lang="en-GB" sz="2400" dirty="0"/>
              <a:t>);</a:t>
            </a:r>
            <a:endParaRPr lang="en-IE" sz="2400" dirty="0"/>
          </a:p>
          <a:p>
            <a:r>
              <a:rPr lang="en-GB" sz="2400" dirty="0"/>
              <a:t>          workers[</a:t>
            </a:r>
            <a:r>
              <a:rPr lang="en-GB" sz="2400" dirty="0" err="1"/>
              <a:t>i</a:t>
            </a:r>
            <a:r>
              <a:rPr lang="en-GB" sz="2400" dirty="0"/>
              <a:t>].start();</a:t>
            </a:r>
            <a:endParaRPr lang="en-IE" sz="2400" dirty="0"/>
          </a:p>
          <a:p>
            <a:r>
              <a:rPr lang="en-GB" sz="2400" dirty="0"/>
              <a:t>       }</a:t>
            </a:r>
            <a:endParaRPr lang="en-IE" sz="2400" dirty="0"/>
          </a:p>
          <a:p>
            <a:r>
              <a:rPr lang="en-GB" sz="2400" dirty="0"/>
              <a:t>       //now wait for threads to finish</a:t>
            </a:r>
            <a:endParaRPr lang="en-IE" sz="2400" dirty="0"/>
          </a:p>
          <a:p>
            <a:r>
              <a:rPr lang="en-GB" sz="2400" dirty="0"/>
              <a:t>       </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GB" dirty="0"/>
              <a:t>       for (</a:t>
            </a:r>
            <a:r>
              <a:rPr lang="en-GB" dirty="0" err="1"/>
              <a:t>int</a:t>
            </a:r>
            <a:r>
              <a:rPr lang="en-GB" dirty="0"/>
              <a:t> k = 0; k &lt; </a:t>
            </a:r>
            <a:r>
              <a:rPr lang="en-GB" dirty="0" err="1"/>
              <a:t>workers.length</a:t>
            </a:r>
            <a:r>
              <a:rPr lang="en-GB" dirty="0"/>
              <a:t>; k++)</a:t>
            </a:r>
            <a:endParaRPr lang="en-IE" dirty="0"/>
          </a:p>
          <a:p>
            <a:r>
              <a:rPr lang="en-GB" dirty="0"/>
              <a:t>    	  try {</a:t>
            </a:r>
            <a:endParaRPr lang="en-IE" dirty="0"/>
          </a:p>
          <a:p>
            <a:r>
              <a:rPr lang="en-GB" dirty="0"/>
              <a:t>    	     workers[k].join();</a:t>
            </a:r>
            <a:endParaRPr lang="en-IE" dirty="0"/>
          </a:p>
          <a:p>
            <a:r>
              <a:rPr lang="en-GB" dirty="0"/>
              <a:t>    	  }catch (</a:t>
            </a:r>
            <a:r>
              <a:rPr lang="en-GB" dirty="0" err="1"/>
              <a:t>InterruptedException</a:t>
            </a:r>
            <a:r>
              <a:rPr lang="en-GB" dirty="0"/>
              <a:t> e) {}</a:t>
            </a:r>
            <a:endParaRPr lang="en-IE" dirty="0"/>
          </a:p>
          <a:p>
            <a:r>
              <a:rPr lang="en-GB" dirty="0"/>
              <a:t>       //Record end time</a:t>
            </a:r>
            <a:endParaRPr lang="en-IE" dirty="0"/>
          </a:p>
          <a:p>
            <a:r>
              <a:rPr lang="en-GB" dirty="0"/>
              <a:t>       long </a:t>
            </a:r>
            <a:r>
              <a:rPr lang="en-GB" dirty="0" err="1"/>
              <a:t>endTime</a:t>
            </a:r>
            <a:r>
              <a:rPr lang="en-GB" dirty="0"/>
              <a:t> = </a:t>
            </a:r>
            <a:r>
              <a:rPr lang="en-GB" dirty="0" err="1"/>
              <a:t>System.currentTimeMillis</a:t>
            </a:r>
            <a:r>
              <a:rPr lang="en-GB" dirty="0"/>
              <a:t>();</a:t>
            </a:r>
            <a:endParaRPr lang="en-IE"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Performance</a:t>
            </a:r>
          </a:p>
        </p:txBody>
      </p:sp>
      <p:sp>
        <p:nvSpPr>
          <p:cNvPr id="3" name="Content Placeholder 2"/>
          <p:cNvSpPr>
            <a:spLocks noGrp="1"/>
          </p:cNvSpPr>
          <p:nvPr>
            <p:ph idx="1"/>
          </p:nvPr>
        </p:nvSpPr>
        <p:spPr/>
        <p:txBody>
          <a:bodyPr/>
          <a:lstStyle/>
          <a:p>
            <a:r>
              <a:rPr lang="en-GB" dirty="0"/>
              <a:t>	On a dual core Intel processor it took 75.4secs to sort 100000 integer values. However, a single threaded solution running on the same machine only took 72.5secs. </a:t>
            </a:r>
          </a:p>
          <a:p>
            <a:endParaRPr lang="en-GB" dirty="0"/>
          </a:p>
          <a:p>
            <a:r>
              <a:rPr lang="en-GB" dirty="0"/>
              <a:t>Why?</a:t>
            </a:r>
          </a:p>
          <a:p>
            <a:r>
              <a:rPr lang="en-GB" dirty="0"/>
              <a:t>  100000 values give rise to 100000 threads!</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pPr>
              <a:buFont typeface="Arial" pitchFamily="34" charset="0"/>
              <a:buChar char="•"/>
            </a:pPr>
            <a:r>
              <a:rPr lang="en-IE" dirty="0"/>
              <a:t>Explore using as many threads are processors on machine</a:t>
            </a:r>
          </a:p>
          <a:p>
            <a:pPr>
              <a:buFont typeface="Arial" pitchFamily="34" charset="0"/>
              <a:buChar char="•"/>
            </a:pPr>
            <a:endParaRPr lang="en-IE" dirty="0"/>
          </a:p>
          <a:p>
            <a:pPr>
              <a:buFont typeface="Arial" pitchFamily="34" charset="0"/>
              <a:buChar char="•"/>
            </a:pPr>
            <a:r>
              <a:rPr lang="en-IE" dirty="0"/>
              <a:t>Distribute workload evenly as possible</a:t>
            </a:r>
          </a:p>
          <a:p>
            <a:pPr>
              <a:buFont typeface="Arial" pitchFamily="34" charset="0"/>
              <a:buChar char="•"/>
            </a:pPr>
            <a:endParaRPr lang="en-IE" dirty="0"/>
          </a:p>
          <a:p>
            <a:pPr>
              <a:buFont typeface="Arial" pitchFamily="34" charset="0"/>
              <a:buChar char="•"/>
            </a:pPr>
            <a:r>
              <a:rPr lang="en-IE" dirty="0"/>
              <a:t>Need an algorithm to distribute data over k threads so that each thread manages its own segment and no segment size differs from another by more than 1. </a:t>
            </a:r>
          </a:p>
        </p:txBody>
      </p:sp>
      <p:sp>
        <p:nvSpPr>
          <p:cNvPr id="6" name="Slide Number Placeholder 5"/>
          <p:cNvSpPr>
            <a:spLocks noGrp="1"/>
          </p:cNvSpPr>
          <p:nvPr>
            <p:ph type="sldNum" sz="quarter" idx="12"/>
          </p:nvPr>
        </p:nvSpPr>
        <p:spPr/>
        <p:txBody>
          <a:bodyPr/>
          <a:lstStyle/>
          <a:p>
            <a:fld id="{2C77B6D4-FF60-4BA7-86A9-72D6106BD70D}"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Base segment size = </a:t>
            </a:r>
            <a:r>
              <a:rPr lang="en-GB" dirty="0"/>
              <a:t>N/k</a:t>
            </a:r>
          </a:p>
          <a:p>
            <a:r>
              <a:rPr lang="en-GB" dirty="0"/>
              <a:t> </a:t>
            </a:r>
          </a:p>
          <a:p>
            <a:r>
              <a:rPr lang="en-GB" dirty="0"/>
              <a:t>For N =100 and k =4 gives segments of size 25</a:t>
            </a:r>
          </a:p>
          <a:p>
            <a:endParaRPr lang="en-GB" dirty="0"/>
          </a:p>
          <a:p>
            <a:r>
              <a:rPr lang="en-GB" dirty="0"/>
              <a:t>N = 103 and k = 4 gives segments 25,25,25,28.</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Use algorithm </a:t>
            </a:r>
          </a:p>
          <a:p>
            <a:endParaRPr lang="en-IE" dirty="0"/>
          </a:p>
          <a:p>
            <a:r>
              <a:rPr lang="en-GB" dirty="0"/>
              <a:t>    for(</a:t>
            </a:r>
            <a:r>
              <a:rPr lang="en-GB" dirty="0" err="1"/>
              <a:t>int</a:t>
            </a:r>
            <a:r>
              <a:rPr lang="en-GB" dirty="0"/>
              <a:t> j = 0; j &lt;= k; j++){</a:t>
            </a:r>
            <a:endParaRPr lang="en-IE" dirty="0"/>
          </a:p>
          <a:p>
            <a:r>
              <a:rPr lang="en-GB" dirty="0"/>
              <a:t>       </a:t>
            </a:r>
            <a:r>
              <a:rPr lang="en-GB" dirty="0" err="1"/>
              <a:t>int</a:t>
            </a:r>
            <a:r>
              <a:rPr lang="en-GB" dirty="0"/>
              <a:t> </a:t>
            </a:r>
            <a:r>
              <a:rPr lang="en-GB" dirty="0" err="1"/>
              <a:t>ind</a:t>
            </a:r>
            <a:r>
              <a:rPr lang="en-GB" dirty="0"/>
              <a:t> = (j*N)/k;</a:t>
            </a:r>
            <a:endParaRPr lang="en-IE" dirty="0"/>
          </a:p>
          <a:p>
            <a:r>
              <a:rPr lang="en-GB" dirty="0"/>
              <a:t>      </a:t>
            </a:r>
            <a:r>
              <a:rPr lang="en-GB" dirty="0" err="1"/>
              <a:t>System.out.print</a:t>
            </a:r>
            <a:r>
              <a:rPr lang="en-GB" dirty="0"/>
              <a:t>(</a:t>
            </a:r>
            <a:r>
              <a:rPr lang="en-GB" dirty="0" err="1"/>
              <a:t>ind</a:t>
            </a:r>
            <a:r>
              <a:rPr lang="en-GB" dirty="0"/>
              <a:t>+" ");</a:t>
            </a:r>
            <a:endParaRPr lang="en-IE" dirty="0"/>
          </a:p>
          <a:p>
            <a:r>
              <a:rPr lang="en-GB" dirty="0"/>
              <a:t>    } </a:t>
            </a:r>
            <a:endParaRPr lang="en-IE" dirty="0"/>
          </a:p>
          <a:p>
            <a:endParaRPr lang="en-IE" dirty="0"/>
          </a:p>
          <a:p>
            <a:r>
              <a:rPr lang="en-IE" dirty="0"/>
              <a:t>To generate terms</a:t>
            </a:r>
          </a:p>
          <a:p>
            <a:r>
              <a:rPr lang="en-IE" dirty="0"/>
              <a:t>N = 103, k = 4 gives sequence</a:t>
            </a:r>
          </a:p>
          <a:p>
            <a:r>
              <a:rPr lang="en-GB" dirty="0"/>
              <a:t>        0, 25, 51, 77, 103</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6" name="Slide Number Placeholder 5"/>
          <p:cNvSpPr>
            <a:spLocks noGrp="1"/>
          </p:cNvSpPr>
          <p:nvPr>
            <p:ph type="sldNum" sz="quarter" idx="12"/>
          </p:nvPr>
        </p:nvSpPr>
        <p:spPr/>
        <p:txBody>
          <a:bodyPr/>
          <a:lstStyle/>
          <a:p>
            <a:fld id="{2C77B6D4-FF60-4BA7-86A9-72D6106BD70D}" type="slidenum">
              <a:rPr lang="en-US" smtClean="0"/>
              <a:pPr/>
              <a:t>25</a:t>
            </a:fld>
            <a:endParaRPr lang="en-US"/>
          </a:p>
        </p:txBody>
      </p:sp>
      <p:pic>
        <p:nvPicPr>
          <p:cNvPr id="7" name="Content Placeholder 6"/>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1600" y="2276872"/>
            <a:ext cx="6984776" cy="165766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GB" sz="2400" dirty="0" err="1"/>
              <a:t>int</a:t>
            </a:r>
            <a:r>
              <a:rPr lang="en-GB" sz="2400" dirty="0"/>
              <a:t> </a:t>
            </a:r>
            <a:r>
              <a:rPr lang="en-GB" sz="2400" dirty="0" err="1"/>
              <a:t>nThreads</a:t>
            </a:r>
            <a:r>
              <a:rPr lang="en-GB" sz="2400" dirty="0"/>
              <a:t> =</a:t>
            </a:r>
            <a:r>
              <a:rPr lang="en-GB" sz="2400" dirty="0" err="1"/>
              <a:t>Runtime.getRuntime</a:t>
            </a:r>
            <a:r>
              <a:rPr lang="en-GB" sz="2400" dirty="0"/>
              <a:t>().</a:t>
            </a:r>
            <a:r>
              <a:rPr lang="en-GB" sz="2400" dirty="0" err="1"/>
              <a:t>availableProcessors</a:t>
            </a:r>
            <a:r>
              <a:rPr lang="en-GB" sz="2400" dirty="0"/>
              <a:t>();</a:t>
            </a:r>
            <a:endParaRPr lang="en-IE" sz="2400" dirty="0"/>
          </a:p>
          <a:p>
            <a:r>
              <a:rPr lang="en-GB" sz="2400" dirty="0" err="1"/>
              <a:t>int</a:t>
            </a:r>
            <a:r>
              <a:rPr lang="en-GB" sz="2400" dirty="0"/>
              <a:t> index[] = new </a:t>
            </a:r>
            <a:r>
              <a:rPr lang="en-GB" sz="2400" dirty="0" err="1"/>
              <a:t>int</a:t>
            </a:r>
            <a:r>
              <a:rPr lang="en-GB" sz="2400" dirty="0"/>
              <a:t>[nThreads+1];</a:t>
            </a:r>
            <a:endParaRPr lang="en-IE" sz="2400" dirty="0"/>
          </a:p>
          <a:p>
            <a:r>
              <a:rPr lang="en-GB" sz="2400" dirty="0"/>
              <a:t> for(</a:t>
            </a:r>
            <a:r>
              <a:rPr lang="en-GB" sz="2400" dirty="0" err="1"/>
              <a:t>int</a:t>
            </a:r>
            <a:r>
              <a:rPr lang="en-GB" sz="2400" dirty="0"/>
              <a:t> j = 0; j &lt;= </a:t>
            </a:r>
            <a:r>
              <a:rPr lang="en-GB" sz="2400" dirty="0" err="1"/>
              <a:t>nThreads</a:t>
            </a:r>
            <a:r>
              <a:rPr lang="en-GB" sz="2400" dirty="0"/>
              <a:t>; j++)</a:t>
            </a:r>
            <a:endParaRPr lang="en-IE" sz="2400" dirty="0"/>
          </a:p>
          <a:p>
            <a:r>
              <a:rPr lang="en-GB" sz="2400" dirty="0"/>
              <a:t>      index[j] = (j*N)/</a:t>
            </a:r>
            <a:r>
              <a:rPr lang="en-GB" sz="2400" dirty="0" err="1"/>
              <a:t>nThreads</a:t>
            </a:r>
            <a:r>
              <a:rPr lang="en-GB" sz="2400" dirty="0"/>
              <a:t>;</a:t>
            </a:r>
            <a:endParaRPr lang="en-IE" sz="2400" dirty="0"/>
          </a:p>
          <a:p>
            <a:r>
              <a:rPr lang="en-GB" sz="2400" dirty="0"/>
              <a:t>//segment index ranges are index[j], index[j+1]</a:t>
            </a:r>
            <a:endParaRPr lang="en-IE" sz="2400" dirty="0"/>
          </a:p>
          <a:p>
            <a:r>
              <a:rPr lang="en-GB" sz="2400" dirty="0"/>
              <a:t>Thread workers[] = new </a:t>
            </a:r>
            <a:r>
              <a:rPr lang="en-GB" sz="2400" dirty="0" err="1"/>
              <a:t>RankerNoDup</a:t>
            </a:r>
            <a:r>
              <a:rPr lang="en-GB" sz="2400" dirty="0"/>
              <a:t>[</a:t>
            </a:r>
            <a:r>
              <a:rPr lang="en-GB" sz="2400" dirty="0" err="1"/>
              <a:t>nThreads</a:t>
            </a:r>
            <a:r>
              <a:rPr lang="en-GB" sz="2400" dirty="0"/>
              <a:t>];</a:t>
            </a:r>
            <a:endParaRPr lang="en-IE" sz="2400" dirty="0"/>
          </a:p>
          <a:p>
            <a:r>
              <a:rPr lang="en-GB" sz="2400" dirty="0"/>
              <a:t>for(</a:t>
            </a:r>
            <a:r>
              <a:rPr lang="en-GB" sz="2400" dirty="0" err="1"/>
              <a:t>int</a:t>
            </a:r>
            <a:r>
              <a:rPr lang="en-GB" sz="2400" dirty="0"/>
              <a:t> j = 0; j &lt; </a:t>
            </a:r>
            <a:r>
              <a:rPr lang="en-GB" sz="2400" dirty="0" err="1"/>
              <a:t>nThreads</a:t>
            </a:r>
            <a:r>
              <a:rPr lang="en-GB" sz="2400" dirty="0"/>
              <a:t>; j++){</a:t>
            </a:r>
            <a:endParaRPr lang="en-IE" sz="2400" dirty="0"/>
          </a:p>
          <a:p>
            <a:r>
              <a:rPr lang="en-GB" sz="2400" dirty="0"/>
              <a:t>      workers[j] = new </a:t>
            </a:r>
            <a:r>
              <a:rPr lang="en-GB" sz="2400" dirty="0" err="1"/>
              <a:t>RankerNoDup</a:t>
            </a:r>
            <a:r>
              <a:rPr lang="en-GB" sz="2400" dirty="0"/>
              <a:t>(</a:t>
            </a:r>
            <a:r>
              <a:rPr lang="en-GB" sz="2400" dirty="0" err="1"/>
              <a:t>data,copy,index</a:t>
            </a:r>
            <a:r>
              <a:rPr lang="en-GB" sz="2400" dirty="0"/>
              <a:t>[j],</a:t>
            </a:r>
          </a:p>
          <a:p>
            <a:r>
              <a:rPr lang="en-GB" sz="2400" dirty="0"/>
              <a:t>                                                                             index[j+1]);</a:t>
            </a:r>
            <a:endParaRPr lang="en-IE" sz="2400" dirty="0"/>
          </a:p>
          <a:p>
            <a:r>
              <a:rPr lang="en-GB" sz="2400" dirty="0"/>
              <a:t>      workers[j].start();</a:t>
            </a:r>
            <a:endParaRPr lang="en-IE" sz="2400" dirty="0"/>
          </a:p>
          <a:p>
            <a:r>
              <a:rPr lang="en-GB" sz="2400" dirty="0"/>
              <a:t>}</a:t>
            </a:r>
            <a:endParaRPr lang="en-IE" sz="2400"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GB" dirty="0"/>
              <a:t>   On the dual core machine this new version sorted the list in 47.5secs, approximately half the time taken by the single threaded solution. Similarly, on the dual processor quad core machine the time was approximately 8 times faster (1.2secs as opposed to 9.9secs).</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AU" b="1" dirty="0"/>
            </a:br>
            <a:r>
              <a:rPr lang="en-AU" b="1" dirty="0"/>
              <a:t>Happy Numbers Problem</a:t>
            </a:r>
            <a:br>
              <a:rPr lang="en-IE" b="1" dirty="0"/>
            </a:br>
            <a:endParaRPr lang="en-IE" dirty="0"/>
          </a:p>
        </p:txBody>
      </p:sp>
      <p:sp>
        <p:nvSpPr>
          <p:cNvPr id="3" name="Content Placeholder 2"/>
          <p:cNvSpPr>
            <a:spLocks noGrp="1"/>
          </p:cNvSpPr>
          <p:nvPr>
            <p:ph idx="1"/>
          </p:nvPr>
        </p:nvSpPr>
        <p:spPr/>
        <p:txBody>
          <a:bodyPr/>
          <a:lstStyle/>
          <a:p>
            <a:pPr algn="just"/>
            <a:r>
              <a:rPr lang="en-US" dirty="0"/>
              <a:t>    n is defined to be </a:t>
            </a:r>
            <a:r>
              <a:rPr lang="en-US" i="1" dirty="0"/>
              <a:t>happy</a:t>
            </a:r>
            <a:r>
              <a:rPr lang="en-US" dirty="0"/>
              <a:t> if the sequence of numbers generated by taking the sum of the squares of successive terms, starting at n, eventually terminates with a term whose value is 1. </a:t>
            </a:r>
          </a:p>
          <a:p>
            <a:endParaRPr lang="en-US" dirty="0"/>
          </a:p>
          <a:p>
            <a:pPr algn="just"/>
            <a:r>
              <a:rPr lang="en-US" dirty="0"/>
              <a:t>    Numbers that are not happy, called </a:t>
            </a:r>
            <a:r>
              <a:rPr lang="en-US" i="1" dirty="0"/>
              <a:t>sad</a:t>
            </a:r>
            <a:r>
              <a:rPr lang="en-US" dirty="0"/>
              <a:t>, generate an infinite sequence of cyclical terms. </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Happy Numbers</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29</a:t>
            </a:fld>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1691680" y="2204864"/>
            <a:ext cx="5654487" cy="2088232"/>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6" name="Slide Number Placeholder 5"/>
          <p:cNvSpPr>
            <a:spLocks noGrp="1"/>
          </p:cNvSpPr>
          <p:nvPr>
            <p:ph type="sldNum" sz="quarter" idx="12"/>
          </p:nvPr>
        </p:nvSpPr>
        <p:spPr/>
        <p:txBody>
          <a:bodyPr/>
          <a:lstStyle/>
          <a:p>
            <a:fld id="{2C77B6D4-FF60-4BA7-86A9-72D6106BD70D}" type="slidenum">
              <a:rPr lang="en-US" smtClean="0"/>
              <a:pPr/>
              <a:t>30</a:t>
            </a:fld>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539552" y="2492896"/>
            <a:ext cx="7385384" cy="1584176"/>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986543210 is happy!</a:t>
            </a:r>
          </a:p>
          <a:p>
            <a:endParaRPr lang="en-US" dirty="0"/>
          </a:p>
          <a:p>
            <a:endParaRPr lang="en-US" dirty="0"/>
          </a:p>
          <a:p>
            <a:r>
              <a:rPr lang="en-US" dirty="0"/>
              <a:t> 986543210, 236, 49, 97, 130, 10, 1</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i="1" dirty="0"/>
              <a:t>   sad </a:t>
            </a:r>
            <a:r>
              <a:rPr lang="en-US" dirty="0"/>
              <a:t>numbers eventually generate cyclical terms and these terms can be listed. </a:t>
            </a:r>
          </a:p>
          <a:p>
            <a:endParaRPr lang="en-US" dirty="0"/>
          </a:p>
          <a:p>
            <a:r>
              <a:rPr lang="en-US" dirty="0"/>
              <a:t>   They are the numbers: 4, 16, 20, 37, 58 and 145</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       </a:t>
            </a:r>
          </a:p>
          <a:p>
            <a:r>
              <a:rPr lang="en-US" dirty="0"/>
              <a:t>        while(n != 1 &amp;&amp; !</a:t>
            </a:r>
            <a:r>
              <a:rPr lang="en-US" dirty="0" err="1"/>
              <a:t>isSad</a:t>
            </a:r>
            <a:r>
              <a:rPr lang="en-US" dirty="0"/>
              <a:t>(n)){</a:t>
            </a:r>
            <a:endParaRPr lang="en-IE" dirty="0"/>
          </a:p>
          <a:p>
            <a:r>
              <a:rPr lang="en-US" dirty="0"/>
              <a:t>          </a:t>
            </a:r>
            <a:r>
              <a:rPr lang="en-US" dirty="0" err="1"/>
              <a:t>System.out.print</a:t>
            </a:r>
            <a:r>
              <a:rPr lang="en-US" dirty="0"/>
              <a:t>(n+" "); </a:t>
            </a:r>
            <a:endParaRPr lang="en-IE" dirty="0"/>
          </a:p>
          <a:p>
            <a:r>
              <a:rPr lang="en-US" dirty="0"/>
              <a:t>          n = </a:t>
            </a:r>
            <a:r>
              <a:rPr lang="en-US" dirty="0" err="1"/>
              <a:t>sumSquares</a:t>
            </a:r>
            <a:r>
              <a:rPr lang="en-US" dirty="0"/>
              <a:t>(n);</a:t>
            </a:r>
            <a:endParaRPr lang="en-IE" dirty="0"/>
          </a:p>
          <a:p>
            <a:r>
              <a:rPr lang="en-US" dirty="0"/>
              <a:t>        }</a:t>
            </a:r>
            <a:endParaRPr lang="en-IE" dirty="0"/>
          </a:p>
          <a:p>
            <a:r>
              <a:rPr lang="en-US" dirty="0"/>
              <a:t>        if(n == 1) </a:t>
            </a:r>
            <a:r>
              <a:rPr lang="en-US" dirty="0" err="1"/>
              <a:t>System.out.println</a:t>
            </a:r>
            <a:r>
              <a:rPr lang="en-US" dirty="0"/>
              <a:t>(1);</a:t>
            </a:r>
            <a:endParaRPr lang="en-IE" dirty="0"/>
          </a:p>
          <a:p>
            <a:r>
              <a:rPr lang="en-US" dirty="0"/>
              <a:t>        else</a:t>
            </a:r>
            <a:endParaRPr lang="en-IE" dirty="0"/>
          </a:p>
          <a:p>
            <a:r>
              <a:rPr lang="en-US" dirty="0"/>
              <a:t>          </a:t>
            </a:r>
            <a:r>
              <a:rPr lang="en-US" dirty="0" err="1"/>
              <a:t>System.out.println</a:t>
            </a:r>
            <a:r>
              <a:rPr lang="en-US" dirty="0"/>
              <a:t>("Sad number");</a:t>
            </a:r>
            <a:endParaRPr lang="en-IE"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     static </a:t>
            </a:r>
            <a:r>
              <a:rPr lang="en-US" dirty="0" err="1"/>
              <a:t>int</a:t>
            </a:r>
            <a:r>
              <a:rPr lang="en-US" dirty="0"/>
              <a:t> </a:t>
            </a:r>
            <a:r>
              <a:rPr lang="en-US" dirty="0" err="1"/>
              <a:t>sumSquares</a:t>
            </a:r>
            <a:r>
              <a:rPr lang="en-US" dirty="0"/>
              <a:t>(</a:t>
            </a:r>
            <a:r>
              <a:rPr lang="en-US" dirty="0" err="1"/>
              <a:t>int</a:t>
            </a:r>
            <a:r>
              <a:rPr lang="en-US" dirty="0"/>
              <a:t> n){</a:t>
            </a:r>
            <a:endParaRPr lang="en-IE" dirty="0"/>
          </a:p>
          <a:p>
            <a:r>
              <a:rPr lang="en-US" dirty="0"/>
              <a:t>    	</a:t>
            </a:r>
            <a:r>
              <a:rPr lang="en-US" dirty="0" err="1"/>
              <a:t>int</a:t>
            </a:r>
            <a:r>
              <a:rPr lang="en-US" dirty="0"/>
              <a:t> s = 0;</a:t>
            </a:r>
            <a:endParaRPr lang="en-IE" dirty="0"/>
          </a:p>
          <a:p>
            <a:r>
              <a:rPr lang="en-US" dirty="0"/>
              <a:t>    	while(n &gt; 0){</a:t>
            </a:r>
            <a:endParaRPr lang="en-IE" dirty="0"/>
          </a:p>
          <a:p>
            <a:r>
              <a:rPr lang="en-US" dirty="0"/>
              <a:t>    		</a:t>
            </a:r>
            <a:r>
              <a:rPr lang="en-US" dirty="0" err="1"/>
              <a:t>int</a:t>
            </a:r>
            <a:r>
              <a:rPr lang="en-US" dirty="0"/>
              <a:t> r = n%10;</a:t>
            </a:r>
            <a:endParaRPr lang="en-IE" dirty="0"/>
          </a:p>
          <a:p>
            <a:r>
              <a:rPr lang="en-US" dirty="0"/>
              <a:t>    		s = s + r*r;</a:t>
            </a:r>
            <a:endParaRPr lang="en-IE" dirty="0"/>
          </a:p>
          <a:p>
            <a:r>
              <a:rPr lang="en-US" dirty="0"/>
              <a:t>    		n = n/10;</a:t>
            </a:r>
            <a:endParaRPr lang="en-IE" dirty="0"/>
          </a:p>
          <a:p>
            <a:r>
              <a:rPr lang="en-US" dirty="0"/>
              <a:t>    	}</a:t>
            </a:r>
            <a:endParaRPr lang="en-IE" dirty="0"/>
          </a:p>
          <a:p>
            <a:r>
              <a:rPr lang="en-US" dirty="0"/>
              <a:t>    	return s;</a:t>
            </a:r>
            <a:endParaRPr lang="en-IE" dirty="0"/>
          </a:p>
          <a:p>
            <a:r>
              <a:rPr lang="en-US" dirty="0"/>
              <a:t>    }</a:t>
            </a:r>
            <a:endParaRPr lang="en-IE"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     </a:t>
            </a:r>
            <a:r>
              <a:rPr lang="en-US" sz="2400" dirty="0"/>
              <a:t>static </a:t>
            </a:r>
            <a:r>
              <a:rPr lang="en-US" sz="2400" dirty="0" err="1"/>
              <a:t>boolean</a:t>
            </a:r>
            <a:r>
              <a:rPr lang="en-US" sz="2400" dirty="0"/>
              <a:t> </a:t>
            </a:r>
            <a:r>
              <a:rPr lang="en-US" sz="2400" dirty="0" err="1"/>
              <a:t>isSad</a:t>
            </a:r>
            <a:r>
              <a:rPr lang="en-US" sz="2400" dirty="0"/>
              <a:t>(</a:t>
            </a:r>
            <a:r>
              <a:rPr lang="en-US" sz="2400" dirty="0" err="1"/>
              <a:t>int</a:t>
            </a:r>
            <a:r>
              <a:rPr lang="en-US" sz="2400" dirty="0"/>
              <a:t> n){</a:t>
            </a:r>
            <a:endParaRPr lang="en-IE" sz="2400" dirty="0"/>
          </a:p>
          <a:p>
            <a:r>
              <a:rPr lang="en-US" sz="2400" dirty="0"/>
              <a:t>       </a:t>
            </a:r>
            <a:r>
              <a:rPr lang="en-US" sz="2400" dirty="0" err="1"/>
              <a:t>int</a:t>
            </a:r>
            <a:r>
              <a:rPr lang="en-US" sz="2400" dirty="0"/>
              <a:t> </a:t>
            </a:r>
            <a:r>
              <a:rPr lang="en-US" sz="2400" dirty="0" err="1"/>
              <a:t>cycleNums</a:t>
            </a:r>
            <a:r>
              <a:rPr lang="en-US" sz="2400" dirty="0"/>
              <a:t>[] = {4,16,20,37,58,145};</a:t>
            </a:r>
            <a:endParaRPr lang="en-IE" sz="2400" dirty="0"/>
          </a:p>
          <a:p>
            <a:r>
              <a:rPr lang="en-US" sz="2400" dirty="0"/>
              <a:t>       </a:t>
            </a:r>
            <a:r>
              <a:rPr lang="en-US" sz="2400" dirty="0" err="1"/>
              <a:t>boolean</a:t>
            </a:r>
            <a:r>
              <a:rPr lang="en-US" sz="2400" dirty="0"/>
              <a:t> found = false;</a:t>
            </a:r>
            <a:endParaRPr lang="en-IE" sz="2400" dirty="0"/>
          </a:p>
          <a:p>
            <a:r>
              <a:rPr lang="en-US" sz="2400" dirty="0"/>
              <a:t>    	   </a:t>
            </a:r>
            <a:r>
              <a:rPr lang="en-US" sz="2400" dirty="0" err="1"/>
              <a:t>int</a:t>
            </a:r>
            <a:r>
              <a:rPr lang="en-US" sz="2400" dirty="0"/>
              <a:t> j = 0;</a:t>
            </a:r>
            <a:endParaRPr lang="en-IE" sz="2400" dirty="0"/>
          </a:p>
          <a:p>
            <a:r>
              <a:rPr lang="en-US" sz="2400" dirty="0"/>
              <a:t>    	   while(j&lt;</a:t>
            </a:r>
            <a:r>
              <a:rPr lang="en-US" sz="2400" dirty="0" err="1"/>
              <a:t>cycleNums.length</a:t>
            </a:r>
            <a:r>
              <a:rPr lang="en-US" sz="2400" dirty="0"/>
              <a:t> &amp;&amp; !found)</a:t>
            </a:r>
            <a:endParaRPr lang="en-IE" sz="2400" dirty="0"/>
          </a:p>
          <a:p>
            <a:r>
              <a:rPr lang="en-US" sz="2400" dirty="0"/>
              <a:t>    		if(</a:t>
            </a:r>
            <a:r>
              <a:rPr lang="en-US" sz="2400" dirty="0" err="1"/>
              <a:t>cycleNums</a:t>
            </a:r>
            <a:r>
              <a:rPr lang="en-US" sz="2400" dirty="0"/>
              <a:t>[j] == n)</a:t>
            </a:r>
            <a:endParaRPr lang="en-IE" sz="2400" dirty="0"/>
          </a:p>
          <a:p>
            <a:r>
              <a:rPr lang="en-US" sz="2400" dirty="0"/>
              <a:t>    			found = true;</a:t>
            </a:r>
            <a:endParaRPr lang="en-IE" sz="2400" dirty="0"/>
          </a:p>
          <a:p>
            <a:r>
              <a:rPr lang="en-US" sz="2400" dirty="0"/>
              <a:t>    		else</a:t>
            </a:r>
            <a:endParaRPr lang="en-IE" sz="2400" dirty="0"/>
          </a:p>
          <a:p>
            <a:r>
              <a:rPr lang="en-US" sz="2400" dirty="0"/>
              <a:t>    			j++;</a:t>
            </a:r>
            <a:endParaRPr lang="en-IE" sz="2400" dirty="0"/>
          </a:p>
          <a:p>
            <a:r>
              <a:rPr lang="en-US" sz="2400" dirty="0"/>
              <a:t>        return found;</a:t>
            </a:r>
            <a:endParaRPr lang="en-IE" sz="2400" dirty="0"/>
          </a:p>
          <a:p>
            <a:r>
              <a:rPr lang="en-US" sz="2400" dirty="0"/>
              <a:t>    }</a:t>
            </a:r>
            <a:endParaRPr lang="en-IE" sz="2400"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         </a:t>
            </a:r>
            <a:r>
              <a:rPr lang="en-US" dirty="0" err="1"/>
              <a:t>int</a:t>
            </a:r>
            <a:r>
              <a:rPr lang="en-US" dirty="0"/>
              <a:t> n = 1;</a:t>
            </a:r>
            <a:endParaRPr lang="en-IE" dirty="0"/>
          </a:p>
          <a:p>
            <a:r>
              <a:rPr lang="en-US" dirty="0"/>
              <a:t>    	</a:t>
            </a:r>
            <a:r>
              <a:rPr lang="en-US" dirty="0" err="1"/>
              <a:t>int</a:t>
            </a:r>
            <a:r>
              <a:rPr lang="en-US" dirty="0"/>
              <a:t> freq = 0;</a:t>
            </a:r>
            <a:endParaRPr lang="en-IE" dirty="0"/>
          </a:p>
          <a:p>
            <a:r>
              <a:rPr lang="en-US" dirty="0"/>
              <a:t>    	while(n &lt; </a:t>
            </a:r>
            <a:r>
              <a:rPr lang="en-US" dirty="0" err="1"/>
              <a:t>Integer.MAX_VALUE</a:t>
            </a:r>
            <a:r>
              <a:rPr lang="en-US" dirty="0"/>
              <a:t>){</a:t>
            </a:r>
            <a:endParaRPr lang="en-IE" dirty="0"/>
          </a:p>
          <a:p>
            <a:r>
              <a:rPr lang="en-US" dirty="0"/>
              <a:t>    		if(</a:t>
            </a:r>
            <a:r>
              <a:rPr lang="en-US" dirty="0" err="1"/>
              <a:t>isHappy</a:t>
            </a:r>
            <a:r>
              <a:rPr lang="en-US" dirty="0"/>
              <a:t>(n)){</a:t>
            </a:r>
            <a:endParaRPr lang="en-IE" dirty="0"/>
          </a:p>
          <a:p>
            <a:r>
              <a:rPr lang="en-US" dirty="0"/>
              <a:t>    			freq++;</a:t>
            </a:r>
            <a:endParaRPr lang="en-IE" dirty="0"/>
          </a:p>
          <a:p>
            <a:r>
              <a:rPr lang="en-US" dirty="0"/>
              <a:t>    		}</a:t>
            </a:r>
            <a:endParaRPr lang="en-IE" dirty="0"/>
          </a:p>
          <a:p>
            <a:r>
              <a:rPr lang="en-US" dirty="0"/>
              <a:t>    		n++;</a:t>
            </a:r>
            <a:endParaRPr lang="en-IE" dirty="0"/>
          </a:p>
          <a:p>
            <a:r>
              <a:rPr lang="en-US" dirty="0"/>
              <a:t>    	}</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        static </a:t>
            </a:r>
            <a:r>
              <a:rPr lang="en-US" dirty="0" err="1"/>
              <a:t>boolean</a:t>
            </a:r>
            <a:r>
              <a:rPr lang="en-US" dirty="0"/>
              <a:t> </a:t>
            </a:r>
            <a:r>
              <a:rPr lang="en-US" dirty="0" err="1"/>
              <a:t>isHappy</a:t>
            </a:r>
            <a:r>
              <a:rPr lang="en-US" dirty="0"/>
              <a:t>(</a:t>
            </a:r>
            <a:r>
              <a:rPr lang="en-US" dirty="0" err="1"/>
              <a:t>int</a:t>
            </a:r>
            <a:r>
              <a:rPr lang="en-US" dirty="0"/>
              <a:t> n){</a:t>
            </a:r>
            <a:endParaRPr lang="en-IE" dirty="0"/>
          </a:p>
          <a:p>
            <a:r>
              <a:rPr lang="en-US" dirty="0"/>
              <a:t>    	  //assume n &gt;=1</a:t>
            </a:r>
            <a:endParaRPr lang="en-IE" dirty="0"/>
          </a:p>
          <a:p>
            <a:r>
              <a:rPr lang="en-US" dirty="0"/>
              <a:t>    	  </a:t>
            </a:r>
            <a:r>
              <a:rPr lang="en-US" dirty="0" err="1"/>
              <a:t>int</a:t>
            </a:r>
            <a:r>
              <a:rPr lang="en-US" dirty="0"/>
              <a:t> h = n;</a:t>
            </a:r>
            <a:endParaRPr lang="en-IE" dirty="0"/>
          </a:p>
          <a:p>
            <a:r>
              <a:rPr lang="en-US" dirty="0"/>
              <a:t>    	  while(h != 1 &amp;&amp; !</a:t>
            </a:r>
            <a:r>
              <a:rPr lang="en-US" dirty="0" err="1"/>
              <a:t>isSad</a:t>
            </a:r>
            <a:r>
              <a:rPr lang="en-US" dirty="0"/>
              <a:t>(h)) </a:t>
            </a:r>
          </a:p>
          <a:p>
            <a:r>
              <a:rPr lang="en-US" dirty="0"/>
              <a:t>                 h = </a:t>
            </a:r>
            <a:r>
              <a:rPr lang="en-US" dirty="0" err="1"/>
              <a:t>sumSquares</a:t>
            </a:r>
            <a:r>
              <a:rPr lang="en-US" dirty="0"/>
              <a:t>(h);</a:t>
            </a:r>
            <a:endParaRPr lang="en-IE" dirty="0"/>
          </a:p>
          <a:p>
            <a:r>
              <a:rPr lang="en-US" dirty="0"/>
              <a:t>    	  if(h == 1)</a:t>
            </a:r>
            <a:endParaRPr lang="en-IE" dirty="0"/>
          </a:p>
          <a:p>
            <a:r>
              <a:rPr lang="en-US" dirty="0"/>
              <a:t>    		return true;</a:t>
            </a:r>
            <a:endParaRPr lang="en-IE" dirty="0"/>
          </a:p>
          <a:p>
            <a:r>
              <a:rPr lang="en-US" dirty="0"/>
              <a:t>    	  else</a:t>
            </a:r>
            <a:endParaRPr lang="en-IE" dirty="0"/>
          </a:p>
          <a:p>
            <a:r>
              <a:rPr lang="en-US" dirty="0"/>
              <a:t>    		return false;</a:t>
            </a:r>
            <a:endParaRPr lang="en-IE" dirty="0"/>
          </a:p>
          <a:p>
            <a:r>
              <a:rPr lang="en-US" dirty="0"/>
              <a:t>    }</a:t>
            </a:r>
            <a:endParaRPr lang="en-IE"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    takes approximately 420secs on our dual processor quad core Mac</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sz="2400" dirty="0"/>
              <a:t> </a:t>
            </a:r>
            <a:r>
              <a:rPr lang="en-US" sz="2400" dirty="0" err="1"/>
              <a:t>int</a:t>
            </a:r>
            <a:r>
              <a:rPr lang="en-US" sz="2400" dirty="0"/>
              <a:t> base = </a:t>
            </a:r>
            <a:r>
              <a:rPr lang="en-US" sz="2400" dirty="0" err="1"/>
              <a:t>Integer.MAX_VALUE</a:t>
            </a:r>
            <a:r>
              <a:rPr lang="en-US" sz="2400" dirty="0"/>
              <a:t>/</a:t>
            </a:r>
            <a:r>
              <a:rPr lang="en-US" sz="2400" dirty="0" err="1"/>
              <a:t>numProc</a:t>
            </a:r>
            <a:r>
              <a:rPr lang="en-US" sz="2400" dirty="0"/>
              <a:t>;</a:t>
            </a:r>
            <a:endParaRPr lang="en-IE" sz="2400" dirty="0"/>
          </a:p>
          <a:p>
            <a:r>
              <a:rPr lang="en-US" sz="2400" dirty="0"/>
              <a:t> </a:t>
            </a:r>
            <a:r>
              <a:rPr lang="en-US" sz="2400" dirty="0" err="1"/>
              <a:t>HappyNumFinder</a:t>
            </a:r>
            <a:r>
              <a:rPr lang="en-US" sz="2400" dirty="0"/>
              <a:t>[] </a:t>
            </a:r>
            <a:r>
              <a:rPr lang="en-US" sz="2400" dirty="0" err="1"/>
              <a:t>nf</a:t>
            </a:r>
            <a:r>
              <a:rPr lang="en-US" sz="2400" dirty="0"/>
              <a:t> = new </a:t>
            </a:r>
            <a:r>
              <a:rPr lang="en-US" sz="2400" dirty="0" err="1"/>
              <a:t>HappyNumFinder</a:t>
            </a:r>
            <a:r>
              <a:rPr lang="en-US" sz="2400" dirty="0"/>
              <a:t>[</a:t>
            </a:r>
            <a:r>
              <a:rPr lang="en-US" sz="2400" dirty="0" err="1"/>
              <a:t>numProc</a:t>
            </a:r>
            <a:r>
              <a:rPr lang="en-US" sz="2400" dirty="0"/>
              <a:t>];</a:t>
            </a:r>
            <a:endParaRPr lang="en-IE" sz="2400" dirty="0"/>
          </a:p>
          <a:p>
            <a:r>
              <a:rPr lang="en-US" sz="2400" dirty="0"/>
              <a:t> </a:t>
            </a:r>
            <a:r>
              <a:rPr lang="en-US" sz="2400" dirty="0" err="1"/>
              <a:t>int</a:t>
            </a:r>
            <a:r>
              <a:rPr lang="en-US" sz="2400" dirty="0"/>
              <a:t> n = 1; </a:t>
            </a:r>
            <a:endParaRPr lang="en-IE" sz="2400" dirty="0"/>
          </a:p>
          <a:p>
            <a:r>
              <a:rPr lang="en-US" sz="2400" dirty="0"/>
              <a:t> for(</a:t>
            </a:r>
            <a:r>
              <a:rPr lang="en-US" sz="2400" dirty="0" err="1"/>
              <a:t>int</a:t>
            </a:r>
            <a:r>
              <a:rPr lang="en-US" sz="2400" dirty="0"/>
              <a:t> j = 0; j &lt; </a:t>
            </a:r>
            <a:r>
              <a:rPr lang="en-US" sz="2400" dirty="0" err="1"/>
              <a:t>numProc;j</a:t>
            </a:r>
            <a:r>
              <a:rPr lang="en-US" sz="2400" dirty="0"/>
              <a:t>++){</a:t>
            </a:r>
            <a:endParaRPr lang="en-IE" sz="2400" dirty="0"/>
          </a:p>
          <a:p>
            <a:r>
              <a:rPr lang="en-US" sz="2400" dirty="0"/>
              <a:t>     </a:t>
            </a:r>
            <a:r>
              <a:rPr lang="en-US" sz="2400" dirty="0" err="1"/>
              <a:t>nf</a:t>
            </a:r>
            <a:r>
              <a:rPr lang="en-US" sz="2400" dirty="0"/>
              <a:t>[j] = new </a:t>
            </a:r>
            <a:r>
              <a:rPr lang="en-US" sz="2400" dirty="0" err="1"/>
              <a:t>HappyNumFinder</a:t>
            </a:r>
            <a:r>
              <a:rPr lang="en-US" sz="2400" dirty="0"/>
              <a:t>(</a:t>
            </a:r>
            <a:r>
              <a:rPr lang="en-US" sz="2400" dirty="0" err="1"/>
              <a:t>n,base</a:t>
            </a:r>
            <a:r>
              <a:rPr lang="en-US" sz="2400" dirty="0"/>
              <a:t>*(j+1));</a:t>
            </a:r>
            <a:endParaRPr lang="en-IE" sz="2400" dirty="0"/>
          </a:p>
          <a:p>
            <a:r>
              <a:rPr lang="en-US" sz="2400" dirty="0"/>
              <a:t>     n = (j+1)*base;</a:t>
            </a:r>
            <a:endParaRPr lang="en-IE" sz="2400" dirty="0"/>
          </a:p>
          <a:p>
            <a:r>
              <a:rPr lang="en-US" sz="2400" dirty="0"/>
              <a:t>  }</a:t>
            </a:r>
            <a:endParaRPr lang="en-IE" sz="2400"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long </a:t>
            </a:r>
            <a:r>
              <a:rPr lang="en-US" dirty="0" err="1"/>
              <a:t>startTime</a:t>
            </a:r>
            <a:r>
              <a:rPr lang="en-US" dirty="0"/>
              <a:t> = </a:t>
            </a:r>
            <a:r>
              <a:rPr lang="en-US" dirty="0" err="1"/>
              <a:t>System.currentTimeMillis</a:t>
            </a:r>
            <a:r>
              <a:rPr lang="en-US" dirty="0"/>
              <a:t>();</a:t>
            </a:r>
            <a:endParaRPr lang="en-IE" dirty="0"/>
          </a:p>
          <a:p>
            <a:r>
              <a:rPr lang="en-US" dirty="0"/>
              <a:t>for(</a:t>
            </a:r>
            <a:r>
              <a:rPr lang="en-US" dirty="0" err="1"/>
              <a:t>int</a:t>
            </a:r>
            <a:r>
              <a:rPr lang="en-US" dirty="0"/>
              <a:t> j = 0; j &lt; </a:t>
            </a:r>
            <a:r>
              <a:rPr lang="en-US" dirty="0" err="1"/>
              <a:t>numProc</a:t>
            </a:r>
            <a:r>
              <a:rPr lang="en-US" dirty="0"/>
              <a:t>; j++) </a:t>
            </a:r>
            <a:r>
              <a:rPr lang="en-US" dirty="0" err="1"/>
              <a:t>nf</a:t>
            </a:r>
            <a:r>
              <a:rPr lang="en-US" dirty="0"/>
              <a:t>[j].start();</a:t>
            </a:r>
            <a:endParaRPr lang="en-IE" dirty="0"/>
          </a:p>
          <a:p>
            <a:r>
              <a:rPr lang="en-US" dirty="0"/>
              <a:t>    try{</a:t>
            </a:r>
            <a:endParaRPr lang="en-IE" dirty="0"/>
          </a:p>
          <a:p>
            <a:r>
              <a:rPr lang="en-US" dirty="0"/>
              <a:t>       for(</a:t>
            </a:r>
            <a:r>
              <a:rPr lang="en-US" dirty="0" err="1"/>
              <a:t>int</a:t>
            </a:r>
            <a:r>
              <a:rPr lang="en-US" dirty="0"/>
              <a:t> j = 0; j &lt; </a:t>
            </a:r>
            <a:r>
              <a:rPr lang="en-US" dirty="0" err="1"/>
              <a:t>numProc</a:t>
            </a:r>
            <a:r>
              <a:rPr lang="en-US" dirty="0"/>
              <a:t>; j++) </a:t>
            </a:r>
            <a:r>
              <a:rPr lang="en-US" dirty="0" err="1"/>
              <a:t>nf</a:t>
            </a:r>
            <a:r>
              <a:rPr lang="en-US" dirty="0"/>
              <a:t>[j].join();</a:t>
            </a:r>
            <a:endParaRPr lang="en-IE" dirty="0"/>
          </a:p>
          <a:p>
            <a:r>
              <a:rPr lang="en-US" dirty="0"/>
              <a:t>     }</a:t>
            </a:r>
            <a:endParaRPr lang="en-IE" dirty="0"/>
          </a:p>
          <a:p>
            <a:r>
              <a:rPr lang="en-US" dirty="0"/>
              <a:t>    catch(</a:t>
            </a:r>
            <a:r>
              <a:rPr lang="en-US" dirty="0" err="1"/>
              <a:t>InterruptedException</a:t>
            </a:r>
            <a:r>
              <a:rPr lang="en-US" dirty="0"/>
              <a:t> e){}</a:t>
            </a:r>
            <a:endParaRPr lang="en-IE" dirty="0"/>
          </a:p>
          <a:p>
            <a:r>
              <a:rPr lang="en-US" dirty="0"/>
              <a:t> long </a:t>
            </a:r>
            <a:r>
              <a:rPr lang="en-US" dirty="0" err="1"/>
              <a:t>endTime</a:t>
            </a:r>
            <a:r>
              <a:rPr lang="en-US" dirty="0"/>
              <a:t> = </a:t>
            </a:r>
            <a:r>
              <a:rPr lang="en-US" dirty="0" err="1"/>
              <a:t>System.currentTimeMillis</a:t>
            </a:r>
            <a:r>
              <a:rPr lang="en-US" dirty="0"/>
              <a:t>();</a:t>
            </a:r>
            <a:endParaRPr lang="en-IE"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   </a:t>
            </a:r>
          </a:p>
          <a:p>
            <a:r>
              <a:rPr lang="en-US" dirty="0"/>
              <a:t>   This solution completes the task in 159secs on the Mac</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endParaRPr lang="en-IE"/>
          </a:p>
        </p:txBody>
      </p:sp>
      <p:sp>
        <p:nvSpPr>
          <p:cNvPr id="6" name="Slide Number Placeholder 5"/>
          <p:cNvSpPr>
            <a:spLocks noGrp="1"/>
          </p:cNvSpPr>
          <p:nvPr>
            <p:ph type="sldNum" sz="quarter" idx="12"/>
          </p:nvPr>
        </p:nvSpPr>
        <p:spPr/>
        <p:txBody>
          <a:bodyPr/>
          <a:lstStyle/>
          <a:p>
            <a:fld id="{2C77B6D4-FF60-4BA7-86A9-72D6106BD70D}"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dirty="0"/>
          </a:p>
        </p:txBody>
      </p:sp>
      <p:sp>
        <p:nvSpPr>
          <p:cNvPr id="3" name="Content Placeholder 2"/>
          <p:cNvSpPr>
            <a:spLocks noGrp="1"/>
          </p:cNvSpPr>
          <p:nvPr>
            <p:ph idx="1"/>
          </p:nvPr>
        </p:nvSpPr>
        <p:spPr/>
        <p:txBody>
          <a:bodyPr/>
          <a:lstStyle/>
          <a:p>
            <a:endParaRPr lang="en-IE" dirty="0"/>
          </a:p>
          <a:p>
            <a:r>
              <a:rPr lang="en-IE" dirty="0"/>
              <a:t>				</a:t>
            </a:r>
          </a:p>
          <a:p>
            <a:endParaRPr lang="en-IE" dirty="0"/>
          </a:p>
          <a:p>
            <a:r>
              <a:rPr lang="en-IE" dirty="0"/>
              <a:t>				</a:t>
            </a:r>
            <a:r>
              <a:rPr lang="en-IE" dirty="0" err="1"/>
              <a:t>Threadpools</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2BA59D42-FCDE-40FA-A7CC-51216028AAA0}" type="slidenum">
              <a:rPr lang="en-US"/>
              <a:pPr/>
              <a:t>44</a:t>
            </a:fld>
            <a:endParaRPr lang="en-US"/>
          </a:p>
        </p:txBody>
      </p:sp>
      <p:sp>
        <p:nvSpPr>
          <p:cNvPr id="41986" name="Rectangle 2"/>
          <p:cNvSpPr>
            <a:spLocks noGrp="1" noChangeArrowheads="1"/>
          </p:cNvSpPr>
          <p:nvPr>
            <p:ph type="title"/>
          </p:nvPr>
        </p:nvSpPr>
        <p:spPr/>
        <p:txBody>
          <a:bodyPr/>
          <a:lstStyle/>
          <a:p>
            <a:pPr eaLnBrk="1" hangingPunct="1">
              <a:defRPr/>
            </a:pPr>
            <a:r>
              <a:rPr lang="en-AU" b="1"/>
              <a:t>ExecutorService and Threadpools</a:t>
            </a:r>
            <a:endParaRPr lang="en-US" b="1"/>
          </a:p>
        </p:txBody>
      </p:sp>
      <p:sp>
        <p:nvSpPr>
          <p:cNvPr id="41987" name="Rectangle 3"/>
          <p:cNvSpPr>
            <a:spLocks noGrp="1" noChangeArrowheads="1"/>
          </p:cNvSpPr>
          <p:nvPr>
            <p:ph type="body" idx="1"/>
          </p:nvPr>
        </p:nvSpPr>
        <p:spPr>
          <a:xfrm>
            <a:off x="457200" y="980728"/>
            <a:ext cx="8229600" cy="5145435"/>
          </a:xfrm>
        </p:spPr>
        <p:txBody>
          <a:bodyPr/>
          <a:lstStyle/>
          <a:p>
            <a:pPr eaLnBrk="1" hangingPunct="1">
              <a:buFont typeface="Arial" pitchFamily="34" charset="0"/>
              <a:buChar char="•"/>
              <a:defRPr/>
            </a:pPr>
            <a:r>
              <a:rPr lang="en-AU" dirty="0"/>
              <a:t>A generic </a:t>
            </a:r>
            <a:r>
              <a:rPr lang="en-AU" dirty="0" err="1"/>
              <a:t>threadpool</a:t>
            </a:r>
            <a:r>
              <a:rPr lang="en-AU" dirty="0"/>
              <a:t> consists of a fixed number of threads where each thread runs to completion. </a:t>
            </a:r>
          </a:p>
          <a:p>
            <a:pPr eaLnBrk="1" hangingPunct="1">
              <a:buFont typeface="Arial" pitchFamily="34" charset="0"/>
              <a:buChar char="•"/>
              <a:defRPr/>
            </a:pPr>
            <a:endParaRPr lang="en-AU" dirty="0"/>
          </a:p>
          <a:p>
            <a:pPr eaLnBrk="1" hangingPunct="1">
              <a:buFont typeface="Arial" pitchFamily="34" charset="0"/>
              <a:buChar char="•"/>
              <a:defRPr/>
            </a:pPr>
            <a:r>
              <a:rPr lang="en-AU" dirty="0"/>
              <a:t>Each task is a </a:t>
            </a:r>
            <a:r>
              <a:rPr lang="en-AU" dirty="0" err="1"/>
              <a:t>Runnable</a:t>
            </a:r>
            <a:r>
              <a:rPr lang="en-AU" dirty="0"/>
              <a:t> object or a Callable object.  </a:t>
            </a:r>
          </a:p>
          <a:p>
            <a:pPr eaLnBrk="1" hangingPunct="1">
              <a:buFont typeface="Arial" pitchFamily="34" charset="0"/>
              <a:buChar char="•"/>
              <a:defRPr/>
            </a:pPr>
            <a:endParaRPr lang="en-AU" dirty="0"/>
          </a:p>
          <a:p>
            <a:pPr algn="just" eaLnBrk="1" hangingPunct="1">
              <a:buFont typeface="Arial" pitchFamily="34" charset="0"/>
              <a:buChar char="•"/>
              <a:defRPr/>
            </a:pPr>
            <a:r>
              <a:rPr lang="en-AU" dirty="0"/>
              <a:t>Tasks are queued in a shared queue. When a thread in the pool completes a task, it gets another from queue, waiting if none available. </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FEDDC3B1-00BA-490A-B142-1345BED14132}" type="slidenum">
              <a:rPr lang="en-US"/>
              <a:pPr/>
              <a:t>45</a:t>
            </a:fld>
            <a:endParaRPr lang="en-US"/>
          </a:p>
        </p:txBody>
      </p:sp>
      <p:sp>
        <p:nvSpPr>
          <p:cNvPr id="43010" name="Rectangle 2"/>
          <p:cNvSpPr>
            <a:spLocks noGrp="1" noChangeArrowheads="1"/>
          </p:cNvSpPr>
          <p:nvPr>
            <p:ph type="title"/>
          </p:nvPr>
        </p:nvSpPr>
        <p:spPr>
          <a:xfrm>
            <a:off x="539750" y="260350"/>
            <a:ext cx="8229600" cy="792163"/>
          </a:xfrm>
        </p:spPr>
        <p:txBody>
          <a:bodyPr/>
          <a:lstStyle/>
          <a:p>
            <a:pPr eaLnBrk="1" hangingPunct="1">
              <a:defRPr/>
            </a:pPr>
            <a:r>
              <a:rPr lang="en-AU" b="1"/>
              <a:t>ExecutorService and Threadpools</a:t>
            </a:r>
            <a:endParaRPr lang="en-US" b="1"/>
          </a:p>
        </p:txBody>
      </p:sp>
      <p:sp>
        <p:nvSpPr>
          <p:cNvPr id="43011" name="Rectangle 3"/>
          <p:cNvSpPr>
            <a:spLocks noGrp="1" noChangeArrowheads="1"/>
          </p:cNvSpPr>
          <p:nvPr>
            <p:ph type="body" idx="1"/>
          </p:nvPr>
        </p:nvSpPr>
        <p:spPr/>
        <p:txBody>
          <a:bodyPr/>
          <a:lstStyle/>
          <a:p>
            <a:pPr eaLnBrk="1" hangingPunct="1">
              <a:buFont typeface="Arial" pitchFamily="34" charset="0"/>
              <a:buChar char="•"/>
              <a:defRPr/>
            </a:pPr>
            <a:r>
              <a:rPr lang="en-AU" dirty="0"/>
              <a:t>Therefore, the life cycle of a worker thread in the pool is:</a:t>
            </a:r>
          </a:p>
          <a:p>
            <a:pPr lvl="1" eaLnBrk="1" hangingPunct="1">
              <a:defRPr/>
            </a:pPr>
            <a:r>
              <a:rPr lang="en-AU" dirty="0"/>
              <a:t>	get next job from work queue; </a:t>
            </a:r>
          </a:p>
          <a:p>
            <a:pPr lvl="1" eaLnBrk="1" hangingPunct="1">
              <a:defRPr/>
            </a:pPr>
            <a:r>
              <a:rPr lang="en-AU" dirty="0"/>
              <a:t>   execute it;</a:t>
            </a:r>
          </a:p>
          <a:p>
            <a:pPr lvl="1" eaLnBrk="1" hangingPunct="1">
              <a:defRPr/>
            </a:pPr>
            <a:r>
              <a:rPr lang="en-AU" dirty="0"/>
              <a:t>   go back to waiting for the next job. </a:t>
            </a:r>
          </a:p>
          <a:p>
            <a:pPr eaLnBrk="1" hangingPunct="1">
              <a:defRPr/>
            </a:pPr>
            <a:endParaRPr lang="en-AU" dirty="0"/>
          </a:p>
          <a:p>
            <a:pPr eaLnBrk="1" hangingPunct="1">
              <a:buFont typeface="Arial" pitchFamily="34" charset="0"/>
              <a:buChar char="•"/>
              <a:defRPr/>
            </a:pPr>
            <a:r>
              <a:rPr lang="en-AU" dirty="0" err="1"/>
              <a:t>Threadpools</a:t>
            </a:r>
            <a:r>
              <a:rPr lang="en-AU" dirty="0"/>
              <a:t> are useful because they can be created once and re-used. </a:t>
            </a:r>
          </a:p>
          <a:p>
            <a:pPr eaLnBrk="1" hangingPunct="1">
              <a:buFont typeface="Arial" pitchFamily="34" charset="0"/>
              <a:buChar char="•"/>
              <a:defRPr/>
            </a:pPr>
            <a:r>
              <a:rPr lang="en-AU" dirty="0"/>
              <a:t>Separate jobs to be done from execution of tasks</a:t>
            </a:r>
          </a:p>
          <a:p>
            <a:pPr eaLnBrk="1" hangingPunct="1">
              <a:defRPr/>
            </a:pPr>
            <a:endParaRPr lang="en-AU" dirty="0"/>
          </a:p>
          <a:p>
            <a:pPr eaLnBrk="1" hangingPunct="1">
              <a:defRPr/>
            </a:pPr>
            <a:r>
              <a:rPr lang="en-AU" dirty="0"/>
              <a:t>	</a:t>
            </a:r>
          </a:p>
          <a:p>
            <a:pPr eaLnBrk="1" hangingPunct="1">
              <a:defRPr/>
            </a:pPr>
            <a:r>
              <a:rPr lang="en-AU" dirty="0"/>
              <a:t>	. </a:t>
            </a:r>
            <a:endParaRPr lang="en-US" dirty="0"/>
          </a:p>
          <a:p>
            <a:pPr eaLnBrk="1" hangingPunct="1">
              <a:defRPr/>
            </a:pP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AU" dirty="0"/>
              <a:t>	Often used in servers because it avoids the overhead of creating threads continuously to deal with client requests</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F703FDD0-4D0F-4D5A-9C1D-3500E48727F4}" type="slidenum">
              <a:rPr lang="en-US"/>
              <a:pPr/>
              <a:t>47</a:t>
            </a:fld>
            <a:endParaRPr lang="en-US"/>
          </a:p>
        </p:txBody>
      </p:sp>
      <p:sp>
        <p:nvSpPr>
          <p:cNvPr id="44034" name="Rectangle 2"/>
          <p:cNvSpPr>
            <a:spLocks noGrp="1" noChangeArrowheads="1"/>
          </p:cNvSpPr>
          <p:nvPr>
            <p:ph type="title"/>
          </p:nvPr>
        </p:nvSpPr>
        <p:spPr>
          <a:xfrm>
            <a:off x="539750" y="260350"/>
            <a:ext cx="8229600" cy="73025"/>
          </a:xfrm>
        </p:spPr>
        <p:txBody>
          <a:bodyPr/>
          <a:lstStyle/>
          <a:p>
            <a:pPr eaLnBrk="1" hangingPunct="1">
              <a:defRPr/>
            </a:pPr>
            <a:endParaRPr lang="en-US" sz="2800"/>
          </a:p>
        </p:txBody>
      </p:sp>
      <p:sp>
        <p:nvSpPr>
          <p:cNvPr id="44035" name="Rectangle 3"/>
          <p:cNvSpPr>
            <a:spLocks noGrp="1" noChangeArrowheads="1"/>
          </p:cNvSpPr>
          <p:nvPr>
            <p:ph type="body" idx="1"/>
          </p:nvPr>
        </p:nvSpPr>
        <p:spPr>
          <a:xfrm>
            <a:off x="457200" y="333375"/>
            <a:ext cx="8229600" cy="5792788"/>
          </a:xfrm>
        </p:spPr>
        <p:txBody>
          <a:bodyPr/>
          <a:lstStyle/>
          <a:p>
            <a:pPr eaLnBrk="1" hangingPunct="1">
              <a:defRPr/>
            </a:pPr>
            <a:r>
              <a:rPr lang="en-AU" dirty="0"/>
              <a:t>To create </a:t>
            </a:r>
            <a:r>
              <a:rPr lang="en-US" dirty="0"/>
              <a:t>a thread pool use:</a:t>
            </a:r>
          </a:p>
          <a:p>
            <a:pPr eaLnBrk="1" hangingPunct="1">
              <a:defRPr/>
            </a:pPr>
            <a:r>
              <a:rPr lang="en-US" dirty="0" err="1">
                <a:latin typeface="Comic Sans MS" charset="0"/>
              </a:rPr>
              <a:t>ExecutorService</a:t>
            </a:r>
            <a:r>
              <a:rPr lang="en-US" dirty="0">
                <a:latin typeface="Comic Sans MS" charset="0"/>
              </a:rPr>
              <a:t> pool = </a:t>
            </a:r>
          </a:p>
          <a:p>
            <a:pPr eaLnBrk="1" hangingPunct="1">
              <a:defRPr/>
            </a:pPr>
            <a:r>
              <a:rPr lang="en-US" dirty="0">
                <a:latin typeface="Comic Sans MS" charset="0"/>
              </a:rPr>
              <a:t>	</a:t>
            </a:r>
            <a:r>
              <a:rPr lang="en-US" dirty="0" err="1">
                <a:latin typeface="Comic Sans MS" charset="0"/>
              </a:rPr>
              <a:t>Executors.newFixedThreadPool</a:t>
            </a:r>
            <a:r>
              <a:rPr lang="en-US" dirty="0">
                <a:latin typeface="Comic Sans MS" charset="0"/>
              </a:rPr>
              <a:t>(</a:t>
            </a:r>
            <a:r>
              <a:rPr lang="en-US" dirty="0" err="1">
                <a:latin typeface="Comic Sans MS" charset="0"/>
              </a:rPr>
              <a:t>numThreads</a:t>
            </a:r>
            <a:r>
              <a:rPr lang="en-US" dirty="0">
                <a:latin typeface="Comic Sans MS" charset="0"/>
              </a:rPr>
              <a:t>);</a:t>
            </a:r>
          </a:p>
          <a:p>
            <a:pPr eaLnBrk="1" hangingPunct="1">
              <a:defRPr/>
            </a:pPr>
            <a:endParaRPr lang="en-US" dirty="0"/>
          </a:p>
          <a:p>
            <a:pPr eaLnBrk="1" hangingPunct="1">
              <a:defRPr/>
            </a:pPr>
            <a:r>
              <a:rPr lang="en-US" dirty="0"/>
              <a:t>The</a:t>
            </a:r>
            <a:r>
              <a:rPr lang="en-US" b="1" dirty="0"/>
              <a:t> </a:t>
            </a:r>
            <a:r>
              <a:rPr lang="en-US" dirty="0"/>
              <a:t>method</a:t>
            </a:r>
          </a:p>
          <a:p>
            <a:pPr eaLnBrk="1" hangingPunct="1">
              <a:defRPr/>
            </a:pPr>
            <a:r>
              <a:rPr lang="en-US" dirty="0"/>
              <a:t>  </a:t>
            </a:r>
            <a:endParaRPr lang="en-US" b="1" dirty="0"/>
          </a:p>
          <a:p>
            <a:pPr eaLnBrk="1" hangingPunct="1">
              <a:defRPr/>
            </a:pPr>
            <a:r>
              <a:rPr lang="en-US" b="1" dirty="0"/>
              <a:t>		</a:t>
            </a:r>
            <a:r>
              <a:rPr lang="en-US" dirty="0" err="1">
                <a:latin typeface="Comic Sans MS" charset="0"/>
              </a:rPr>
              <a:t>newFixedThreadPool</a:t>
            </a:r>
            <a:r>
              <a:rPr lang="en-US" dirty="0">
                <a:latin typeface="Comic Sans MS" charset="0"/>
              </a:rPr>
              <a:t>(</a:t>
            </a:r>
            <a:r>
              <a:rPr lang="en-US" dirty="0" err="1">
                <a:latin typeface="Comic Sans MS" charset="0"/>
              </a:rPr>
              <a:t>numThreads</a:t>
            </a:r>
            <a:r>
              <a:rPr lang="en-US" dirty="0">
                <a:latin typeface="Comic Sans MS" charset="0"/>
              </a:rPr>
              <a:t>)</a:t>
            </a:r>
          </a:p>
          <a:p>
            <a:pPr eaLnBrk="1" hangingPunct="1">
              <a:defRPr/>
            </a:pPr>
            <a:endParaRPr lang="en-US" dirty="0"/>
          </a:p>
          <a:p>
            <a:pPr eaLnBrk="1" hangingPunct="1">
              <a:defRPr/>
            </a:pPr>
            <a:r>
              <a:rPr lang="en-US" dirty="0"/>
              <a:t>	returns a thread pool object running </a:t>
            </a:r>
            <a:r>
              <a:rPr lang="en-US" dirty="0" err="1">
                <a:latin typeface="Comic Sans MS" charset="0"/>
              </a:rPr>
              <a:t>numThreads</a:t>
            </a:r>
            <a:endParaRPr lang="en-AU" dirty="0"/>
          </a:p>
          <a:p>
            <a:pPr eaLnBrk="1" hangingPunct="1">
              <a:defRPr/>
            </a:pPr>
            <a:endParaRPr lang="en-AU" dirty="0"/>
          </a:p>
          <a:p>
            <a:pPr eaLnBrk="1" hangingPunct="1">
              <a:defRPr/>
            </a:pPr>
            <a:r>
              <a:rPr lang="en-AU" dirty="0"/>
              <a:t>	</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FE76888C-9875-4C04-834B-532C2D3F29D0}" type="slidenum">
              <a:rPr lang="en-US"/>
              <a:pPr/>
              <a:t>48</a:t>
            </a:fld>
            <a:endParaRPr lang="en-US"/>
          </a:p>
        </p:txBody>
      </p:sp>
      <p:sp>
        <p:nvSpPr>
          <p:cNvPr id="45058" name="Rectangle 2"/>
          <p:cNvSpPr>
            <a:spLocks noGrp="1" noChangeArrowheads="1"/>
          </p:cNvSpPr>
          <p:nvPr>
            <p:ph type="title"/>
          </p:nvPr>
        </p:nvSpPr>
        <p:spPr>
          <a:xfrm>
            <a:off x="539750" y="260350"/>
            <a:ext cx="8229600" cy="73025"/>
          </a:xfrm>
        </p:spPr>
        <p:txBody>
          <a:bodyPr/>
          <a:lstStyle/>
          <a:p>
            <a:pPr eaLnBrk="1" hangingPunct="1">
              <a:defRPr/>
            </a:pPr>
            <a:endParaRPr lang="en-US" sz="2800"/>
          </a:p>
        </p:txBody>
      </p:sp>
      <p:sp>
        <p:nvSpPr>
          <p:cNvPr id="45059" name="Rectangle 3"/>
          <p:cNvSpPr>
            <a:spLocks noGrp="1" noChangeArrowheads="1"/>
          </p:cNvSpPr>
          <p:nvPr>
            <p:ph type="body" idx="1"/>
          </p:nvPr>
        </p:nvSpPr>
        <p:spPr>
          <a:xfrm>
            <a:off x="457200" y="333375"/>
            <a:ext cx="8229600" cy="5792788"/>
          </a:xfrm>
        </p:spPr>
        <p:txBody>
          <a:bodyPr/>
          <a:lstStyle/>
          <a:p>
            <a:pPr eaLnBrk="1" hangingPunct="1">
              <a:defRPr/>
            </a:pPr>
            <a:r>
              <a:rPr lang="en-US"/>
              <a:t>The ExecutorService  class provides</a:t>
            </a:r>
          </a:p>
          <a:p>
            <a:pPr eaLnBrk="1" hangingPunct="1">
              <a:defRPr/>
            </a:pPr>
            <a:endParaRPr lang="en-US" b="1"/>
          </a:p>
          <a:p>
            <a:pPr eaLnBrk="1" hangingPunct="1">
              <a:defRPr/>
            </a:pPr>
            <a:r>
              <a:rPr lang="en-US" b="1"/>
              <a:t>		</a:t>
            </a:r>
            <a:r>
              <a:rPr lang="en-US">
                <a:latin typeface="Comic Sans MS" charset="0"/>
              </a:rPr>
              <a:t>pool.submit(r)</a:t>
            </a:r>
            <a:r>
              <a:rPr lang="en-US"/>
              <a:t>		</a:t>
            </a:r>
          </a:p>
          <a:p>
            <a:pPr eaLnBrk="1" hangingPunct="1">
              <a:defRPr/>
            </a:pPr>
            <a:endParaRPr lang="en-US"/>
          </a:p>
          <a:p>
            <a:pPr eaLnBrk="1" hangingPunct="1">
              <a:defRPr/>
            </a:pPr>
            <a:r>
              <a:rPr lang="en-US"/>
              <a:t>	submit </a:t>
            </a:r>
            <a:r>
              <a:rPr lang="en-US">
                <a:latin typeface="Comic Sans MS" charset="0"/>
              </a:rPr>
              <a:t>Runnable r</a:t>
            </a:r>
            <a:r>
              <a:rPr lang="en-US"/>
              <a:t> to pool; returns immediately</a:t>
            </a:r>
          </a:p>
          <a:p>
            <a:pPr eaLnBrk="1" hangingPunct="1">
              <a:defRPr/>
            </a:pPr>
            <a:r>
              <a:rPr lang="en-US"/>
              <a:t>	</a:t>
            </a:r>
            <a:endParaRPr lang="en-US" b="1"/>
          </a:p>
          <a:p>
            <a:pPr eaLnBrk="1" hangingPunct="1">
              <a:defRPr/>
            </a:pPr>
            <a:r>
              <a:rPr lang="en-US" b="1"/>
              <a:t>		</a:t>
            </a:r>
            <a:r>
              <a:rPr lang="en-US">
                <a:latin typeface="Comic Sans MS" charset="0"/>
              </a:rPr>
              <a:t>pool.shutdown()</a:t>
            </a:r>
            <a:r>
              <a:rPr lang="en-US"/>
              <a:t> 	</a:t>
            </a:r>
          </a:p>
          <a:p>
            <a:pPr eaLnBrk="1" hangingPunct="1">
              <a:defRPr/>
            </a:pPr>
            <a:r>
              <a:rPr lang="en-US"/>
              <a:t>	</a:t>
            </a:r>
          </a:p>
          <a:p>
            <a:pPr eaLnBrk="1" hangingPunct="1">
              <a:defRPr/>
            </a:pPr>
            <a:r>
              <a:rPr lang="en-US"/>
              <a:t>	shutdown pool when all submitted tasks complete</a:t>
            </a:r>
          </a:p>
          <a:p>
            <a:pPr eaLnBrk="1" hangingPunct="1">
              <a:defRPr/>
            </a:pPr>
            <a:r>
              <a:rPr lang="en-US"/>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9AA45390-7E6C-44F0-9849-1FDF6376A02D}" type="slidenum">
              <a:rPr lang="en-US"/>
              <a:pPr/>
              <a:t>49</a:t>
            </a:fld>
            <a:endParaRPr lang="en-US"/>
          </a:p>
        </p:txBody>
      </p:sp>
      <p:sp>
        <p:nvSpPr>
          <p:cNvPr id="46082" name="Rectangle 2"/>
          <p:cNvSpPr>
            <a:spLocks noGrp="1" noChangeArrowheads="1"/>
          </p:cNvSpPr>
          <p:nvPr>
            <p:ph type="title"/>
          </p:nvPr>
        </p:nvSpPr>
        <p:spPr>
          <a:xfrm>
            <a:off x="539750" y="260350"/>
            <a:ext cx="8229600" cy="144463"/>
          </a:xfrm>
        </p:spPr>
        <p:txBody>
          <a:bodyPr/>
          <a:lstStyle/>
          <a:p>
            <a:pPr eaLnBrk="1" hangingPunct="1">
              <a:defRPr/>
            </a:pPr>
            <a:endParaRPr lang="en-US" sz="2800"/>
          </a:p>
        </p:txBody>
      </p:sp>
      <p:sp>
        <p:nvSpPr>
          <p:cNvPr id="46083" name="Rectangle 3"/>
          <p:cNvSpPr>
            <a:spLocks noGrp="1" noChangeArrowheads="1"/>
          </p:cNvSpPr>
          <p:nvPr>
            <p:ph type="body" idx="1"/>
          </p:nvPr>
        </p:nvSpPr>
        <p:spPr>
          <a:xfrm>
            <a:off x="468313" y="1052513"/>
            <a:ext cx="8229600" cy="4525962"/>
          </a:xfrm>
        </p:spPr>
        <p:txBody>
          <a:bodyPr/>
          <a:lstStyle/>
          <a:p>
            <a:pPr eaLnBrk="1" hangingPunct="1"/>
            <a:r>
              <a:rPr lang="en-US">
                <a:latin typeface="Comic Sans MS" pitchFamily="66" charset="0"/>
              </a:rPr>
              <a:t>	awaitTermination(long timeout, </a:t>
            </a:r>
            <a:r>
              <a:rPr lang="en-US">
                <a:latin typeface="Comic Sans MS" pitchFamily="66" charset="0"/>
                <a:hlinkClick r:id="rId3" action="ppaction://hlinkfile" tooltip="enum in java.util.concurrent"/>
              </a:rPr>
              <a:t>TimeUnit</a:t>
            </a:r>
            <a:r>
              <a:rPr lang="en-US">
                <a:latin typeface="Comic Sans MS" pitchFamily="66" charset="0"/>
              </a:rPr>
              <a:t> unit)</a:t>
            </a:r>
          </a:p>
          <a:p>
            <a:pPr eaLnBrk="1" hangingPunct="1"/>
            <a:r>
              <a:rPr lang="en-US">
                <a:latin typeface="Comic Sans MS" pitchFamily="66" charset="0"/>
              </a:rPr>
              <a:t>    throws </a:t>
            </a:r>
            <a:r>
              <a:rPr lang="en-US">
                <a:latin typeface="Comic Sans MS" pitchFamily="66" charset="0"/>
                <a:hlinkClick r:id="rId4" action="ppaction://hlinkfile" tooltip="class in java.lang"/>
              </a:rPr>
              <a:t>InterruptedException</a:t>
            </a:r>
            <a:endParaRPr lang="en-US">
              <a:latin typeface="Comic Sans MS" pitchFamily="66" charset="0"/>
            </a:endParaRPr>
          </a:p>
          <a:p>
            <a:pPr eaLnBrk="1" hangingPunct="1"/>
            <a:r>
              <a:rPr lang="en-US"/>
              <a:t>	</a:t>
            </a:r>
          </a:p>
          <a:p>
            <a:pPr eaLnBrk="1" hangingPunct="1"/>
            <a:endParaRPr lang="en-US"/>
          </a:p>
          <a:p>
            <a:pPr eaLnBrk="1" hangingPunct="1"/>
            <a:r>
              <a:rPr lang="en-US"/>
              <a:t>	Blocks until all tasks have completed execution after a shutdown request, or the timeout occurs, or the current thread is interrupted, whichever happens first. </a:t>
            </a:r>
          </a:p>
          <a:p>
            <a:pPr eaLnBrk="1" hangingPunct="1"/>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D357308A-75E9-4579-9E15-EF93A30E79D2}" type="slidenum">
              <a:rPr lang="en-US"/>
              <a:pPr/>
              <a:t>50</a:t>
            </a:fld>
            <a:endParaRPr lang="en-US"/>
          </a:p>
        </p:txBody>
      </p:sp>
      <p:sp>
        <p:nvSpPr>
          <p:cNvPr id="47106" name="Rectangle 2"/>
          <p:cNvSpPr>
            <a:spLocks noGrp="1" noChangeArrowheads="1"/>
          </p:cNvSpPr>
          <p:nvPr>
            <p:ph type="title"/>
          </p:nvPr>
        </p:nvSpPr>
        <p:spPr>
          <a:xfrm>
            <a:off x="539750" y="260350"/>
            <a:ext cx="8229600" cy="73025"/>
          </a:xfrm>
        </p:spPr>
        <p:txBody>
          <a:bodyPr/>
          <a:lstStyle/>
          <a:p>
            <a:pPr eaLnBrk="1" hangingPunct="1">
              <a:defRPr/>
            </a:pPr>
            <a:endParaRPr lang="en-US" sz="2800"/>
          </a:p>
        </p:txBody>
      </p:sp>
      <p:sp>
        <p:nvSpPr>
          <p:cNvPr id="47107" name="Rectangle 3"/>
          <p:cNvSpPr>
            <a:spLocks noGrp="1" noChangeArrowheads="1"/>
          </p:cNvSpPr>
          <p:nvPr>
            <p:ph type="body" idx="1"/>
          </p:nvPr>
        </p:nvSpPr>
        <p:spPr>
          <a:xfrm>
            <a:off x="457200" y="188913"/>
            <a:ext cx="8229600" cy="5937250"/>
          </a:xfrm>
        </p:spPr>
        <p:txBody>
          <a:bodyPr/>
          <a:lstStyle/>
          <a:p>
            <a:pPr eaLnBrk="1" hangingPunct="1">
              <a:defRPr/>
            </a:pPr>
            <a:r>
              <a:rPr lang="en-US" sz="2000" dirty="0"/>
              <a:t>	</a:t>
            </a:r>
          </a:p>
          <a:p>
            <a:pPr eaLnBrk="1" hangingPunct="1">
              <a:defRPr/>
            </a:pPr>
            <a:r>
              <a:rPr lang="en-US" sz="2000" b="1" dirty="0">
                <a:latin typeface="Comic Sans MS" charset="0"/>
              </a:rPr>
              <a:t>public interface Future&lt;V&gt;</a:t>
            </a:r>
            <a:r>
              <a:rPr lang="en-US" sz="2000" dirty="0"/>
              <a:t> </a:t>
            </a:r>
          </a:p>
          <a:p>
            <a:pPr eaLnBrk="1" hangingPunct="1">
              <a:defRPr/>
            </a:pPr>
            <a:endParaRPr lang="en-US" sz="2000" dirty="0"/>
          </a:p>
          <a:p>
            <a:pPr eaLnBrk="1" hangingPunct="1">
              <a:defRPr/>
            </a:pPr>
            <a:r>
              <a:rPr lang="en-US" sz="2000" dirty="0"/>
              <a:t>	A Future represents the result of an asynchronous computation. </a:t>
            </a:r>
          </a:p>
          <a:p>
            <a:pPr eaLnBrk="1" hangingPunct="1">
              <a:defRPr/>
            </a:pPr>
            <a:endParaRPr lang="en-US" sz="2000" dirty="0"/>
          </a:p>
          <a:p>
            <a:pPr eaLnBrk="1" hangingPunct="1">
              <a:defRPr/>
            </a:pPr>
            <a:r>
              <a:rPr lang="en-US" sz="2000" dirty="0"/>
              <a:t>     The result can only be retrieved using method </a:t>
            </a:r>
            <a:r>
              <a:rPr lang="en-US" sz="2000" b="1" dirty="0"/>
              <a:t>get</a:t>
            </a:r>
            <a:r>
              <a:rPr lang="en-US" sz="2000" dirty="0"/>
              <a:t> when the computation has completed, blocking if necessary until it is ready. </a:t>
            </a:r>
          </a:p>
          <a:p>
            <a:pPr eaLnBrk="1" hangingPunct="1">
              <a:defRPr/>
            </a:pPr>
            <a:endParaRPr lang="en-US" sz="2000" dirty="0"/>
          </a:p>
          <a:p>
            <a:pPr lvl="1" eaLnBrk="1" hangingPunct="1">
              <a:defRPr/>
            </a:pPr>
            <a:r>
              <a:rPr lang="en-US" sz="1800" b="1" dirty="0">
                <a:latin typeface="Comic Sans MS" charset="0"/>
              </a:rPr>
              <a:t>get</a:t>
            </a:r>
            <a:r>
              <a:rPr lang="en-US" sz="1800" dirty="0">
                <a:latin typeface="Comic Sans MS" charset="0"/>
              </a:rPr>
              <a:t>()</a:t>
            </a:r>
          </a:p>
          <a:p>
            <a:pPr lvl="1" eaLnBrk="1" hangingPunct="1">
              <a:defRPr/>
            </a:pPr>
            <a:r>
              <a:rPr lang="en-US" sz="1800" dirty="0">
                <a:latin typeface="Comic Sans MS" charset="0"/>
              </a:rPr>
              <a:t>      throws </a:t>
            </a:r>
            <a:r>
              <a:rPr lang="en-US" sz="1800" dirty="0" err="1">
                <a:latin typeface="Comic Sans MS" charset="0"/>
                <a:hlinkClick r:id="rId3" action="ppaction://hlinkfile" tooltip="class in java.lang"/>
              </a:rPr>
              <a:t>InterruptedException</a:t>
            </a:r>
            <a:r>
              <a:rPr lang="en-US" sz="1800" dirty="0">
                <a:latin typeface="Comic Sans MS" charset="0"/>
              </a:rPr>
              <a:t>,</a:t>
            </a:r>
          </a:p>
          <a:p>
            <a:pPr lvl="1" eaLnBrk="1" hangingPunct="1">
              <a:defRPr/>
            </a:pPr>
            <a:r>
              <a:rPr lang="en-US" sz="1800" dirty="0">
                <a:latin typeface="Comic Sans MS" charset="0"/>
              </a:rPr>
              <a:t>             </a:t>
            </a:r>
            <a:r>
              <a:rPr lang="en-US" sz="1800" dirty="0" err="1">
                <a:latin typeface="Comic Sans MS" charset="0"/>
                <a:hlinkClick r:id="rId4" action="ppaction://hlinkfile" tooltip="class in java.util.concurrent"/>
              </a:rPr>
              <a:t>ExecutionException</a:t>
            </a:r>
            <a:endParaRPr lang="en-AU" sz="1800" dirty="0">
              <a:latin typeface="Comic Sans MS" charset="0"/>
            </a:endParaRPr>
          </a:p>
          <a:p>
            <a:pPr eaLnBrk="1" hangingPunct="1">
              <a:defRPr/>
            </a:pPr>
            <a:r>
              <a:rPr lang="en-AU" sz="2000" dirty="0"/>
              <a:t>	</a:t>
            </a:r>
          </a:p>
          <a:p>
            <a:pPr eaLnBrk="1" hangingPunct="1">
              <a:defRPr/>
            </a:pPr>
            <a:r>
              <a:rPr lang="en-AU" sz="2000" dirty="0"/>
              <a:t>	Waits if necessary for the computation to complete, and then retrieves its result.</a:t>
            </a:r>
          </a:p>
          <a:p>
            <a:pPr eaLnBrk="1" hangingPunct="1">
              <a:defRPr/>
            </a:pPr>
            <a:r>
              <a:rPr lang="en-AU" sz="2000" dirty="0"/>
              <a:t>      </a:t>
            </a:r>
            <a:endParaRPr lang="en-US"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pPr eaLnBrk="1" hangingPunct="1">
              <a:defRPr/>
            </a:pPr>
            <a:r>
              <a:rPr lang="en-AU" dirty="0"/>
              <a:t>   Two types of job: </a:t>
            </a:r>
          </a:p>
          <a:p>
            <a:pPr eaLnBrk="1" hangingPunct="1">
              <a:defRPr/>
            </a:pPr>
            <a:r>
              <a:rPr lang="en-AU" dirty="0"/>
              <a:t>            </a:t>
            </a:r>
            <a:r>
              <a:rPr lang="en-AU" dirty="0" err="1"/>
              <a:t>Runnable</a:t>
            </a:r>
            <a:r>
              <a:rPr lang="en-AU" dirty="0"/>
              <a:t>  and Callable</a:t>
            </a:r>
          </a:p>
          <a:p>
            <a:pPr eaLnBrk="1" hangingPunct="1">
              <a:defRPr/>
            </a:pPr>
            <a:r>
              <a:rPr lang="en-AU" dirty="0"/>
              <a:t>	</a:t>
            </a:r>
          </a:p>
          <a:p>
            <a:pPr eaLnBrk="1" hangingPunct="1">
              <a:defRPr/>
            </a:pPr>
            <a:r>
              <a:rPr lang="en-AU" dirty="0"/>
              <a:t>    </a:t>
            </a:r>
            <a:r>
              <a:rPr lang="en-AU" dirty="0" err="1"/>
              <a:t>Runnable</a:t>
            </a:r>
            <a:r>
              <a:rPr lang="en-AU" dirty="0"/>
              <a:t> – does not return a result</a:t>
            </a:r>
          </a:p>
          <a:p>
            <a:pPr eaLnBrk="1" hangingPunct="1">
              <a:defRPr/>
            </a:pPr>
            <a:r>
              <a:rPr lang="en-AU" dirty="0"/>
              <a:t>	</a:t>
            </a:r>
          </a:p>
          <a:p>
            <a:pPr eaLnBrk="1" hangingPunct="1">
              <a:defRPr/>
            </a:pPr>
            <a:r>
              <a:rPr lang="en-AU" dirty="0"/>
              <a:t>    Callable – returns a result.</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E3E21471-73F1-431A-BB51-FA6F299BD169}" type="slidenum">
              <a:rPr lang="en-US"/>
              <a:pPr/>
              <a:t>52</a:t>
            </a:fld>
            <a:endParaRPr lang="en-US"/>
          </a:p>
        </p:txBody>
      </p:sp>
      <p:sp>
        <p:nvSpPr>
          <p:cNvPr id="48130" name="Rectangle 2"/>
          <p:cNvSpPr>
            <a:spLocks noGrp="1" noChangeArrowheads="1"/>
          </p:cNvSpPr>
          <p:nvPr>
            <p:ph type="title"/>
          </p:nvPr>
        </p:nvSpPr>
        <p:spPr>
          <a:xfrm>
            <a:off x="539750" y="260350"/>
            <a:ext cx="8229600" cy="720725"/>
          </a:xfrm>
        </p:spPr>
        <p:txBody>
          <a:bodyPr/>
          <a:lstStyle/>
          <a:p>
            <a:pPr eaLnBrk="1" hangingPunct="1">
              <a:defRPr/>
            </a:pPr>
            <a:r>
              <a:rPr lang="en-GB"/>
              <a:t>Example 1</a:t>
            </a:r>
            <a:endParaRPr lang="en-US"/>
          </a:p>
        </p:txBody>
      </p:sp>
      <p:sp>
        <p:nvSpPr>
          <p:cNvPr id="48131" name="Rectangle 3"/>
          <p:cNvSpPr>
            <a:spLocks noGrp="1" noChangeArrowheads="1"/>
          </p:cNvSpPr>
          <p:nvPr>
            <p:ph type="body" idx="1"/>
          </p:nvPr>
        </p:nvSpPr>
        <p:spPr>
          <a:xfrm>
            <a:off x="457200" y="1052513"/>
            <a:ext cx="8229600" cy="5073650"/>
          </a:xfrm>
        </p:spPr>
        <p:txBody>
          <a:bodyPr/>
          <a:lstStyle/>
          <a:p>
            <a:pPr eaLnBrk="1" hangingPunct="1">
              <a:defRPr/>
            </a:pPr>
            <a:r>
              <a:rPr lang="en-AU"/>
              <a:t>	This example uses a threadpool of two threads to execute 4 instances of the Runnable interface T1. </a:t>
            </a:r>
          </a:p>
          <a:p>
            <a:pPr eaLnBrk="1" hangingPunct="1">
              <a:defRPr/>
            </a:pPr>
            <a:endParaRPr lang="en-AU"/>
          </a:p>
          <a:p>
            <a:pPr eaLnBrk="1" hangingPunct="1">
              <a:defRPr/>
            </a:pPr>
            <a:r>
              <a:rPr lang="en-AU"/>
              <a:t>	The array of class </a:t>
            </a:r>
            <a:r>
              <a:rPr lang="en-AU">
                <a:latin typeface="Comic Sans MS" charset="0"/>
              </a:rPr>
              <a:t>Future</a:t>
            </a:r>
            <a:r>
              <a:rPr lang="en-AU"/>
              <a:t> is used to get </a:t>
            </a:r>
            <a:r>
              <a:rPr lang="en-AU">
                <a:latin typeface="Comic Sans MS" charset="0"/>
              </a:rPr>
              <a:t>main()</a:t>
            </a:r>
            <a:r>
              <a:rPr lang="en-AU"/>
              <a:t> to wait for all the tasks in the threadpool to complete.</a:t>
            </a:r>
          </a:p>
          <a:p>
            <a:pPr eaLnBrk="1" hangingPunct="1">
              <a:defRPr/>
            </a:pPr>
            <a:r>
              <a:rPr lang="en-AU"/>
              <a:t>	</a:t>
            </a:r>
          </a:p>
          <a:p>
            <a:pPr eaLnBrk="1" hangingPunct="1">
              <a:defRPr/>
            </a:pPr>
            <a:r>
              <a:rPr lang="en-AU"/>
              <a:t>	 Then the pool is shutdown.</a:t>
            </a: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49CF48B8-F3EE-441B-BA07-6EBF550D2FCA}" type="slidenum">
              <a:rPr lang="en-US"/>
              <a:pPr/>
              <a:t>53</a:t>
            </a:fld>
            <a:endParaRPr lang="en-US"/>
          </a:p>
        </p:txBody>
      </p:sp>
      <p:sp>
        <p:nvSpPr>
          <p:cNvPr id="66562" name="Rectangle 2"/>
          <p:cNvSpPr>
            <a:spLocks noGrp="1" noChangeArrowheads="1"/>
          </p:cNvSpPr>
          <p:nvPr>
            <p:ph type="title"/>
          </p:nvPr>
        </p:nvSpPr>
        <p:spPr>
          <a:xfrm>
            <a:off x="539750" y="260350"/>
            <a:ext cx="8229600" cy="73025"/>
          </a:xfrm>
        </p:spPr>
        <p:txBody>
          <a:bodyPr/>
          <a:lstStyle/>
          <a:p>
            <a:pPr eaLnBrk="1" hangingPunct="1">
              <a:defRPr/>
            </a:pPr>
            <a:endParaRPr lang="en-US" sz="2800"/>
          </a:p>
        </p:txBody>
      </p:sp>
      <p:sp>
        <p:nvSpPr>
          <p:cNvPr id="66563" name="Rectangle 3"/>
          <p:cNvSpPr>
            <a:spLocks noGrp="1" noChangeArrowheads="1"/>
          </p:cNvSpPr>
          <p:nvPr>
            <p:ph type="body" idx="1"/>
          </p:nvPr>
        </p:nvSpPr>
        <p:spPr>
          <a:xfrm>
            <a:off x="457200" y="260350"/>
            <a:ext cx="8229600" cy="5865813"/>
          </a:xfrm>
        </p:spPr>
        <p:txBody>
          <a:bodyPr/>
          <a:lstStyle/>
          <a:p>
            <a:pPr eaLnBrk="1" hangingPunct="1">
              <a:defRPr/>
            </a:pPr>
            <a:r>
              <a:rPr lang="en-AU">
                <a:latin typeface="Comic Sans MS" charset="0"/>
              </a:rPr>
              <a:t>import java.util.concurrent.*;</a:t>
            </a:r>
          </a:p>
          <a:p>
            <a:pPr eaLnBrk="1" hangingPunct="1">
              <a:defRPr/>
            </a:pPr>
            <a:r>
              <a:rPr lang="en-AU">
                <a:latin typeface="Comic Sans MS" charset="0"/>
              </a:rPr>
              <a:t>class ThreadPool1{</a:t>
            </a:r>
          </a:p>
          <a:p>
            <a:pPr eaLnBrk="1" hangingPunct="1">
              <a:defRPr/>
            </a:pPr>
            <a:r>
              <a:rPr lang="en-AU">
                <a:latin typeface="Comic Sans MS" charset="0"/>
              </a:rPr>
              <a:t>	</a:t>
            </a:r>
            <a:r>
              <a:rPr lang="en-AU" b="1">
                <a:latin typeface="Comic Sans MS" charset="0"/>
              </a:rPr>
              <a:t>static ExecutorService pool;</a:t>
            </a:r>
          </a:p>
          <a:p>
            <a:pPr eaLnBrk="1" hangingPunct="1">
              <a:defRPr/>
            </a:pPr>
            <a:r>
              <a:rPr lang="en-AU">
                <a:latin typeface="Comic Sans MS" charset="0"/>
              </a:rPr>
              <a:t>	public static void main(String args[]){</a:t>
            </a:r>
          </a:p>
          <a:p>
            <a:pPr eaLnBrk="1" hangingPunct="1">
              <a:defRPr/>
            </a:pPr>
            <a:r>
              <a:rPr lang="en-AU">
                <a:latin typeface="Comic Sans MS" charset="0"/>
              </a:rPr>
              <a:t>	   </a:t>
            </a:r>
            <a:r>
              <a:rPr lang="en-AU" b="1">
                <a:latin typeface="Comic Sans MS" charset="0"/>
              </a:rPr>
              <a:t>pool = Executors.newFixedThreadPool(2);</a:t>
            </a:r>
          </a:p>
          <a:p>
            <a:pPr eaLnBrk="1" hangingPunct="1">
              <a:defRPr/>
            </a:pPr>
            <a:r>
              <a:rPr lang="en-AU">
                <a:latin typeface="Comic Sans MS" charset="0"/>
              </a:rPr>
              <a:t>	   Runnable r;</a:t>
            </a:r>
          </a:p>
          <a:p>
            <a:pPr eaLnBrk="1" hangingPunct="1">
              <a:defRPr/>
            </a:pPr>
            <a:r>
              <a:rPr lang="en-AU">
                <a:latin typeface="Comic Sans MS" charset="0"/>
              </a:rPr>
              <a:t>	   </a:t>
            </a:r>
            <a:r>
              <a:rPr lang="en-AU" b="1">
                <a:latin typeface="Comic Sans MS" charset="0"/>
              </a:rPr>
              <a:t>Future f[] = new Future[4];</a:t>
            </a:r>
          </a:p>
          <a:p>
            <a:pPr eaLnBrk="1" hangingPunct="1">
              <a:defRPr/>
            </a:pPr>
            <a:r>
              <a:rPr lang="en-AU">
                <a:latin typeface="Comic Sans MS" charset="0"/>
              </a:rPr>
              <a:t>	   for(int j = 0; j &lt; 4; j++){</a:t>
            </a:r>
          </a:p>
          <a:p>
            <a:pPr eaLnBrk="1" hangingPunct="1">
              <a:defRPr/>
            </a:pPr>
            <a:r>
              <a:rPr lang="en-AU">
                <a:latin typeface="Comic Sans MS" charset="0"/>
              </a:rPr>
              <a:t>	   	 r = new T1(j);</a:t>
            </a:r>
          </a:p>
          <a:p>
            <a:pPr eaLnBrk="1" hangingPunct="1">
              <a:defRPr/>
            </a:pPr>
            <a:r>
              <a:rPr lang="en-AU">
                <a:latin typeface="Comic Sans MS" charset="0"/>
              </a:rPr>
              <a:t>	   	 </a:t>
            </a:r>
            <a:r>
              <a:rPr lang="en-AU" b="1">
                <a:latin typeface="Comic Sans MS" charset="0"/>
              </a:rPr>
              <a:t>f[j] = pool.submit(r);</a:t>
            </a:r>
          </a:p>
          <a:p>
            <a:pPr eaLnBrk="1" hangingPunct="1">
              <a:defRPr/>
            </a:pPr>
            <a:r>
              <a:rPr lang="en-AU">
                <a:latin typeface="Comic Sans MS" charset="0"/>
              </a:rPr>
              <a:t>	   	 </a:t>
            </a:r>
          </a:p>
          <a:p>
            <a:pPr eaLnBrk="1" hangingPunct="1">
              <a:defRPr/>
            </a:pPr>
            <a:r>
              <a:rPr lang="en-AU">
                <a:latin typeface="Comic Sans MS" charset="0"/>
              </a:rPr>
              <a:t>	   }</a:t>
            </a:r>
          </a:p>
          <a:p>
            <a:pPr eaLnBrk="1" hangingPunct="1">
              <a:defRPr/>
            </a:pPr>
            <a:r>
              <a:rPr lang="en-AU">
                <a:latin typeface="Comic Sans MS" charset="0"/>
              </a:rPr>
              <a:t>	</a:t>
            </a:r>
            <a:endParaRPr lang="en-US">
              <a:latin typeface="Comic Sans MS"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755BFAB8-614F-4072-8D73-9272365EF186}" type="slidenum">
              <a:rPr lang="en-US"/>
              <a:pPr/>
              <a:t>54</a:t>
            </a:fld>
            <a:endParaRPr lang="en-US"/>
          </a:p>
        </p:txBody>
      </p:sp>
      <p:sp>
        <p:nvSpPr>
          <p:cNvPr id="67586" name="Rectangle 2"/>
          <p:cNvSpPr>
            <a:spLocks noGrp="1" noChangeArrowheads="1"/>
          </p:cNvSpPr>
          <p:nvPr>
            <p:ph type="title"/>
          </p:nvPr>
        </p:nvSpPr>
        <p:spPr>
          <a:xfrm flipV="1">
            <a:off x="539750" y="188913"/>
            <a:ext cx="8229600" cy="71437"/>
          </a:xfrm>
        </p:spPr>
        <p:txBody>
          <a:bodyPr/>
          <a:lstStyle/>
          <a:p>
            <a:pPr eaLnBrk="1" hangingPunct="1">
              <a:defRPr/>
            </a:pPr>
            <a:endParaRPr lang="en-US" sz="2800"/>
          </a:p>
        </p:txBody>
      </p:sp>
      <p:sp>
        <p:nvSpPr>
          <p:cNvPr id="67587" name="Rectangle 3"/>
          <p:cNvSpPr>
            <a:spLocks noGrp="1" noChangeArrowheads="1"/>
          </p:cNvSpPr>
          <p:nvPr>
            <p:ph type="body" idx="1"/>
          </p:nvPr>
        </p:nvSpPr>
        <p:spPr>
          <a:xfrm>
            <a:off x="457200" y="404813"/>
            <a:ext cx="8229600" cy="5721350"/>
          </a:xfrm>
        </p:spPr>
        <p:txBody>
          <a:bodyPr/>
          <a:lstStyle/>
          <a:p>
            <a:pPr eaLnBrk="1" hangingPunct="1">
              <a:defRPr/>
            </a:pPr>
            <a:r>
              <a:rPr lang="en-AU">
                <a:latin typeface="Comic Sans MS" charset="0"/>
              </a:rPr>
              <a:t>	   // wait for tasks to complete</a:t>
            </a:r>
          </a:p>
          <a:p>
            <a:pPr eaLnBrk="1" hangingPunct="1">
              <a:defRPr/>
            </a:pPr>
            <a:r>
              <a:rPr lang="en-AU">
                <a:latin typeface="Comic Sans MS" charset="0"/>
              </a:rPr>
              <a:t>	   </a:t>
            </a:r>
            <a:r>
              <a:rPr lang="en-AU" b="1">
                <a:latin typeface="Comic Sans MS" charset="0"/>
              </a:rPr>
              <a:t>try{</a:t>
            </a:r>
          </a:p>
          <a:p>
            <a:pPr eaLnBrk="1" hangingPunct="1">
              <a:defRPr/>
            </a:pPr>
            <a:r>
              <a:rPr lang="en-AU" b="1">
                <a:latin typeface="Comic Sans MS" charset="0"/>
              </a:rPr>
              <a:t>	   	for (Future x : f) x.get();</a:t>
            </a:r>
          </a:p>
          <a:p>
            <a:pPr eaLnBrk="1" hangingPunct="1">
              <a:defRPr/>
            </a:pPr>
            <a:r>
              <a:rPr lang="en-AU" b="1">
                <a:latin typeface="Comic Sans MS" charset="0"/>
              </a:rPr>
              <a:t>	   }</a:t>
            </a:r>
          </a:p>
          <a:p>
            <a:pPr eaLnBrk="1" hangingPunct="1">
              <a:defRPr/>
            </a:pPr>
            <a:r>
              <a:rPr lang="en-AU">
                <a:latin typeface="Comic Sans MS" charset="0"/>
              </a:rPr>
              <a:t>	   </a:t>
            </a:r>
            <a:r>
              <a:rPr lang="en-AU" b="1">
                <a:latin typeface="Comic Sans MS" charset="0"/>
              </a:rPr>
              <a:t>catch(InterruptedException e){}</a:t>
            </a:r>
          </a:p>
          <a:p>
            <a:pPr eaLnBrk="1" hangingPunct="1">
              <a:defRPr/>
            </a:pPr>
            <a:r>
              <a:rPr lang="en-AU" b="1">
                <a:latin typeface="Comic Sans MS" charset="0"/>
              </a:rPr>
              <a:t>	   catch(ExecutionException e){} </a:t>
            </a:r>
          </a:p>
          <a:p>
            <a:pPr eaLnBrk="1" hangingPunct="1">
              <a:defRPr/>
            </a:pPr>
            <a:r>
              <a:rPr lang="en-AU" b="1">
                <a:latin typeface="Comic Sans MS" charset="0"/>
              </a:rPr>
              <a:t>	   pool.shutdown();</a:t>
            </a:r>
          </a:p>
          <a:p>
            <a:pPr eaLnBrk="1" hangingPunct="1">
              <a:defRPr/>
            </a:pPr>
            <a:r>
              <a:rPr lang="en-AU">
                <a:latin typeface="Comic Sans MS" charset="0"/>
              </a:rPr>
              <a:t>	   System.out.println("Main finished");</a:t>
            </a:r>
          </a:p>
          <a:p>
            <a:pPr eaLnBrk="1" hangingPunct="1">
              <a:defRPr/>
            </a:pPr>
            <a:r>
              <a:rPr lang="en-AU">
                <a:latin typeface="Comic Sans MS" charset="0"/>
              </a:rPr>
              <a:t>	   </a:t>
            </a:r>
          </a:p>
          <a:p>
            <a:pPr eaLnBrk="1" hangingPunct="1">
              <a:defRPr/>
            </a:pPr>
            <a:r>
              <a:rPr lang="en-AU">
                <a:latin typeface="Comic Sans MS" charset="0"/>
              </a:rPr>
              <a:t>	}</a:t>
            </a:r>
          </a:p>
          <a:p>
            <a:pPr eaLnBrk="1" hangingPunct="1">
              <a:defRPr/>
            </a:pPr>
            <a:r>
              <a:rPr lang="en-AU">
                <a:latin typeface="Comic Sans MS" charset="0"/>
              </a:rPr>
              <a:t>}</a:t>
            </a:r>
            <a:endParaRPr lang="en-US">
              <a:latin typeface="Comic Sans MS" charset="0"/>
            </a:endParaRPr>
          </a:p>
          <a:p>
            <a:pPr eaLnBrk="1" hangingPunct="1">
              <a:defRPr/>
            </a:pP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C0CD63E3-A326-45F6-AC49-727C6EC89FA2}" type="slidenum">
              <a:rPr lang="en-US"/>
              <a:pPr/>
              <a:t>55</a:t>
            </a:fld>
            <a:endParaRPr lang="en-US"/>
          </a:p>
        </p:txBody>
      </p:sp>
      <p:sp>
        <p:nvSpPr>
          <p:cNvPr id="68610" name="Rectangle 2"/>
          <p:cNvSpPr>
            <a:spLocks noGrp="1" noChangeArrowheads="1"/>
          </p:cNvSpPr>
          <p:nvPr>
            <p:ph type="title"/>
          </p:nvPr>
        </p:nvSpPr>
        <p:spPr>
          <a:xfrm>
            <a:off x="539750" y="260350"/>
            <a:ext cx="8229600" cy="73025"/>
          </a:xfrm>
        </p:spPr>
        <p:txBody>
          <a:bodyPr/>
          <a:lstStyle/>
          <a:p>
            <a:pPr eaLnBrk="1" hangingPunct="1">
              <a:defRPr/>
            </a:pPr>
            <a:endParaRPr lang="en-US" sz="2800"/>
          </a:p>
        </p:txBody>
      </p:sp>
      <p:sp>
        <p:nvSpPr>
          <p:cNvPr id="68611" name="Rectangle 3"/>
          <p:cNvSpPr>
            <a:spLocks noGrp="1" noChangeArrowheads="1"/>
          </p:cNvSpPr>
          <p:nvPr>
            <p:ph type="body" idx="1"/>
          </p:nvPr>
        </p:nvSpPr>
        <p:spPr>
          <a:xfrm>
            <a:off x="457200" y="333375"/>
            <a:ext cx="8229600" cy="5792788"/>
          </a:xfrm>
        </p:spPr>
        <p:txBody>
          <a:bodyPr/>
          <a:lstStyle/>
          <a:p>
            <a:pPr eaLnBrk="1" hangingPunct="1">
              <a:defRPr/>
            </a:pPr>
            <a:r>
              <a:rPr lang="en-AU">
                <a:latin typeface="Comic Sans MS" charset="0"/>
              </a:rPr>
              <a:t>class T1 implements Runnable{</a:t>
            </a:r>
          </a:p>
          <a:p>
            <a:pPr eaLnBrk="1" hangingPunct="1">
              <a:defRPr/>
            </a:pPr>
            <a:r>
              <a:rPr lang="en-AU">
                <a:latin typeface="Comic Sans MS" charset="0"/>
              </a:rPr>
              <a:t>	int k;</a:t>
            </a:r>
          </a:p>
          <a:p>
            <a:pPr eaLnBrk="1" hangingPunct="1">
              <a:defRPr/>
            </a:pPr>
            <a:r>
              <a:rPr lang="en-AU">
                <a:latin typeface="Comic Sans MS" charset="0"/>
              </a:rPr>
              <a:t>	public T1(int kk){</a:t>
            </a:r>
          </a:p>
          <a:p>
            <a:pPr eaLnBrk="1" hangingPunct="1">
              <a:defRPr/>
            </a:pPr>
            <a:r>
              <a:rPr lang="en-AU">
                <a:latin typeface="Comic Sans MS" charset="0"/>
              </a:rPr>
              <a:t>		k = kk; </a:t>
            </a:r>
          </a:p>
          <a:p>
            <a:pPr eaLnBrk="1" hangingPunct="1">
              <a:defRPr/>
            </a:pPr>
            <a:r>
              <a:rPr lang="en-AU">
                <a:latin typeface="Comic Sans MS" charset="0"/>
              </a:rPr>
              <a:t>	}</a:t>
            </a:r>
          </a:p>
          <a:p>
            <a:pPr eaLnBrk="1" hangingPunct="1">
              <a:defRPr/>
            </a:pPr>
            <a:r>
              <a:rPr lang="en-AU">
                <a:latin typeface="Comic Sans MS" charset="0"/>
              </a:rPr>
              <a:t>	public void run(){</a:t>
            </a:r>
          </a:p>
          <a:p>
            <a:pPr eaLnBrk="1" hangingPunct="1">
              <a:defRPr/>
            </a:pPr>
            <a:r>
              <a:rPr lang="en-AU">
                <a:latin typeface="Comic Sans MS" charset="0"/>
              </a:rPr>
              <a:t>		for(int j = 0; j &lt; 10; j++)</a:t>
            </a:r>
          </a:p>
          <a:p>
            <a:pPr eaLnBrk="1" hangingPunct="1">
              <a:defRPr/>
            </a:pPr>
            <a:r>
              <a:rPr lang="en-AU">
                <a:latin typeface="Comic Sans MS" charset="0"/>
              </a:rPr>
              <a:t>		      System.out.print(k+" ");</a:t>
            </a:r>
          </a:p>
          <a:p>
            <a:pPr eaLnBrk="1" hangingPunct="1">
              <a:defRPr/>
            </a:pPr>
            <a:r>
              <a:rPr lang="en-AU">
                <a:latin typeface="Comic Sans MS" charset="0"/>
              </a:rPr>
              <a:t>		System.out.println();</a:t>
            </a:r>
          </a:p>
          <a:p>
            <a:pPr eaLnBrk="1" hangingPunct="1">
              <a:defRPr/>
            </a:pPr>
            <a:r>
              <a:rPr lang="en-AU">
                <a:latin typeface="Comic Sans MS" charset="0"/>
              </a:rPr>
              <a:t>	}</a:t>
            </a:r>
          </a:p>
          <a:p>
            <a:pPr eaLnBrk="1" hangingPunct="1">
              <a:defRPr/>
            </a:pPr>
            <a:r>
              <a:rPr lang="en-AU">
                <a:latin typeface="Comic Sans MS" charset="0"/>
              </a:rPr>
              <a:t>}</a:t>
            </a:r>
            <a:endParaRPr lang="en-US">
              <a:latin typeface="Comic Sans MS"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t>Example 2</a:t>
            </a:r>
          </a:p>
        </p:txBody>
      </p:sp>
      <p:sp>
        <p:nvSpPr>
          <p:cNvPr id="3" name="Content Placeholder 2"/>
          <p:cNvSpPr>
            <a:spLocks noGrp="1"/>
          </p:cNvSpPr>
          <p:nvPr>
            <p:ph idx="1"/>
          </p:nvPr>
        </p:nvSpPr>
        <p:spPr/>
        <p:txBody>
          <a:bodyPr/>
          <a:lstStyle/>
          <a:p>
            <a:pPr eaLnBrk="1" hangingPunct="1">
              <a:defRPr/>
            </a:pPr>
            <a:r>
              <a:rPr lang="en-US" b="1" dirty="0"/>
              <a:t>	</a:t>
            </a:r>
            <a:r>
              <a:rPr lang="en-US" dirty="0"/>
              <a:t>In this example we use a </a:t>
            </a:r>
            <a:r>
              <a:rPr lang="en-US" dirty="0" err="1"/>
              <a:t>threadpool</a:t>
            </a:r>
            <a:r>
              <a:rPr lang="en-US" dirty="0"/>
              <a:t> to </a:t>
            </a:r>
            <a:r>
              <a:rPr lang="en-US" dirty="0" err="1"/>
              <a:t>initilize</a:t>
            </a:r>
            <a:r>
              <a:rPr lang="en-US" dirty="0"/>
              <a:t> the elements in a two dimensional array on a row by row basis.</a:t>
            </a:r>
          </a:p>
          <a:p>
            <a:pPr eaLnBrk="1" hangingPunct="1">
              <a:defRPr/>
            </a:pPr>
            <a:endParaRPr lang="en-US" dirty="0"/>
          </a:p>
        </p:txBody>
      </p:sp>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1EBE6CB3-980A-4874-83E6-6CA31615FFD3}" type="slidenum">
              <a:rPr lang="en-US"/>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endParaRPr lang="en-US"/>
          </a:p>
        </p:txBody>
      </p:sp>
      <p:sp>
        <p:nvSpPr>
          <p:cNvPr id="3" name="Content Placeholder 2"/>
          <p:cNvSpPr>
            <a:spLocks noGrp="1"/>
          </p:cNvSpPr>
          <p:nvPr>
            <p:ph idx="1"/>
          </p:nvPr>
        </p:nvSpPr>
        <p:spPr>
          <a:xfrm>
            <a:off x="395288" y="620713"/>
            <a:ext cx="8229600" cy="5534025"/>
          </a:xfrm>
        </p:spPr>
        <p:txBody>
          <a:bodyPr/>
          <a:lstStyle/>
          <a:p>
            <a:pPr eaLnBrk="1" hangingPunct="1">
              <a:defRPr/>
            </a:pPr>
            <a:r>
              <a:rPr lang="en-US" b="1" dirty="0"/>
              <a:t>import</a:t>
            </a:r>
            <a:r>
              <a:rPr lang="en-US" dirty="0"/>
              <a:t> </a:t>
            </a:r>
            <a:r>
              <a:rPr lang="en-US" dirty="0" err="1"/>
              <a:t>java.util.concurrent</a:t>
            </a:r>
            <a:r>
              <a:rPr lang="en-US" dirty="0"/>
              <a:t>.*;</a:t>
            </a:r>
          </a:p>
          <a:p>
            <a:pPr eaLnBrk="1" hangingPunct="1">
              <a:defRPr/>
            </a:pPr>
            <a:r>
              <a:rPr lang="en-US" b="1" dirty="0"/>
              <a:t>public</a:t>
            </a:r>
            <a:r>
              <a:rPr lang="en-US" dirty="0"/>
              <a:t> </a:t>
            </a:r>
            <a:r>
              <a:rPr lang="en-US" b="1" dirty="0"/>
              <a:t>class</a:t>
            </a:r>
            <a:r>
              <a:rPr lang="en-US" dirty="0"/>
              <a:t> ThreadPool3 {</a:t>
            </a:r>
          </a:p>
          <a:p>
            <a:pPr eaLnBrk="1" hangingPunct="1">
              <a:defRPr/>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a:t>
            </a:r>
          </a:p>
          <a:p>
            <a:pPr eaLnBrk="1" hangingPunct="1">
              <a:defRPr/>
            </a:pPr>
            <a:r>
              <a:rPr lang="en-US" dirty="0"/>
              <a:t>	   </a:t>
            </a:r>
            <a:r>
              <a:rPr lang="en-US" b="1" dirty="0" err="1"/>
              <a:t>int</a:t>
            </a:r>
            <a:r>
              <a:rPr lang="en-US" dirty="0"/>
              <a:t> f[][] = </a:t>
            </a:r>
            <a:r>
              <a:rPr lang="en-US" b="1" dirty="0"/>
              <a:t>new</a:t>
            </a:r>
            <a:r>
              <a:rPr lang="en-US" dirty="0"/>
              <a:t> </a:t>
            </a:r>
            <a:r>
              <a:rPr lang="en-US" b="1" dirty="0" err="1"/>
              <a:t>int</a:t>
            </a:r>
            <a:r>
              <a:rPr lang="en-US" dirty="0"/>
              <a:t>[100][500];</a:t>
            </a:r>
          </a:p>
          <a:p>
            <a:pPr eaLnBrk="1" hangingPunct="1">
              <a:defRPr/>
            </a:pPr>
            <a:r>
              <a:rPr lang="en-US" dirty="0"/>
              <a:t>	   </a:t>
            </a:r>
            <a:r>
              <a:rPr lang="en-US" b="1" dirty="0" err="1"/>
              <a:t>int</a:t>
            </a:r>
            <a:r>
              <a:rPr lang="en-US" dirty="0"/>
              <a:t> </a:t>
            </a:r>
            <a:r>
              <a:rPr lang="en-US" dirty="0" err="1"/>
              <a:t>numProcessors</a:t>
            </a:r>
            <a:r>
              <a:rPr lang="en-US" dirty="0"/>
              <a:t> = </a:t>
            </a:r>
          </a:p>
          <a:p>
            <a:pPr eaLnBrk="1" hangingPunct="1">
              <a:defRPr/>
            </a:pPr>
            <a:r>
              <a:rPr lang="en-US" dirty="0"/>
              <a:t>         </a:t>
            </a:r>
            <a:r>
              <a:rPr lang="en-US" dirty="0" err="1"/>
              <a:t>Runtime.</a:t>
            </a:r>
            <a:r>
              <a:rPr lang="en-US" i="1" dirty="0" err="1"/>
              <a:t>getRuntime</a:t>
            </a:r>
            <a:r>
              <a:rPr lang="en-US" dirty="0"/>
              <a:t>().</a:t>
            </a:r>
            <a:r>
              <a:rPr lang="en-US" dirty="0" err="1"/>
              <a:t>availableProcessors</a:t>
            </a:r>
            <a:r>
              <a:rPr lang="en-US" dirty="0"/>
              <a:t>();</a:t>
            </a:r>
          </a:p>
          <a:p>
            <a:pPr eaLnBrk="1" hangingPunct="1">
              <a:defRPr/>
            </a:pPr>
            <a:r>
              <a:rPr lang="en-US" dirty="0"/>
              <a:t>	   </a:t>
            </a:r>
            <a:r>
              <a:rPr lang="en-US" dirty="0" err="1"/>
              <a:t>ExecutorService</a:t>
            </a:r>
            <a:r>
              <a:rPr lang="en-US" dirty="0"/>
              <a:t> pool;</a:t>
            </a:r>
          </a:p>
          <a:p>
            <a:pPr eaLnBrk="1" hangingPunct="1">
              <a:defRPr/>
            </a:pPr>
            <a:r>
              <a:rPr lang="en-US" dirty="0"/>
              <a:t>	   pool = </a:t>
            </a:r>
            <a:r>
              <a:rPr lang="en-US" dirty="0" err="1"/>
              <a:t>Executors.</a:t>
            </a:r>
            <a:r>
              <a:rPr lang="en-US" i="1" dirty="0" err="1"/>
              <a:t>newFixedThreadPool</a:t>
            </a:r>
            <a:r>
              <a:rPr lang="en-US" i="1" dirty="0"/>
              <a:t>						      </a:t>
            </a:r>
            <a:r>
              <a:rPr lang="en-US" dirty="0"/>
              <a:t>(</a:t>
            </a:r>
            <a:r>
              <a:rPr lang="en-US" dirty="0" err="1"/>
              <a:t>numProcessors</a:t>
            </a:r>
            <a:r>
              <a:rPr lang="en-US" dirty="0"/>
              <a:t>);</a:t>
            </a:r>
          </a:p>
          <a:p>
            <a:pPr eaLnBrk="1" hangingPunct="1">
              <a:defRPr/>
            </a:pPr>
            <a:r>
              <a:rPr lang="en-US" dirty="0"/>
              <a:t>	    Runnable r;</a:t>
            </a:r>
          </a:p>
          <a:p>
            <a:pPr eaLnBrk="1" hangingPunct="1">
              <a:defRPr/>
            </a:pPr>
            <a:r>
              <a:rPr lang="en-US" dirty="0"/>
              <a:t>		</a:t>
            </a:r>
          </a:p>
        </p:txBody>
      </p:sp>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68E83A8B-BFCE-4E58-A599-E72FFB8CE99D}" type="slidenum">
              <a:rPr lang="en-US"/>
              <a:p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endParaRPr lang="en-US"/>
          </a:p>
        </p:txBody>
      </p:sp>
      <p:sp>
        <p:nvSpPr>
          <p:cNvPr id="3" name="Content Placeholder 2"/>
          <p:cNvSpPr>
            <a:spLocks noGrp="1"/>
          </p:cNvSpPr>
          <p:nvPr>
            <p:ph idx="1"/>
          </p:nvPr>
        </p:nvSpPr>
        <p:spPr/>
        <p:txBody>
          <a:bodyPr/>
          <a:lstStyle/>
          <a:p>
            <a:pPr eaLnBrk="1" hangingPunct="1">
              <a:defRPr/>
            </a:pPr>
            <a:r>
              <a:rPr lang="en-US" b="1" dirty="0"/>
              <a:t>		for</a:t>
            </a:r>
            <a:r>
              <a:rPr lang="en-US" dirty="0"/>
              <a:t>(</a:t>
            </a:r>
            <a:r>
              <a:rPr lang="en-US" b="1" dirty="0" err="1"/>
              <a:t>int</a:t>
            </a:r>
            <a:r>
              <a:rPr lang="en-US" dirty="0"/>
              <a:t> j = 0; j &lt; </a:t>
            </a:r>
            <a:r>
              <a:rPr lang="en-US" dirty="0" err="1"/>
              <a:t>f.length</a:t>
            </a:r>
            <a:r>
              <a:rPr lang="en-US" dirty="0"/>
              <a:t> ; j++){</a:t>
            </a:r>
          </a:p>
          <a:p>
            <a:pPr eaLnBrk="1" hangingPunct="1">
              <a:defRPr/>
            </a:pPr>
            <a:r>
              <a:rPr lang="en-US" dirty="0"/>
              <a:t>		   r = </a:t>
            </a:r>
            <a:r>
              <a:rPr lang="en-US" b="1" dirty="0"/>
              <a:t>new</a:t>
            </a:r>
            <a:r>
              <a:rPr lang="en-US" dirty="0"/>
              <a:t> </a:t>
            </a:r>
            <a:r>
              <a:rPr lang="en-US" dirty="0" err="1"/>
              <a:t>Init</a:t>
            </a:r>
            <a:r>
              <a:rPr lang="en-US" dirty="0"/>
              <a:t>(</a:t>
            </a:r>
            <a:r>
              <a:rPr lang="en-US" dirty="0" err="1"/>
              <a:t>f,j</a:t>
            </a:r>
            <a:r>
              <a:rPr lang="en-US" dirty="0"/>
              <a:t>);</a:t>
            </a:r>
          </a:p>
          <a:p>
            <a:pPr eaLnBrk="1" hangingPunct="1">
              <a:defRPr/>
            </a:pPr>
            <a:r>
              <a:rPr lang="en-US" dirty="0"/>
              <a:t>		   </a:t>
            </a:r>
            <a:r>
              <a:rPr lang="en-US" dirty="0" err="1"/>
              <a:t>pool.submit</a:t>
            </a:r>
            <a:r>
              <a:rPr lang="en-US" dirty="0"/>
              <a:t>(r);</a:t>
            </a:r>
          </a:p>
          <a:p>
            <a:pPr eaLnBrk="1" hangingPunct="1">
              <a:defRPr/>
            </a:pPr>
            <a:r>
              <a:rPr lang="en-US" dirty="0"/>
              <a:t>		}</a:t>
            </a:r>
          </a:p>
          <a:p>
            <a:pPr eaLnBrk="1" hangingPunct="1">
              <a:defRPr/>
            </a:pPr>
            <a:r>
              <a:rPr lang="en-US" dirty="0"/>
              <a:t>		</a:t>
            </a:r>
            <a:r>
              <a:rPr lang="en-US" b="1" dirty="0"/>
              <a:t>try</a:t>
            </a:r>
            <a:r>
              <a:rPr lang="en-US" dirty="0"/>
              <a:t>{</a:t>
            </a:r>
          </a:p>
          <a:p>
            <a:pPr eaLnBrk="1" hangingPunct="1">
              <a:defRPr/>
            </a:pPr>
            <a:r>
              <a:rPr lang="en-US" dirty="0"/>
              <a:t>		  </a:t>
            </a:r>
            <a:r>
              <a:rPr lang="en-US" dirty="0" err="1"/>
              <a:t>pool.shutdown</a:t>
            </a:r>
            <a:r>
              <a:rPr lang="en-US" dirty="0"/>
              <a:t>();</a:t>
            </a:r>
          </a:p>
          <a:p>
            <a:pPr eaLnBrk="1" hangingPunct="1">
              <a:defRPr/>
            </a:pPr>
            <a:r>
              <a:rPr lang="en-US" dirty="0"/>
              <a:t>		  </a:t>
            </a:r>
            <a:r>
              <a:rPr lang="en-US" dirty="0" err="1"/>
              <a:t>pool.awaitTermination</a:t>
            </a:r>
            <a:r>
              <a:rPr lang="en-US" dirty="0"/>
              <a:t>(1000L, 						</a:t>
            </a:r>
            <a:r>
              <a:rPr lang="en-US" dirty="0" err="1"/>
              <a:t>TimeUnit.</a:t>
            </a:r>
            <a:r>
              <a:rPr lang="en-US" i="1" dirty="0" err="1"/>
              <a:t>SECONDS</a:t>
            </a:r>
            <a:r>
              <a:rPr lang="en-US" dirty="0"/>
              <a:t>);</a:t>
            </a:r>
          </a:p>
          <a:p>
            <a:pPr eaLnBrk="1" hangingPunct="1">
              <a:defRPr/>
            </a:pPr>
            <a:r>
              <a:rPr lang="en-US" dirty="0"/>
              <a:t>		}</a:t>
            </a:r>
          </a:p>
          <a:p>
            <a:pPr eaLnBrk="1" hangingPunct="1">
              <a:defRPr/>
            </a:pPr>
            <a:r>
              <a:rPr lang="en-US" dirty="0"/>
              <a:t>		</a:t>
            </a:r>
            <a:r>
              <a:rPr lang="en-US" b="1" dirty="0"/>
              <a:t>catch</a:t>
            </a:r>
            <a:r>
              <a:rPr lang="en-US" dirty="0"/>
              <a:t>(</a:t>
            </a:r>
            <a:r>
              <a:rPr lang="en-US" dirty="0" err="1"/>
              <a:t>InterruptedException</a:t>
            </a:r>
            <a:r>
              <a:rPr lang="en-US" dirty="0"/>
              <a:t> e){}</a:t>
            </a:r>
          </a:p>
          <a:p>
            <a:pPr eaLnBrk="1" hangingPunct="1">
              <a:defRPr/>
            </a:pPr>
            <a:r>
              <a:rPr lang="en-US" dirty="0"/>
              <a:t>                     </a:t>
            </a:r>
          </a:p>
        </p:txBody>
      </p:sp>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6EBF3858-E3FB-4EB4-804E-DDF6EE3B789D}" type="slidenum">
              <a:rPr lang="en-US"/>
              <a:pPr/>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endParaRPr lang="en-US"/>
          </a:p>
        </p:txBody>
      </p:sp>
      <p:sp>
        <p:nvSpPr>
          <p:cNvPr id="3" name="Content Placeholder 2"/>
          <p:cNvSpPr>
            <a:spLocks noGrp="1"/>
          </p:cNvSpPr>
          <p:nvPr>
            <p:ph idx="1"/>
          </p:nvPr>
        </p:nvSpPr>
        <p:spPr/>
        <p:txBody>
          <a:bodyPr/>
          <a:lstStyle/>
          <a:p>
            <a:pPr eaLnBrk="1" hangingPunct="1">
              <a:defRPr/>
            </a:pPr>
            <a:r>
              <a:rPr lang="en-US" dirty="0"/>
              <a:t> 		// output result</a:t>
            </a:r>
          </a:p>
          <a:p>
            <a:pPr eaLnBrk="1" hangingPunct="1">
              <a:defRPr/>
            </a:pPr>
            <a:r>
              <a:rPr lang="en-US" dirty="0"/>
              <a:t>		</a:t>
            </a:r>
            <a:r>
              <a:rPr lang="en-US" b="1" dirty="0"/>
              <a:t>for</a:t>
            </a:r>
            <a:r>
              <a:rPr lang="en-US" dirty="0"/>
              <a:t>(</a:t>
            </a:r>
            <a:r>
              <a:rPr lang="en-US" b="1" dirty="0" err="1"/>
              <a:t>int</a:t>
            </a:r>
            <a:r>
              <a:rPr lang="en-US" dirty="0"/>
              <a:t> </a:t>
            </a:r>
            <a:r>
              <a:rPr lang="en-US" dirty="0" err="1"/>
              <a:t>i</a:t>
            </a:r>
            <a:r>
              <a:rPr lang="en-US" dirty="0"/>
              <a:t> = 0; </a:t>
            </a:r>
            <a:r>
              <a:rPr lang="en-US" dirty="0" err="1"/>
              <a:t>i</a:t>
            </a:r>
            <a:r>
              <a:rPr lang="en-US" dirty="0"/>
              <a:t> &lt; </a:t>
            </a:r>
            <a:r>
              <a:rPr lang="en-US" dirty="0" err="1"/>
              <a:t>f.length</a:t>
            </a:r>
            <a:r>
              <a:rPr lang="en-US" dirty="0"/>
              <a:t>; </a:t>
            </a:r>
            <a:r>
              <a:rPr lang="en-US" dirty="0" err="1"/>
              <a:t>i</a:t>
            </a:r>
            <a:r>
              <a:rPr lang="en-US" dirty="0"/>
              <a:t>++){</a:t>
            </a:r>
          </a:p>
          <a:p>
            <a:pPr eaLnBrk="1" hangingPunct="1">
              <a:defRPr/>
            </a:pPr>
            <a:r>
              <a:rPr lang="en-US" dirty="0"/>
              <a:t>		   </a:t>
            </a:r>
            <a:r>
              <a:rPr lang="en-US" b="1" dirty="0"/>
              <a:t>for</a:t>
            </a:r>
            <a:r>
              <a:rPr lang="en-US" dirty="0"/>
              <a:t>(</a:t>
            </a:r>
            <a:r>
              <a:rPr lang="en-US" b="1" dirty="0" err="1"/>
              <a:t>int</a:t>
            </a:r>
            <a:r>
              <a:rPr lang="en-US" dirty="0"/>
              <a:t> j = 0;j &lt; f[0].length; j++)</a:t>
            </a:r>
          </a:p>
          <a:p>
            <a:pPr eaLnBrk="1" hangingPunct="1">
              <a:defRPr/>
            </a:pPr>
            <a:r>
              <a:rPr lang="en-US" dirty="0"/>
              <a:t>			</a:t>
            </a:r>
            <a:r>
              <a:rPr lang="en-US" dirty="0" err="1"/>
              <a:t>System.</a:t>
            </a:r>
            <a:r>
              <a:rPr lang="en-US" i="1" dirty="0" err="1"/>
              <a:t>out</a:t>
            </a:r>
            <a:r>
              <a:rPr lang="en-US" dirty="0" err="1"/>
              <a:t>.printf</a:t>
            </a:r>
            <a:r>
              <a:rPr lang="en-US" dirty="0"/>
              <a:t>("%3d",f[</a:t>
            </a:r>
            <a:r>
              <a:rPr lang="en-US" dirty="0" err="1"/>
              <a:t>i</a:t>
            </a:r>
            <a:r>
              <a:rPr lang="en-US" dirty="0"/>
              <a:t>][j]);</a:t>
            </a:r>
          </a:p>
          <a:p>
            <a:pPr eaLnBrk="1" hangingPunct="1">
              <a:defRPr/>
            </a:pPr>
            <a:r>
              <a:rPr lang="en-US" dirty="0"/>
              <a:t>		   </a:t>
            </a:r>
            <a:r>
              <a:rPr lang="en-US" dirty="0" err="1"/>
              <a:t>System.</a:t>
            </a:r>
            <a:r>
              <a:rPr lang="en-US" i="1" dirty="0" err="1"/>
              <a:t>out</a:t>
            </a:r>
            <a:r>
              <a:rPr lang="en-US" dirty="0" err="1"/>
              <a:t>.println</a:t>
            </a:r>
            <a:r>
              <a:rPr lang="en-US" dirty="0"/>
              <a:t>();</a:t>
            </a:r>
          </a:p>
          <a:p>
            <a:pPr eaLnBrk="1" hangingPunct="1">
              <a:defRPr/>
            </a:pPr>
            <a:r>
              <a:rPr lang="en-US" dirty="0"/>
              <a:t>		}</a:t>
            </a:r>
          </a:p>
          <a:p>
            <a:pPr eaLnBrk="1" hangingPunct="1">
              <a:defRPr/>
            </a:pPr>
            <a:r>
              <a:rPr lang="en-US" dirty="0"/>
              <a:t>	}</a:t>
            </a:r>
          </a:p>
          <a:p>
            <a:pPr eaLnBrk="1" hangingPunct="1">
              <a:defRPr/>
            </a:pPr>
            <a:r>
              <a:rPr lang="en-US" dirty="0"/>
              <a:t>}</a:t>
            </a:r>
          </a:p>
          <a:p>
            <a:pPr eaLnBrk="1" hangingPunct="1">
              <a:defRPr/>
            </a:pPr>
            <a:endParaRPr lang="en-US" dirty="0"/>
          </a:p>
          <a:p>
            <a:pPr eaLnBrk="1" hangingPunct="1">
              <a:defRPr/>
            </a:pPr>
            <a:endParaRPr lang="en-US" dirty="0"/>
          </a:p>
        </p:txBody>
      </p:sp>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DB098A24-B054-4DE8-BD24-A3377E21B861}" type="slidenum">
              <a:rPr lang="en-US"/>
              <a:pPr/>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endParaRPr lang="en-US"/>
          </a:p>
        </p:txBody>
      </p:sp>
      <p:sp>
        <p:nvSpPr>
          <p:cNvPr id="3" name="Content Placeholder 2"/>
          <p:cNvSpPr>
            <a:spLocks noGrp="1"/>
          </p:cNvSpPr>
          <p:nvPr>
            <p:ph idx="1"/>
          </p:nvPr>
        </p:nvSpPr>
        <p:spPr>
          <a:xfrm>
            <a:off x="395288" y="692150"/>
            <a:ext cx="8229600" cy="5462588"/>
          </a:xfrm>
        </p:spPr>
        <p:txBody>
          <a:bodyPr/>
          <a:lstStyle/>
          <a:p>
            <a:pPr eaLnBrk="1" hangingPunct="1">
              <a:defRPr/>
            </a:pPr>
            <a:r>
              <a:rPr lang="en-US" b="1" dirty="0"/>
              <a:t>class</a:t>
            </a:r>
            <a:r>
              <a:rPr lang="en-US" dirty="0"/>
              <a:t> </a:t>
            </a:r>
            <a:r>
              <a:rPr lang="en-US" dirty="0" err="1"/>
              <a:t>Init</a:t>
            </a:r>
            <a:r>
              <a:rPr lang="en-US" dirty="0"/>
              <a:t> </a:t>
            </a:r>
            <a:r>
              <a:rPr lang="en-US" b="1" dirty="0"/>
              <a:t>implements</a:t>
            </a:r>
            <a:r>
              <a:rPr lang="en-US" dirty="0"/>
              <a:t> Runnable{</a:t>
            </a:r>
          </a:p>
          <a:p>
            <a:pPr eaLnBrk="1" hangingPunct="1">
              <a:defRPr/>
            </a:pPr>
            <a:r>
              <a:rPr lang="en-US" dirty="0"/>
              <a:t>  </a:t>
            </a:r>
            <a:r>
              <a:rPr lang="en-US" b="1" dirty="0" err="1"/>
              <a:t>int</a:t>
            </a:r>
            <a:r>
              <a:rPr lang="en-US" dirty="0"/>
              <a:t> </a:t>
            </a:r>
            <a:r>
              <a:rPr lang="en-US" dirty="0" err="1"/>
              <a:t>ff</a:t>
            </a:r>
            <a:r>
              <a:rPr lang="en-US" dirty="0"/>
              <a:t>[][];</a:t>
            </a:r>
          </a:p>
          <a:p>
            <a:pPr eaLnBrk="1" hangingPunct="1">
              <a:defRPr/>
            </a:pPr>
            <a:r>
              <a:rPr lang="en-US" dirty="0"/>
              <a:t>  </a:t>
            </a:r>
            <a:r>
              <a:rPr lang="en-US" b="1" dirty="0" err="1"/>
              <a:t>int</a:t>
            </a:r>
            <a:r>
              <a:rPr lang="en-US" dirty="0"/>
              <a:t> row;</a:t>
            </a:r>
          </a:p>
          <a:p>
            <a:pPr eaLnBrk="1" hangingPunct="1">
              <a:defRPr/>
            </a:pPr>
            <a:r>
              <a:rPr lang="en-US" dirty="0"/>
              <a:t>  </a:t>
            </a:r>
            <a:r>
              <a:rPr lang="en-US" b="1" dirty="0"/>
              <a:t>public</a:t>
            </a:r>
            <a:r>
              <a:rPr lang="en-US" dirty="0"/>
              <a:t> </a:t>
            </a:r>
            <a:r>
              <a:rPr lang="en-US" dirty="0" err="1"/>
              <a:t>Init</a:t>
            </a:r>
            <a:r>
              <a:rPr lang="en-US" dirty="0"/>
              <a:t>(</a:t>
            </a:r>
            <a:r>
              <a:rPr lang="en-US" b="1" dirty="0" err="1"/>
              <a:t>int</a:t>
            </a:r>
            <a:r>
              <a:rPr lang="en-US" dirty="0"/>
              <a:t> f1[][],</a:t>
            </a:r>
            <a:r>
              <a:rPr lang="en-US" b="1" dirty="0" err="1"/>
              <a:t>int</a:t>
            </a:r>
            <a:r>
              <a:rPr lang="en-US" dirty="0"/>
              <a:t> </a:t>
            </a:r>
            <a:r>
              <a:rPr lang="en-US" dirty="0" err="1"/>
              <a:t>rr</a:t>
            </a:r>
            <a:r>
              <a:rPr lang="en-US" dirty="0"/>
              <a:t>){</a:t>
            </a:r>
          </a:p>
          <a:p>
            <a:pPr eaLnBrk="1" hangingPunct="1">
              <a:defRPr/>
            </a:pPr>
            <a:r>
              <a:rPr lang="en-US" dirty="0"/>
              <a:t>	 </a:t>
            </a:r>
            <a:r>
              <a:rPr lang="en-US" dirty="0" err="1"/>
              <a:t>ff</a:t>
            </a:r>
            <a:r>
              <a:rPr lang="en-US" dirty="0"/>
              <a:t> = f1; row = </a:t>
            </a:r>
            <a:r>
              <a:rPr lang="en-US" dirty="0" err="1"/>
              <a:t>rr</a:t>
            </a:r>
            <a:r>
              <a:rPr lang="en-US" dirty="0"/>
              <a:t>;</a:t>
            </a:r>
          </a:p>
          <a:p>
            <a:pPr eaLnBrk="1" hangingPunct="1">
              <a:defRPr/>
            </a:pPr>
            <a:r>
              <a:rPr lang="en-US" dirty="0"/>
              <a:t>  }</a:t>
            </a:r>
          </a:p>
          <a:p>
            <a:pPr eaLnBrk="1" hangingPunct="1">
              <a:defRPr/>
            </a:pPr>
            <a:r>
              <a:rPr lang="en-US" dirty="0"/>
              <a:t>  </a:t>
            </a:r>
            <a:r>
              <a:rPr lang="en-US" b="1" dirty="0"/>
              <a:t>public</a:t>
            </a:r>
            <a:r>
              <a:rPr lang="en-US" dirty="0"/>
              <a:t> </a:t>
            </a:r>
            <a:r>
              <a:rPr lang="en-US" b="1" dirty="0"/>
              <a:t>void</a:t>
            </a:r>
            <a:r>
              <a:rPr lang="en-US" dirty="0"/>
              <a:t> run(){</a:t>
            </a:r>
          </a:p>
          <a:p>
            <a:pPr eaLnBrk="1" hangingPunct="1">
              <a:defRPr/>
            </a:pPr>
            <a:r>
              <a:rPr lang="en-US" dirty="0"/>
              <a:t>	</a:t>
            </a:r>
            <a:r>
              <a:rPr lang="en-US" b="1" dirty="0"/>
              <a:t>for</a:t>
            </a:r>
            <a:r>
              <a:rPr lang="en-US" dirty="0"/>
              <a:t>(</a:t>
            </a:r>
            <a:r>
              <a:rPr lang="en-US" b="1" dirty="0" err="1"/>
              <a:t>int</a:t>
            </a:r>
            <a:r>
              <a:rPr lang="en-US" dirty="0"/>
              <a:t> </a:t>
            </a:r>
            <a:r>
              <a:rPr lang="en-US" dirty="0" err="1"/>
              <a:t>i</a:t>
            </a:r>
            <a:r>
              <a:rPr lang="en-US" dirty="0"/>
              <a:t> = 0; </a:t>
            </a:r>
            <a:r>
              <a:rPr lang="en-US" dirty="0" err="1"/>
              <a:t>i</a:t>
            </a:r>
            <a:r>
              <a:rPr lang="en-US" dirty="0"/>
              <a:t> &lt; </a:t>
            </a:r>
            <a:r>
              <a:rPr lang="en-US" dirty="0" err="1"/>
              <a:t>ff</a:t>
            </a:r>
            <a:r>
              <a:rPr lang="en-US" dirty="0"/>
              <a:t>[0].length; </a:t>
            </a:r>
            <a:r>
              <a:rPr lang="en-US" dirty="0" err="1"/>
              <a:t>i</a:t>
            </a:r>
            <a:r>
              <a:rPr lang="en-US" dirty="0"/>
              <a:t>++)</a:t>
            </a:r>
          </a:p>
          <a:p>
            <a:pPr eaLnBrk="1" hangingPunct="1">
              <a:defRPr/>
            </a:pPr>
            <a:r>
              <a:rPr lang="en-US" dirty="0"/>
              <a:t>	  </a:t>
            </a:r>
            <a:r>
              <a:rPr lang="en-US" dirty="0" err="1"/>
              <a:t>ff</a:t>
            </a:r>
            <a:r>
              <a:rPr lang="en-US" dirty="0"/>
              <a:t>[row][</a:t>
            </a:r>
            <a:r>
              <a:rPr lang="en-US" dirty="0" err="1"/>
              <a:t>i</a:t>
            </a:r>
            <a:r>
              <a:rPr lang="en-US" dirty="0"/>
              <a:t>] = (</a:t>
            </a:r>
            <a:r>
              <a:rPr lang="en-US" b="1" dirty="0" err="1"/>
              <a:t>int</a:t>
            </a:r>
            <a:r>
              <a:rPr lang="en-US" dirty="0"/>
              <a:t>)(</a:t>
            </a:r>
            <a:r>
              <a:rPr lang="en-US" dirty="0" err="1"/>
              <a:t>Math.</a:t>
            </a:r>
            <a:r>
              <a:rPr lang="en-US" i="1" dirty="0" err="1"/>
              <a:t>random</a:t>
            </a:r>
            <a:r>
              <a:rPr lang="en-US" dirty="0"/>
              <a:t>()*100);	</a:t>
            </a:r>
          </a:p>
          <a:p>
            <a:pPr eaLnBrk="1" hangingPunct="1">
              <a:defRPr/>
            </a:pPr>
            <a:r>
              <a:rPr lang="en-US" dirty="0"/>
              <a:t>  }}</a:t>
            </a:r>
          </a:p>
          <a:p>
            <a:pPr eaLnBrk="1" hangingPunct="1">
              <a:defRPr/>
            </a:pPr>
            <a:endParaRPr lang="en-US" dirty="0"/>
          </a:p>
        </p:txBody>
      </p:sp>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27979528-B6F6-4B34-B5C1-AC2B9297A757}" type="slidenum">
              <a:rPr lang="en-US"/>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CAACE1A2-96BE-435E-9AFA-18B7030C41BF}" type="slidenum">
              <a:rPr lang="en-US"/>
              <a:pPr/>
              <a:t>61</a:t>
            </a:fld>
            <a:endParaRPr lang="en-US"/>
          </a:p>
        </p:txBody>
      </p:sp>
      <p:sp>
        <p:nvSpPr>
          <p:cNvPr id="74754" name="Rectangle 2"/>
          <p:cNvSpPr>
            <a:spLocks noGrp="1" noChangeArrowheads="1"/>
          </p:cNvSpPr>
          <p:nvPr>
            <p:ph type="title"/>
          </p:nvPr>
        </p:nvSpPr>
        <p:spPr/>
        <p:txBody>
          <a:bodyPr/>
          <a:lstStyle/>
          <a:p>
            <a:pPr eaLnBrk="1" hangingPunct="1">
              <a:defRPr/>
            </a:pPr>
            <a:r>
              <a:rPr lang="en-GB"/>
              <a:t>Example 3</a:t>
            </a:r>
            <a:endParaRPr lang="en-US"/>
          </a:p>
        </p:txBody>
      </p:sp>
      <p:sp>
        <p:nvSpPr>
          <p:cNvPr id="74755" name="Rectangle 3"/>
          <p:cNvSpPr>
            <a:spLocks noGrp="1" noChangeArrowheads="1"/>
          </p:cNvSpPr>
          <p:nvPr>
            <p:ph type="body" idx="1"/>
          </p:nvPr>
        </p:nvSpPr>
        <p:spPr>
          <a:xfrm>
            <a:off x="457200" y="1125538"/>
            <a:ext cx="8229600" cy="5000625"/>
          </a:xfrm>
        </p:spPr>
        <p:txBody>
          <a:bodyPr/>
          <a:lstStyle/>
          <a:p>
            <a:pPr eaLnBrk="1" hangingPunct="1">
              <a:defRPr/>
            </a:pPr>
            <a:r>
              <a:rPr lang="en-US" sz="2000"/>
              <a:t>	In this example we illustrate how to use the </a:t>
            </a:r>
            <a:r>
              <a:rPr lang="en-US" sz="2000" b="1">
                <a:latin typeface="Comic Sans MS" charset="0"/>
              </a:rPr>
              <a:t>Callable</a:t>
            </a:r>
            <a:r>
              <a:rPr lang="en-US" sz="2000"/>
              <a:t> interface to </a:t>
            </a:r>
          </a:p>
          <a:p>
            <a:pPr eaLnBrk="1" hangingPunct="1">
              <a:defRPr/>
            </a:pPr>
            <a:r>
              <a:rPr lang="en-US" sz="2000"/>
              <a:t>	execute asynchronous functions.</a:t>
            </a:r>
          </a:p>
          <a:p>
            <a:pPr eaLnBrk="1" hangingPunct="1">
              <a:defRPr/>
            </a:pPr>
            <a:endParaRPr lang="en-US" sz="2000"/>
          </a:p>
          <a:p>
            <a:pPr eaLnBrk="1" hangingPunct="1">
              <a:defRPr/>
            </a:pPr>
            <a:r>
              <a:rPr lang="en-US" sz="2000"/>
              <a:t>	</a:t>
            </a:r>
            <a:r>
              <a:rPr lang="en-US" sz="2000">
                <a:latin typeface="Comic Sans MS" charset="0"/>
              </a:rPr>
              <a:t>public interface Callable&lt;V&gt;</a:t>
            </a:r>
          </a:p>
          <a:p>
            <a:pPr eaLnBrk="1" hangingPunct="1">
              <a:defRPr/>
            </a:pPr>
            <a:endParaRPr lang="en-US" sz="2000"/>
          </a:p>
          <a:p>
            <a:pPr eaLnBrk="1" hangingPunct="1">
              <a:defRPr/>
            </a:pPr>
            <a:r>
              <a:rPr lang="en-US" sz="2000"/>
              <a:t>	A callable task is one that returns a result and may throw an exception. Implementors define a single method with no arguments called </a:t>
            </a:r>
            <a:r>
              <a:rPr lang="en-US" sz="2000">
                <a:latin typeface="Comic Sans MS" charset="0"/>
              </a:rPr>
              <a:t>call</a:t>
            </a:r>
            <a:r>
              <a:rPr lang="en-US" sz="2000"/>
              <a:t>. </a:t>
            </a:r>
          </a:p>
          <a:p>
            <a:pPr eaLnBrk="1" hangingPunct="1">
              <a:defRPr/>
            </a:pPr>
            <a:r>
              <a:rPr lang="en-US" sz="2000"/>
              <a:t>	</a:t>
            </a:r>
          </a:p>
          <a:p>
            <a:pPr eaLnBrk="1" hangingPunct="1">
              <a:defRPr/>
            </a:pPr>
            <a:r>
              <a:rPr lang="en-US" sz="2000"/>
              <a:t>     The </a:t>
            </a:r>
            <a:r>
              <a:rPr lang="en-US" sz="2000">
                <a:latin typeface="Comic Sans MS" charset="0"/>
              </a:rPr>
              <a:t>Callable</a:t>
            </a:r>
            <a:r>
              <a:rPr lang="en-US" sz="2000"/>
              <a:t> interface is similar to </a:t>
            </a:r>
            <a:r>
              <a:rPr lang="en-US" sz="2000">
                <a:latin typeface="Comic Sans MS" charset="0"/>
                <a:hlinkClick r:id="rId2" action="ppaction://hlinkfile" tooltip="interface in java.lang"/>
              </a:rPr>
              <a:t>Runnable</a:t>
            </a:r>
            <a:r>
              <a:rPr lang="en-US" sz="2000"/>
              <a:t>, in that both are designed for classes whose instances are potentially executed by another thread. A </a:t>
            </a:r>
            <a:r>
              <a:rPr lang="en-US" sz="2000">
                <a:latin typeface="Comic Sans MS" charset="0"/>
              </a:rPr>
              <a:t>Runnable class</a:t>
            </a:r>
            <a:r>
              <a:rPr lang="en-US" sz="2000"/>
              <a:t>, however, does not return a result and cannot throw a checked exception. </a:t>
            </a:r>
          </a:p>
          <a:p>
            <a:pPr eaLnBrk="1" hangingPunct="1">
              <a:defRPr/>
            </a:pPr>
            <a:endParaRPr lang="en-US" sz="20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8746A70B-8FB6-4358-864E-CC82E79DAF2E}" type="slidenum">
              <a:rPr lang="en-US"/>
              <a:pPr/>
              <a:t>62</a:t>
            </a:fld>
            <a:endParaRPr lang="en-US"/>
          </a:p>
        </p:txBody>
      </p:sp>
      <p:sp>
        <p:nvSpPr>
          <p:cNvPr id="75778" name="Rectangle 2"/>
          <p:cNvSpPr>
            <a:spLocks noGrp="1" noChangeArrowheads="1"/>
          </p:cNvSpPr>
          <p:nvPr>
            <p:ph type="title"/>
          </p:nvPr>
        </p:nvSpPr>
        <p:spPr>
          <a:xfrm>
            <a:off x="539750" y="260350"/>
            <a:ext cx="8229600" cy="73025"/>
          </a:xfrm>
        </p:spPr>
        <p:txBody>
          <a:bodyPr/>
          <a:lstStyle/>
          <a:p>
            <a:pPr eaLnBrk="1" hangingPunct="1">
              <a:defRPr/>
            </a:pPr>
            <a:endParaRPr lang="en-US" sz="2800"/>
          </a:p>
        </p:txBody>
      </p:sp>
      <p:sp>
        <p:nvSpPr>
          <p:cNvPr id="75779" name="Rectangle 3"/>
          <p:cNvSpPr>
            <a:spLocks noGrp="1" noChangeArrowheads="1"/>
          </p:cNvSpPr>
          <p:nvPr>
            <p:ph type="body" idx="1"/>
          </p:nvPr>
        </p:nvSpPr>
        <p:spPr>
          <a:xfrm>
            <a:off x="468313" y="1052513"/>
            <a:ext cx="8229600" cy="4525962"/>
          </a:xfrm>
        </p:spPr>
        <p:txBody>
          <a:bodyPr/>
          <a:lstStyle/>
          <a:p>
            <a:pPr eaLnBrk="1" hangingPunct="1">
              <a:defRPr/>
            </a:pPr>
            <a:r>
              <a:rPr lang="en-US">
                <a:latin typeface="Comic Sans MS" charset="0"/>
              </a:rPr>
              <a:t>	E call()</a:t>
            </a:r>
          </a:p>
          <a:p>
            <a:pPr eaLnBrk="1" hangingPunct="1">
              <a:defRPr/>
            </a:pPr>
            <a:r>
              <a:rPr lang="en-US">
                <a:latin typeface="Comic Sans MS" charset="0"/>
              </a:rPr>
              <a:t>       throws </a:t>
            </a:r>
            <a:r>
              <a:rPr lang="en-US">
                <a:latin typeface="Comic Sans MS" charset="0"/>
                <a:hlinkClick r:id="rId2" action="ppaction://hlinkfile" tooltip="class in java.lang"/>
              </a:rPr>
              <a:t>Exception</a:t>
            </a:r>
            <a:endParaRPr lang="en-US">
              <a:latin typeface="Comic Sans MS" charset="0"/>
            </a:endParaRPr>
          </a:p>
          <a:p>
            <a:pPr eaLnBrk="1" hangingPunct="1">
              <a:defRPr/>
            </a:pPr>
            <a:r>
              <a:rPr lang="en-US"/>
              <a:t>	</a:t>
            </a:r>
          </a:p>
          <a:p>
            <a:pPr eaLnBrk="1" hangingPunct="1">
              <a:defRPr/>
            </a:pPr>
            <a:r>
              <a:rPr lang="en-US"/>
              <a:t>	Computes a result, or throws an exception if unable to do so. </a:t>
            </a:r>
          </a:p>
          <a:p>
            <a:pPr eaLnBrk="1" hangingPunct="1">
              <a:defRPr/>
            </a:pPr>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CA7F1300-D1A4-4C81-994C-60385DF1F122}" type="slidenum">
              <a:rPr lang="en-US"/>
              <a:pPr/>
              <a:t>63</a:t>
            </a:fld>
            <a:endParaRPr lang="en-US"/>
          </a:p>
        </p:txBody>
      </p:sp>
      <p:sp>
        <p:nvSpPr>
          <p:cNvPr id="77826" name="Rectangle 2"/>
          <p:cNvSpPr>
            <a:spLocks noGrp="1" noChangeArrowheads="1"/>
          </p:cNvSpPr>
          <p:nvPr>
            <p:ph type="title"/>
          </p:nvPr>
        </p:nvSpPr>
        <p:spPr>
          <a:xfrm>
            <a:off x="539750" y="260350"/>
            <a:ext cx="8229600" cy="73025"/>
          </a:xfrm>
        </p:spPr>
        <p:txBody>
          <a:bodyPr/>
          <a:lstStyle/>
          <a:p>
            <a:pPr eaLnBrk="1" hangingPunct="1">
              <a:defRPr/>
            </a:pPr>
            <a:endParaRPr lang="en-US" sz="2800"/>
          </a:p>
        </p:txBody>
      </p:sp>
      <p:sp>
        <p:nvSpPr>
          <p:cNvPr id="77827" name="Rectangle 3"/>
          <p:cNvSpPr>
            <a:spLocks noGrp="1" noChangeArrowheads="1"/>
          </p:cNvSpPr>
          <p:nvPr>
            <p:ph type="body" idx="1"/>
          </p:nvPr>
        </p:nvSpPr>
        <p:spPr>
          <a:xfrm>
            <a:off x="457200" y="620713"/>
            <a:ext cx="8229600" cy="5505450"/>
          </a:xfrm>
        </p:spPr>
        <p:txBody>
          <a:bodyPr/>
          <a:lstStyle/>
          <a:p>
            <a:pPr eaLnBrk="1" hangingPunct="1">
              <a:defRPr/>
            </a:pPr>
            <a:r>
              <a:rPr lang="en-US"/>
              <a:t>	We create a class </a:t>
            </a:r>
            <a:r>
              <a:rPr lang="en-US">
                <a:latin typeface="Comic Sans MS" charset="0"/>
              </a:rPr>
              <a:t>Square</a:t>
            </a:r>
            <a:r>
              <a:rPr lang="en-US"/>
              <a:t> that implements the </a:t>
            </a:r>
            <a:r>
              <a:rPr lang="en-US">
                <a:latin typeface="Comic Sans MS" charset="0"/>
              </a:rPr>
              <a:t>Callable</a:t>
            </a:r>
            <a:r>
              <a:rPr lang="en-US"/>
              <a:t> interface. The class has a single method </a:t>
            </a:r>
            <a:r>
              <a:rPr lang="en-US">
                <a:latin typeface="Comic Sans MS" charset="0"/>
              </a:rPr>
              <a:t>call</a:t>
            </a:r>
            <a:r>
              <a:rPr lang="en-US"/>
              <a:t> that calculates the result and returns it.</a:t>
            </a:r>
          </a:p>
          <a:p>
            <a:pPr eaLnBrk="1" hangingPunct="1">
              <a:defRPr/>
            </a:pPr>
            <a:endParaRPr lang="en-US"/>
          </a:p>
          <a:p>
            <a:pPr eaLnBrk="1" hangingPunct="1">
              <a:defRPr/>
            </a:pPr>
            <a:r>
              <a:rPr lang="en-US"/>
              <a:t>	 A pool of two threads is created and and a data array is used to hold the elements whose square must be calculated. </a:t>
            </a:r>
          </a:p>
          <a:p>
            <a:pPr eaLnBrk="1" hangingPunct="1">
              <a:defRPr/>
            </a:pPr>
            <a:endParaRPr lang="en-US"/>
          </a:p>
          <a:p>
            <a:pPr eaLnBrk="1" hangingPunct="1">
              <a:defRPr/>
            </a:pPr>
            <a:r>
              <a:rPr lang="en-US"/>
              <a:t>	The </a:t>
            </a:r>
            <a:r>
              <a:rPr lang="en-US">
                <a:latin typeface="Comic Sans MS" charset="0"/>
              </a:rPr>
              <a:t>get</a:t>
            </a:r>
            <a:r>
              <a:rPr lang="en-US"/>
              <a:t> method from the class Future is used to retrieve the result of the invocation of call by the worker thread.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242FE6AE-FB19-492C-9877-56A60721D342}" type="slidenum">
              <a:rPr lang="en-US"/>
              <a:pPr/>
              <a:t>64</a:t>
            </a:fld>
            <a:endParaRPr lang="en-US"/>
          </a:p>
        </p:txBody>
      </p:sp>
      <p:sp>
        <p:nvSpPr>
          <p:cNvPr id="76802" name="Rectangle 2"/>
          <p:cNvSpPr>
            <a:spLocks noGrp="1" noChangeArrowheads="1"/>
          </p:cNvSpPr>
          <p:nvPr>
            <p:ph type="title"/>
          </p:nvPr>
        </p:nvSpPr>
        <p:spPr>
          <a:xfrm>
            <a:off x="539750" y="260350"/>
            <a:ext cx="8229600" cy="144463"/>
          </a:xfrm>
        </p:spPr>
        <p:txBody>
          <a:bodyPr/>
          <a:lstStyle/>
          <a:p>
            <a:pPr eaLnBrk="1" hangingPunct="1">
              <a:defRPr/>
            </a:pPr>
            <a:endParaRPr lang="en-US" sz="2800"/>
          </a:p>
        </p:txBody>
      </p:sp>
      <p:sp>
        <p:nvSpPr>
          <p:cNvPr id="76803" name="Rectangle 3"/>
          <p:cNvSpPr>
            <a:spLocks noGrp="1" noChangeArrowheads="1"/>
          </p:cNvSpPr>
          <p:nvPr>
            <p:ph type="body" idx="1"/>
          </p:nvPr>
        </p:nvSpPr>
        <p:spPr>
          <a:xfrm>
            <a:off x="457200" y="404813"/>
            <a:ext cx="8229600" cy="5721350"/>
          </a:xfrm>
        </p:spPr>
        <p:txBody>
          <a:bodyPr/>
          <a:lstStyle/>
          <a:p>
            <a:pPr eaLnBrk="1" hangingPunct="1">
              <a:defRPr/>
            </a:pPr>
            <a:endParaRPr lang="en-US">
              <a:latin typeface="Comic Sans MS" charset="0"/>
            </a:endParaRPr>
          </a:p>
          <a:p>
            <a:pPr eaLnBrk="1" hangingPunct="1">
              <a:defRPr/>
            </a:pPr>
            <a:r>
              <a:rPr lang="en-US">
                <a:latin typeface="Comic Sans MS" charset="0"/>
              </a:rPr>
              <a:t>class Square implements Callable&lt;Integer&gt; {</a:t>
            </a:r>
          </a:p>
          <a:p>
            <a:pPr eaLnBrk="1" hangingPunct="1">
              <a:defRPr/>
            </a:pPr>
            <a:r>
              <a:rPr lang="en-US">
                <a:latin typeface="Comic Sans MS" charset="0"/>
              </a:rPr>
              <a:t>	private int n;</a:t>
            </a:r>
          </a:p>
          <a:p>
            <a:pPr eaLnBrk="1" hangingPunct="1">
              <a:defRPr/>
            </a:pPr>
            <a:r>
              <a:rPr lang="en-US">
                <a:latin typeface="Comic Sans MS" charset="0"/>
              </a:rPr>
              <a:t>	Square(int k) {</a:t>
            </a:r>
          </a:p>
          <a:p>
            <a:pPr eaLnBrk="1" hangingPunct="1">
              <a:defRPr/>
            </a:pPr>
            <a:r>
              <a:rPr lang="en-US">
                <a:latin typeface="Comic Sans MS" charset="0"/>
              </a:rPr>
              <a:t>		n = k;</a:t>
            </a:r>
          </a:p>
          <a:p>
            <a:pPr eaLnBrk="1" hangingPunct="1">
              <a:defRPr/>
            </a:pPr>
            <a:r>
              <a:rPr lang="en-US">
                <a:latin typeface="Comic Sans MS" charset="0"/>
              </a:rPr>
              <a:t>	}</a:t>
            </a:r>
          </a:p>
          <a:p>
            <a:pPr eaLnBrk="1" hangingPunct="1">
              <a:defRPr/>
            </a:pPr>
            <a:r>
              <a:rPr lang="en-US">
                <a:latin typeface="Comic Sans MS" charset="0"/>
              </a:rPr>
              <a:t>	public Integer call() {</a:t>
            </a:r>
          </a:p>
          <a:p>
            <a:pPr eaLnBrk="1" hangingPunct="1">
              <a:defRPr/>
            </a:pPr>
            <a:r>
              <a:rPr lang="en-US">
                <a:latin typeface="Comic Sans MS" charset="0"/>
              </a:rPr>
              <a:t>		return n*n;</a:t>
            </a:r>
          </a:p>
          <a:p>
            <a:pPr eaLnBrk="1" hangingPunct="1">
              <a:defRPr/>
            </a:pPr>
            <a:r>
              <a:rPr lang="en-US">
                <a:latin typeface="Comic Sans MS" charset="0"/>
              </a:rPr>
              <a:t>	}</a:t>
            </a:r>
          </a:p>
          <a:p>
            <a:pPr eaLnBrk="1" hangingPunct="1">
              <a:defRPr/>
            </a:pPr>
            <a:r>
              <a:rPr lang="en-US">
                <a:latin typeface="Comic Sans MS" charset="0"/>
              </a:rPr>
              <a: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084E88DF-D100-4E3B-B65A-B012521F0A58}" type="slidenum">
              <a:rPr lang="en-US"/>
              <a:pPr/>
              <a:t>65</a:t>
            </a:fld>
            <a:endParaRPr lang="en-US"/>
          </a:p>
        </p:txBody>
      </p:sp>
      <p:sp>
        <p:nvSpPr>
          <p:cNvPr id="78850" name="Rectangle 2"/>
          <p:cNvSpPr>
            <a:spLocks noGrp="1" noChangeArrowheads="1"/>
          </p:cNvSpPr>
          <p:nvPr>
            <p:ph type="title"/>
          </p:nvPr>
        </p:nvSpPr>
        <p:spPr>
          <a:xfrm>
            <a:off x="539750" y="260350"/>
            <a:ext cx="8229600" cy="73025"/>
          </a:xfrm>
        </p:spPr>
        <p:txBody>
          <a:bodyPr/>
          <a:lstStyle/>
          <a:p>
            <a:pPr eaLnBrk="1" hangingPunct="1">
              <a:defRPr/>
            </a:pPr>
            <a:endParaRPr lang="en-US" sz="2800"/>
          </a:p>
        </p:txBody>
      </p:sp>
      <p:sp>
        <p:nvSpPr>
          <p:cNvPr id="78851" name="Rectangle 3"/>
          <p:cNvSpPr>
            <a:spLocks noGrp="1" noChangeArrowheads="1"/>
          </p:cNvSpPr>
          <p:nvPr>
            <p:ph type="body" idx="1"/>
          </p:nvPr>
        </p:nvSpPr>
        <p:spPr>
          <a:xfrm>
            <a:off x="457200" y="333375"/>
            <a:ext cx="8229600" cy="5792788"/>
          </a:xfrm>
        </p:spPr>
        <p:txBody>
          <a:bodyPr/>
          <a:lstStyle/>
          <a:p>
            <a:pPr eaLnBrk="1" hangingPunct="1">
              <a:defRPr/>
            </a:pPr>
            <a:r>
              <a:rPr lang="en-US" sz="2000">
                <a:latin typeface="Comic Sans MS" charset="0"/>
              </a:rPr>
              <a:t>import java.util.concurrent.*;</a:t>
            </a:r>
          </a:p>
          <a:p>
            <a:pPr eaLnBrk="1" hangingPunct="1">
              <a:defRPr/>
            </a:pPr>
            <a:r>
              <a:rPr lang="en-US" sz="2000">
                <a:latin typeface="Comic Sans MS" charset="0"/>
              </a:rPr>
              <a:t>import java.util.*;		</a:t>
            </a:r>
          </a:p>
          <a:p>
            <a:pPr eaLnBrk="1" hangingPunct="1">
              <a:defRPr/>
            </a:pPr>
            <a:r>
              <a:rPr lang="en-US" sz="2000">
                <a:latin typeface="Comic Sans MS" charset="0"/>
              </a:rPr>
              <a:t>class ThreadPoolCallableEx{</a:t>
            </a:r>
          </a:p>
          <a:p>
            <a:pPr eaLnBrk="1" hangingPunct="1">
              <a:defRPr/>
            </a:pPr>
            <a:r>
              <a:rPr lang="en-US" sz="2000">
                <a:latin typeface="Comic Sans MS" charset="0"/>
              </a:rPr>
              <a:t>	static ExecutorService pool =Executors.newFixedThreadPool(2);</a:t>
            </a:r>
          </a:p>
          <a:p>
            <a:pPr eaLnBrk="1" hangingPunct="1">
              <a:defRPr/>
            </a:pPr>
            <a:r>
              <a:rPr lang="en-US" sz="2000">
                <a:latin typeface="Comic Sans MS" charset="0"/>
              </a:rPr>
              <a:t>	public static void main(String[] args) {</a:t>
            </a:r>
          </a:p>
          <a:p>
            <a:pPr eaLnBrk="1" hangingPunct="1">
              <a:defRPr/>
            </a:pPr>
            <a:r>
              <a:rPr lang="en-US" sz="2000">
                <a:latin typeface="Comic Sans MS" charset="0"/>
              </a:rPr>
              <a:t>	      int data[] = {2,4,6,8,10,12};</a:t>
            </a:r>
          </a:p>
          <a:p>
            <a:pPr eaLnBrk="1" hangingPunct="1">
              <a:defRPr/>
            </a:pPr>
            <a:r>
              <a:rPr lang="en-US" sz="2000">
                <a:latin typeface="Comic Sans MS" charset="0"/>
              </a:rPr>
              <a:t>          ArrayList &lt;Future&lt;Integer&gt;&gt; future = </a:t>
            </a:r>
          </a:p>
          <a:p>
            <a:pPr eaLnBrk="1" hangingPunct="1">
              <a:defRPr/>
            </a:pPr>
            <a:r>
              <a:rPr lang="en-US" sz="2000">
                <a:latin typeface="Comic Sans MS" charset="0"/>
              </a:rPr>
              <a:t>                                                  new ArrayList&lt;Future&lt;Integer&gt;&gt;();</a:t>
            </a:r>
          </a:p>
          <a:p>
            <a:pPr eaLnBrk="1" hangingPunct="1">
              <a:defRPr/>
            </a:pPr>
            <a:r>
              <a:rPr lang="en-US" sz="2000">
                <a:latin typeface="Comic Sans MS" charset="0"/>
              </a:rPr>
              <a:t>	      for(int j = 0; j &lt; data.length;j++){</a:t>
            </a:r>
          </a:p>
          <a:p>
            <a:pPr eaLnBrk="1" hangingPunct="1">
              <a:defRPr/>
            </a:pPr>
            <a:r>
              <a:rPr lang="en-US" sz="2000">
                <a:latin typeface="Comic Sans MS" charset="0"/>
              </a:rPr>
              <a:t>		   Future&lt;Integer&gt; f = pool.submit(new Square(data[j]));</a:t>
            </a:r>
          </a:p>
          <a:p>
            <a:pPr eaLnBrk="1" hangingPunct="1">
              <a:defRPr/>
            </a:pPr>
            <a:r>
              <a:rPr lang="en-US" sz="2000">
                <a:latin typeface="Comic Sans MS" charset="0"/>
              </a:rPr>
              <a:t>		   future.add(f);</a:t>
            </a:r>
          </a:p>
          <a:p>
            <a:pPr eaLnBrk="1" hangingPunct="1">
              <a:defRPr/>
            </a:pPr>
            <a:r>
              <a:rPr lang="en-US" sz="2000">
                <a:latin typeface="Comic Sans MS" charset="0"/>
              </a:rPr>
              <a:t>	      }</a:t>
            </a:r>
          </a:p>
          <a:p>
            <a:pPr eaLnBrk="1" hangingPunct="1">
              <a:defRPr/>
            </a:pPr>
            <a:r>
              <a:rPr lang="en-US" sz="2000">
                <a:latin typeface="Comic Sans MS" charset="0"/>
              </a:rPr>
              <a:t>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DDA6A79B-BF54-4E03-BDCF-21D3D76191E9}" type="slidenum">
              <a:rPr lang="en-US"/>
              <a:pPr/>
              <a:t>66</a:t>
            </a:fld>
            <a:endParaRPr lang="en-US"/>
          </a:p>
        </p:txBody>
      </p:sp>
      <p:sp>
        <p:nvSpPr>
          <p:cNvPr id="79874" name="Rectangle 2"/>
          <p:cNvSpPr>
            <a:spLocks noGrp="1" noChangeArrowheads="1"/>
          </p:cNvSpPr>
          <p:nvPr>
            <p:ph type="title"/>
          </p:nvPr>
        </p:nvSpPr>
        <p:spPr>
          <a:xfrm flipV="1">
            <a:off x="539750" y="188913"/>
            <a:ext cx="8229600" cy="71437"/>
          </a:xfrm>
        </p:spPr>
        <p:txBody>
          <a:bodyPr/>
          <a:lstStyle/>
          <a:p>
            <a:pPr eaLnBrk="1" hangingPunct="1">
              <a:defRPr/>
            </a:pPr>
            <a:endParaRPr lang="en-US" sz="2800"/>
          </a:p>
        </p:txBody>
      </p:sp>
      <p:sp>
        <p:nvSpPr>
          <p:cNvPr id="79875" name="Rectangle 3"/>
          <p:cNvSpPr>
            <a:spLocks noGrp="1" noChangeArrowheads="1"/>
          </p:cNvSpPr>
          <p:nvPr>
            <p:ph type="body" idx="1"/>
          </p:nvPr>
        </p:nvSpPr>
        <p:spPr>
          <a:xfrm>
            <a:off x="468313" y="333375"/>
            <a:ext cx="8229600" cy="5543550"/>
          </a:xfrm>
        </p:spPr>
        <p:txBody>
          <a:bodyPr/>
          <a:lstStyle/>
          <a:p>
            <a:pPr eaLnBrk="1" hangingPunct="1">
              <a:lnSpc>
                <a:spcPct val="90000"/>
              </a:lnSpc>
              <a:defRPr/>
            </a:pPr>
            <a:r>
              <a:rPr lang="en-US" sz="2000">
                <a:latin typeface="Comic Sans MS" charset="0"/>
              </a:rPr>
              <a:t>            //create array to store results</a:t>
            </a:r>
          </a:p>
          <a:p>
            <a:pPr eaLnBrk="1" hangingPunct="1">
              <a:lnSpc>
                <a:spcPct val="90000"/>
              </a:lnSpc>
              <a:defRPr/>
            </a:pPr>
            <a:r>
              <a:rPr lang="en-US" sz="2000">
                <a:latin typeface="Comic Sans MS" charset="0"/>
              </a:rPr>
              <a:t>		int result[] = new int[data.length];   </a:t>
            </a:r>
          </a:p>
          <a:p>
            <a:pPr eaLnBrk="1" hangingPunct="1">
              <a:lnSpc>
                <a:spcPct val="90000"/>
              </a:lnSpc>
              <a:defRPr/>
            </a:pPr>
            <a:r>
              <a:rPr lang="en-US" sz="2000">
                <a:latin typeface="Comic Sans MS" charset="0"/>
              </a:rPr>
              <a:t>		for(int j = 0; j &lt; result.length; j++){</a:t>
            </a:r>
          </a:p>
          <a:p>
            <a:pPr eaLnBrk="1" hangingPunct="1">
              <a:lnSpc>
                <a:spcPct val="90000"/>
              </a:lnSpc>
              <a:defRPr/>
            </a:pPr>
            <a:r>
              <a:rPr lang="en-US" sz="2000">
                <a:latin typeface="Comic Sans MS" charset="0"/>
              </a:rPr>
              <a:t>		    try {</a:t>
            </a:r>
          </a:p>
          <a:p>
            <a:pPr eaLnBrk="1" hangingPunct="1">
              <a:lnSpc>
                <a:spcPct val="90000"/>
              </a:lnSpc>
              <a:defRPr/>
            </a:pPr>
            <a:r>
              <a:rPr lang="en-US" sz="2000">
                <a:latin typeface="Comic Sans MS" charset="0"/>
              </a:rPr>
              <a:t>		      Future&lt;Integer&gt; f = future.get(j);	 </a:t>
            </a:r>
          </a:p>
          <a:p>
            <a:pPr eaLnBrk="1" hangingPunct="1">
              <a:lnSpc>
                <a:spcPct val="90000"/>
              </a:lnSpc>
              <a:defRPr/>
            </a:pPr>
            <a:r>
              <a:rPr lang="en-US" sz="2000">
                <a:latin typeface="Comic Sans MS" charset="0"/>
              </a:rPr>
              <a:t>		      result[j] = f.get();</a:t>
            </a:r>
          </a:p>
          <a:p>
            <a:pPr eaLnBrk="1" hangingPunct="1">
              <a:lnSpc>
                <a:spcPct val="90000"/>
              </a:lnSpc>
              <a:defRPr/>
            </a:pPr>
            <a:r>
              <a:rPr lang="en-US" sz="2000">
                <a:latin typeface="Comic Sans MS" charset="0"/>
              </a:rPr>
              <a:t>		    }	</a:t>
            </a:r>
          </a:p>
          <a:p>
            <a:pPr eaLnBrk="1" hangingPunct="1">
              <a:lnSpc>
                <a:spcPct val="90000"/>
              </a:lnSpc>
              <a:defRPr/>
            </a:pPr>
            <a:r>
              <a:rPr lang="en-US" sz="2000">
                <a:latin typeface="Comic Sans MS" charset="0"/>
              </a:rPr>
              <a:t>		    catch (InterruptedException e) {}</a:t>
            </a:r>
          </a:p>
          <a:p>
            <a:pPr eaLnBrk="1" hangingPunct="1">
              <a:lnSpc>
                <a:spcPct val="90000"/>
              </a:lnSpc>
              <a:defRPr/>
            </a:pPr>
            <a:r>
              <a:rPr lang="en-US" sz="2000">
                <a:latin typeface="Comic Sans MS" charset="0"/>
              </a:rPr>
              <a:t>		    catch (ExecutionException e) {};</a:t>
            </a:r>
          </a:p>
          <a:p>
            <a:pPr eaLnBrk="1" hangingPunct="1">
              <a:lnSpc>
                <a:spcPct val="90000"/>
              </a:lnSpc>
              <a:defRPr/>
            </a:pPr>
            <a:r>
              <a:rPr lang="en-US" sz="2000">
                <a:latin typeface="Comic Sans MS" charset="0"/>
              </a:rPr>
              <a:t>		}</a:t>
            </a:r>
          </a:p>
          <a:p>
            <a:pPr eaLnBrk="1" hangingPunct="1">
              <a:lnSpc>
                <a:spcPct val="90000"/>
              </a:lnSpc>
              <a:defRPr/>
            </a:pPr>
            <a:r>
              <a:rPr lang="en-US" sz="2000">
                <a:latin typeface="Comic Sans MS" charset="0"/>
              </a:rPr>
              <a:t>		pool.shutdown();</a:t>
            </a:r>
          </a:p>
          <a:p>
            <a:pPr eaLnBrk="1" hangingPunct="1">
              <a:lnSpc>
                <a:spcPct val="90000"/>
              </a:lnSpc>
              <a:defRPr/>
            </a:pPr>
            <a:r>
              <a:rPr lang="en-US" sz="2000">
                <a:latin typeface="Comic Sans MS" charset="0"/>
              </a:rPr>
              <a:t>		for(int x : result)</a:t>
            </a:r>
          </a:p>
          <a:p>
            <a:pPr eaLnBrk="1" hangingPunct="1">
              <a:lnSpc>
                <a:spcPct val="90000"/>
              </a:lnSpc>
              <a:defRPr/>
            </a:pPr>
            <a:r>
              <a:rPr lang="en-US" sz="2000">
                <a:latin typeface="Comic Sans MS" charset="0"/>
              </a:rPr>
              <a:t>		   System.out.print(x+" ");</a:t>
            </a:r>
          </a:p>
          <a:p>
            <a:pPr eaLnBrk="1" hangingPunct="1">
              <a:lnSpc>
                <a:spcPct val="90000"/>
              </a:lnSpc>
              <a:defRPr/>
            </a:pPr>
            <a:r>
              <a:rPr lang="en-US" sz="2000">
                <a:latin typeface="Comic Sans MS" charset="0"/>
              </a:rPr>
              <a:t>		System.out.println();</a:t>
            </a:r>
          </a:p>
          <a:p>
            <a:pPr eaLnBrk="1" hangingPunct="1">
              <a:lnSpc>
                <a:spcPct val="90000"/>
              </a:lnSpc>
              <a:defRPr/>
            </a:pPr>
            <a:r>
              <a:rPr lang="en-US" sz="2000">
                <a:latin typeface="Comic Sans MS" charset="0"/>
              </a:rPr>
              <a:t>	}</a:t>
            </a:r>
          </a:p>
          <a:p>
            <a:pPr eaLnBrk="1" hangingPunct="1">
              <a:lnSpc>
                <a:spcPct val="90000"/>
              </a:lnSpc>
              <a:defRPr/>
            </a:pPr>
            <a:r>
              <a:rPr lang="en-US" sz="2000">
                <a:latin typeface="Comic Sans MS" charset="0"/>
              </a:rPr>
              <a:t>}</a:t>
            </a:r>
          </a:p>
          <a:p>
            <a:pPr eaLnBrk="1" hangingPunct="1">
              <a:lnSpc>
                <a:spcPct val="90000"/>
              </a:lnSpc>
              <a:defRPr/>
            </a:pPr>
            <a:endParaRPr lang="en-US" sz="2000">
              <a:latin typeface="Comic Sans MS"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	Calculate sum of the elements in an array distributing the workload over the processors</a:t>
            </a:r>
          </a:p>
        </p:txBody>
      </p:sp>
      <p:sp>
        <p:nvSpPr>
          <p:cNvPr id="6" name="Slide Number Placeholder 5"/>
          <p:cNvSpPr>
            <a:spLocks noGrp="1"/>
          </p:cNvSpPr>
          <p:nvPr>
            <p:ph type="sldNum" sz="quarter" idx="12"/>
          </p:nvPr>
        </p:nvSpPr>
        <p:spPr/>
        <p:txBody>
          <a:bodyPr/>
          <a:lstStyle/>
          <a:p>
            <a:fld id="{2C77B6D4-FF60-4BA7-86A9-72D6106BD70D}" type="slidenum">
              <a:rPr lang="en-US" smtClean="0"/>
              <a:p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err="1"/>
              <a:t>Distrbute</a:t>
            </a:r>
            <a:r>
              <a:rPr lang="en-US" dirty="0"/>
              <a:t> workload</a:t>
            </a:r>
          </a:p>
        </p:txBody>
      </p:sp>
      <p:sp>
        <p:nvSpPr>
          <p:cNvPr id="3" name="Content Placeholder 2"/>
          <p:cNvSpPr>
            <a:spLocks noGrp="1"/>
          </p:cNvSpPr>
          <p:nvPr>
            <p:ph idx="1"/>
          </p:nvPr>
        </p:nvSpPr>
        <p:spPr/>
        <p:txBody>
          <a:bodyPr/>
          <a:lstStyle/>
          <a:p>
            <a:pPr eaLnBrk="1" hangingPunct="1">
              <a:defRPr/>
            </a:pPr>
            <a:r>
              <a:rPr lang="en-US" b="1" dirty="0"/>
              <a:t>	</a:t>
            </a:r>
            <a:r>
              <a:rPr lang="en-US" b="1" dirty="0" err="1"/>
              <a:t>int</a:t>
            </a:r>
            <a:r>
              <a:rPr lang="en-US" dirty="0"/>
              <a:t>[] index = </a:t>
            </a:r>
            <a:r>
              <a:rPr lang="en-US" b="1" dirty="0"/>
              <a:t>new</a:t>
            </a:r>
            <a:r>
              <a:rPr lang="en-US" dirty="0"/>
              <a:t> </a:t>
            </a:r>
            <a:r>
              <a:rPr lang="en-US" b="1" dirty="0" err="1"/>
              <a:t>int</a:t>
            </a:r>
            <a:r>
              <a:rPr lang="en-US" dirty="0"/>
              <a:t>[nProc+1]; </a:t>
            </a:r>
          </a:p>
          <a:p>
            <a:pPr eaLnBrk="1" hangingPunct="1">
              <a:defRPr/>
            </a:pPr>
            <a:r>
              <a:rPr lang="en-US" dirty="0"/>
              <a:t>   	</a:t>
            </a:r>
            <a:r>
              <a:rPr lang="en-US" b="1" dirty="0"/>
              <a:t>for</a:t>
            </a:r>
            <a:r>
              <a:rPr lang="en-US" dirty="0"/>
              <a:t> (</a:t>
            </a:r>
            <a:r>
              <a:rPr lang="en-US" b="1" dirty="0" err="1"/>
              <a:t>int</a:t>
            </a:r>
            <a:r>
              <a:rPr lang="en-US" dirty="0"/>
              <a:t> </a:t>
            </a:r>
            <a:r>
              <a:rPr lang="en-US" dirty="0" err="1"/>
              <a:t>i</a:t>
            </a:r>
            <a:r>
              <a:rPr lang="en-US" dirty="0"/>
              <a:t>=0; </a:t>
            </a:r>
            <a:r>
              <a:rPr lang="en-US" dirty="0" err="1"/>
              <a:t>i</a:t>
            </a:r>
            <a:r>
              <a:rPr lang="en-US" dirty="0"/>
              <a:t>&lt;= </a:t>
            </a:r>
            <a:r>
              <a:rPr lang="en-US" dirty="0" err="1"/>
              <a:t>nProc</a:t>
            </a:r>
            <a:r>
              <a:rPr lang="en-US" dirty="0"/>
              <a:t>; </a:t>
            </a:r>
            <a:r>
              <a:rPr lang="en-US" dirty="0" err="1"/>
              <a:t>i</a:t>
            </a:r>
            <a:r>
              <a:rPr lang="en-US" dirty="0"/>
              <a:t>++) {</a:t>
            </a:r>
          </a:p>
          <a:p>
            <a:pPr eaLnBrk="1" hangingPunct="1">
              <a:defRPr/>
            </a:pPr>
            <a:r>
              <a:rPr lang="en-US" dirty="0"/>
              <a:t>         	index[</a:t>
            </a:r>
            <a:r>
              <a:rPr lang="en-US" dirty="0" err="1"/>
              <a:t>i</a:t>
            </a:r>
            <a:r>
              <a:rPr lang="en-US" dirty="0"/>
              <a:t>] = (</a:t>
            </a:r>
            <a:r>
              <a:rPr lang="en-US" dirty="0" err="1"/>
              <a:t>i</a:t>
            </a:r>
            <a:r>
              <a:rPr lang="en-US" dirty="0"/>
              <a:t>*</a:t>
            </a:r>
            <a:r>
              <a:rPr lang="en-US" dirty="0" err="1"/>
              <a:t>data.length</a:t>
            </a:r>
            <a:r>
              <a:rPr lang="en-US" dirty="0"/>
              <a:t>)/</a:t>
            </a:r>
            <a:r>
              <a:rPr lang="en-US" dirty="0" err="1"/>
              <a:t>nProc</a:t>
            </a:r>
            <a:r>
              <a:rPr lang="en-US" dirty="0"/>
              <a:t>;</a:t>
            </a:r>
          </a:p>
          <a:p>
            <a:pPr eaLnBrk="1" hangingPunct="1">
              <a:defRPr/>
            </a:pPr>
            <a:r>
              <a:rPr lang="en-US" dirty="0"/>
              <a:t>  	}	 </a:t>
            </a:r>
          </a:p>
          <a:p>
            <a:pPr eaLnBrk="1" hangingPunct="1">
              <a:defRPr/>
            </a:pPr>
            <a:endParaRPr lang="en-US" dirty="0"/>
          </a:p>
          <a:p>
            <a:pPr eaLnBrk="1" hangingPunct="1">
              <a:defRPr/>
            </a:pPr>
            <a:r>
              <a:rPr lang="en-US" dirty="0"/>
              <a:t>Segments differ in size by at most 1</a:t>
            </a:r>
          </a:p>
        </p:txBody>
      </p:sp>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26263A8D-45B9-4A80-9527-F9BF44EA75B5}" type="slidenum">
              <a:rPr lang="en-US"/>
              <a:p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endParaRPr lang="en-US"/>
          </a:p>
        </p:txBody>
      </p:sp>
      <p:sp>
        <p:nvSpPr>
          <p:cNvPr id="3" name="Content Placeholder 2"/>
          <p:cNvSpPr>
            <a:spLocks noGrp="1"/>
          </p:cNvSpPr>
          <p:nvPr>
            <p:ph idx="1"/>
          </p:nvPr>
        </p:nvSpPr>
        <p:spPr/>
        <p:txBody>
          <a:bodyPr/>
          <a:lstStyle/>
          <a:p>
            <a:pPr eaLnBrk="1" hangingPunct="1">
              <a:defRPr/>
            </a:pPr>
            <a:r>
              <a:rPr lang="en-US" dirty="0" err="1"/>
              <a:t>ArrayList</a:t>
            </a:r>
            <a:r>
              <a:rPr lang="en-US" dirty="0"/>
              <a:t> &lt;Future&lt;Integer&gt;&gt; future = </a:t>
            </a:r>
          </a:p>
          <a:p>
            <a:pPr eaLnBrk="1" hangingPunct="1">
              <a:defRPr/>
            </a:pPr>
            <a:r>
              <a:rPr lang="en-US" b="1" dirty="0"/>
              <a:t>			new</a:t>
            </a:r>
            <a:r>
              <a:rPr lang="en-US" dirty="0"/>
              <a:t> </a:t>
            </a:r>
            <a:r>
              <a:rPr lang="en-US" dirty="0" err="1"/>
              <a:t>ArrayList</a:t>
            </a:r>
            <a:r>
              <a:rPr lang="en-US" dirty="0"/>
              <a:t> &lt;Future&lt;Integer&gt;&gt;();</a:t>
            </a:r>
          </a:p>
          <a:p>
            <a:pPr eaLnBrk="1" hangingPunct="1">
              <a:defRPr/>
            </a:pPr>
            <a:r>
              <a:rPr lang="en-US" b="1" dirty="0" err="1"/>
              <a:t>int</a:t>
            </a:r>
            <a:r>
              <a:rPr lang="en-US" dirty="0"/>
              <a:t>[] index = </a:t>
            </a:r>
            <a:r>
              <a:rPr lang="en-US" b="1" dirty="0"/>
              <a:t>new</a:t>
            </a:r>
            <a:r>
              <a:rPr lang="en-US" dirty="0"/>
              <a:t> </a:t>
            </a:r>
            <a:r>
              <a:rPr lang="en-US" b="1" dirty="0" err="1"/>
              <a:t>int</a:t>
            </a:r>
            <a:r>
              <a:rPr lang="en-US" dirty="0"/>
              <a:t>[nProc+1]; </a:t>
            </a:r>
          </a:p>
          <a:p>
            <a:pPr eaLnBrk="1" hangingPunct="1">
              <a:defRPr/>
            </a:pPr>
            <a:r>
              <a:rPr lang="en-US" b="1" dirty="0"/>
              <a:t>for</a:t>
            </a:r>
            <a:r>
              <a:rPr lang="en-US" dirty="0"/>
              <a:t> (</a:t>
            </a:r>
            <a:r>
              <a:rPr lang="en-US" b="1" dirty="0" err="1"/>
              <a:t>int</a:t>
            </a:r>
            <a:r>
              <a:rPr lang="en-US" dirty="0"/>
              <a:t> </a:t>
            </a:r>
            <a:r>
              <a:rPr lang="en-US" dirty="0" err="1"/>
              <a:t>i</a:t>
            </a:r>
            <a:r>
              <a:rPr lang="en-US" dirty="0"/>
              <a:t>=0; </a:t>
            </a:r>
            <a:r>
              <a:rPr lang="en-US" dirty="0" err="1"/>
              <a:t>i</a:t>
            </a:r>
            <a:r>
              <a:rPr lang="en-US" dirty="0"/>
              <a:t>&lt;=</a:t>
            </a:r>
            <a:r>
              <a:rPr lang="en-US" dirty="0" err="1"/>
              <a:t>nProc</a:t>
            </a:r>
            <a:r>
              <a:rPr lang="en-US" dirty="0"/>
              <a:t>; </a:t>
            </a:r>
            <a:r>
              <a:rPr lang="en-US" dirty="0" err="1"/>
              <a:t>i</a:t>
            </a:r>
            <a:r>
              <a:rPr lang="en-US" dirty="0"/>
              <a:t>++) </a:t>
            </a:r>
          </a:p>
          <a:p>
            <a:pPr eaLnBrk="1" hangingPunct="1">
              <a:defRPr/>
            </a:pPr>
            <a:r>
              <a:rPr lang="en-US" dirty="0"/>
              <a:t>     index[</a:t>
            </a:r>
            <a:r>
              <a:rPr lang="en-US" dirty="0" err="1"/>
              <a:t>i</a:t>
            </a:r>
            <a:r>
              <a:rPr lang="en-US" dirty="0"/>
              <a:t>] = (</a:t>
            </a:r>
            <a:r>
              <a:rPr lang="en-US" dirty="0" err="1"/>
              <a:t>i</a:t>
            </a:r>
            <a:r>
              <a:rPr lang="en-US" dirty="0"/>
              <a:t>*</a:t>
            </a:r>
            <a:r>
              <a:rPr lang="en-US" dirty="0" err="1"/>
              <a:t>data.length</a:t>
            </a:r>
            <a:r>
              <a:rPr lang="en-US" dirty="0"/>
              <a:t>)/</a:t>
            </a:r>
            <a:r>
              <a:rPr lang="en-US" dirty="0" err="1"/>
              <a:t>nProc</a:t>
            </a:r>
            <a:r>
              <a:rPr lang="en-US" dirty="0"/>
              <a:t>; </a:t>
            </a:r>
          </a:p>
          <a:p>
            <a:pPr eaLnBrk="1" hangingPunct="1">
              <a:defRPr/>
            </a:pPr>
            <a:r>
              <a:rPr lang="en-US" b="1" dirty="0"/>
              <a:t>for</a:t>
            </a:r>
            <a:r>
              <a:rPr lang="en-US" dirty="0"/>
              <a:t>(</a:t>
            </a:r>
            <a:r>
              <a:rPr lang="en-US" b="1" dirty="0" err="1"/>
              <a:t>int</a:t>
            </a:r>
            <a:r>
              <a:rPr lang="en-US" dirty="0"/>
              <a:t> j = 0; j &lt; index.length-1 ;j++){</a:t>
            </a:r>
          </a:p>
          <a:p>
            <a:pPr eaLnBrk="1" hangingPunct="1">
              <a:defRPr/>
            </a:pPr>
            <a:r>
              <a:rPr lang="en-US" dirty="0"/>
              <a:t>   Future&lt;Integer&gt; f = </a:t>
            </a:r>
            <a:r>
              <a:rPr lang="en-US" dirty="0" err="1"/>
              <a:t>pool.submit</a:t>
            </a:r>
            <a:r>
              <a:rPr lang="en-US" dirty="0"/>
              <a:t>(</a:t>
            </a:r>
            <a:r>
              <a:rPr lang="en-US" b="1" dirty="0"/>
              <a:t>new</a:t>
            </a:r>
            <a:r>
              <a:rPr lang="en-US" dirty="0"/>
              <a:t> Sum(data, 					index[j],index[j+1]));</a:t>
            </a:r>
          </a:p>
          <a:p>
            <a:pPr eaLnBrk="1" hangingPunct="1">
              <a:defRPr/>
            </a:pPr>
            <a:r>
              <a:rPr lang="en-US" dirty="0"/>
              <a:t>   </a:t>
            </a:r>
            <a:r>
              <a:rPr lang="en-US" dirty="0" err="1"/>
              <a:t>future.add</a:t>
            </a:r>
            <a:r>
              <a:rPr lang="en-US" dirty="0"/>
              <a:t>(f);</a:t>
            </a:r>
          </a:p>
          <a:p>
            <a:pPr eaLnBrk="1" hangingPunct="1">
              <a:defRPr/>
            </a:pPr>
            <a:r>
              <a:rPr lang="en-US" dirty="0"/>
              <a:t>}</a:t>
            </a:r>
          </a:p>
          <a:p>
            <a:pPr eaLnBrk="1" hangingPunct="1">
              <a:defRPr/>
            </a:pPr>
            <a:r>
              <a:rPr lang="en-US" dirty="0"/>
              <a:t>		</a:t>
            </a:r>
          </a:p>
          <a:p>
            <a:pPr eaLnBrk="1" hangingPunct="1">
              <a:defRPr/>
            </a:pPr>
            <a:endParaRPr lang="en-US" dirty="0"/>
          </a:p>
        </p:txBody>
      </p:sp>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2F3A3E20-0F5E-4340-B03F-B19968AFAC12}" type="slidenum">
              <a:rPr lang="en-US"/>
              <a:pPr/>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endParaRPr lang="en-US"/>
          </a:p>
        </p:txBody>
      </p:sp>
      <p:sp>
        <p:nvSpPr>
          <p:cNvPr id="3" name="Content Placeholder 2"/>
          <p:cNvSpPr>
            <a:spLocks noGrp="1"/>
          </p:cNvSpPr>
          <p:nvPr>
            <p:ph idx="1"/>
          </p:nvPr>
        </p:nvSpPr>
        <p:spPr/>
        <p:txBody>
          <a:bodyPr/>
          <a:lstStyle/>
          <a:p>
            <a:pPr eaLnBrk="1" hangingPunct="1">
              <a:defRPr/>
            </a:pPr>
            <a:r>
              <a:rPr lang="en-US" dirty="0"/>
              <a:t>	//create array to store results</a:t>
            </a:r>
          </a:p>
          <a:p>
            <a:pPr eaLnBrk="1" hangingPunct="1">
              <a:defRPr/>
            </a:pPr>
            <a:r>
              <a:rPr lang="en-US" dirty="0"/>
              <a:t>	</a:t>
            </a:r>
            <a:r>
              <a:rPr lang="en-US" b="1" dirty="0" err="1"/>
              <a:t>int</a:t>
            </a:r>
            <a:r>
              <a:rPr lang="en-US" dirty="0"/>
              <a:t> result[] = </a:t>
            </a:r>
            <a:r>
              <a:rPr lang="en-US" b="1" dirty="0"/>
              <a:t>new</a:t>
            </a:r>
            <a:r>
              <a:rPr lang="en-US" dirty="0"/>
              <a:t> </a:t>
            </a:r>
            <a:r>
              <a:rPr lang="en-US" b="1" dirty="0" err="1"/>
              <a:t>int</a:t>
            </a:r>
            <a:r>
              <a:rPr lang="en-US" dirty="0"/>
              <a:t>[</a:t>
            </a:r>
            <a:r>
              <a:rPr lang="en-US" dirty="0" err="1"/>
              <a:t>index.length</a:t>
            </a:r>
            <a:r>
              <a:rPr lang="en-US" dirty="0"/>
              <a:t> - 1];   </a:t>
            </a:r>
          </a:p>
          <a:p>
            <a:pPr eaLnBrk="1" hangingPunct="1">
              <a:defRPr/>
            </a:pPr>
            <a:r>
              <a:rPr lang="en-US" dirty="0"/>
              <a:t>	</a:t>
            </a:r>
            <a:r>
              <a:rPr lang="en-US" b="1" dirty="0"/>
              <a:t>for</a:t>
            </a:r>
            <a:r>
              <a:rPr lang="en-US" dirty="0"/>
              <a:t>(</a:t>
            </a:r>
            <a:r>
              <a:rPr lang="en-US" b="1" dirty="0" err="1"/>
              <a:t>int</a:t>
            </a:r>
            <a:r>
              <a:rPr lang="en-US" dirty="0"/>
              <a:t> j = 0; j &lt; </a:t>
            </a:r>
            <a:r>
              <a:rPr lang="en-US" dirty="0" err="1"/>
              <a:t>result.length</a:t>
            </a:r>
            <a:r>
              <a:rPr lang="en-US" dirty="0"/>
              <a:t>; j++){</a:t>
            </a:r>
          </a:p>
          <a:p>
            <a:pPr eaLnBrk="1" hangingPunct="1">
              <a:defRPr/>
            </a:pPr>
            <a:r>
              <a:rPr lang="en-US" dirty="0"/>
              <a:t>	 </a:t>
            </a:r>
            <a:r>
              <a:rPr lang="en-US" b="1" dirty="0"/>
              <a:t>try</a:t>
            </a:r>
            <a:r>
              <a:rPr lang="en-US" dirty="0"/>
              <a:t> {</a:t>
            </a:r>
          </a:p>
          <a:p>
            <a:pPr eaLnBrk="1" hangingPunct="1">
              <a:defRPr/>
            </a:pPr>
            <a:r>
              <a:rPr lang="en-US" dirty="0"/>
              <a:t>		 Future&lt;Integer&gt; f = </a:t>
            </a:r>
            <a:r>
              <a:rPr lang="en-US" dirty="0" err="1"/>
              <a:t>future.get</a:t>
            </a:r>
            <a:r>
              <a:rPr lang="en-US" dirty="0"/>
              <a:t>(j);	 </a:t>
            </a:r>
          </a:p>
          <a:p>
            <a:pPr eaLnBrk="1" hangingPunct="1">
              <a:defRPr/>
            </a:pPr>
            <a:r>
              <a:rPr lang="en-US" dirty="0"/>
              <a:t>		 result[j] = </a:t>
            </a:r>
            <a:r>
              <a:rPr lang="en-US" dirty="0" err="1"/>
              <a:t>f.get</a:t>
            </a:r>
            <a:r>
              <a:rPr lang="en-US" dirty="0"/>
              <a:t>();</a:t>
            </a:r>
          </a:p>
          <a:p>
            <a:pPr eaLnBrk="1" hangingPunct="1">
              <a:defRPr/>
            </a:pPr>
            <a:r>
              <a:rPr lang="en-US" dirty="0"/>
              <a:t>	}	</a:t>
            </a:r>
          </a:p>
          <a:p>
            <a:pPr eaLnBrk="1" hangingPunct="1">
              <a:defRPr/>
            </a:pPr>
            <a:r>
              <a:rPr lang="en-US" dirty="0"/>
              <a:t>	</a:t>
            </a:r>
            <a:r>
              <a:rPr lang="en-US" b="1" dirty="0"/>
              <a:t>catch</a:t>
            </a:r>
            <a:r>
              <a:rPr lang="en-US" dirty="0"/>
              <a:t> (</a:t>
            </a:r>
            <a:r>
              <a:rPr lang="en-US" dirty="0" err="1"/>
              <a:t>InterruptedException</a:t>
            </a:r>
            <a:r>
              <a:rPr lang="en-US" dirty="0"/>
              <a:t> e) {}</a:t>
            </a:r>
          </a:p>
          <a:p>
            <a:pPr eaLnBrk="1" hangingPunct="1">
              <a:defRPr/>
            </a:pPr>
            <a:r>
              <a:rPr lang="en-US" dirty="0"/>
              <a:t>	</a:t>
            </a:r>
            <a:r>
              <a:rPr lang="en-US" b="1" dirty="0"/>
              <a:t>catch</a:t>
            </a:r>
            <a:r>
              <a:rPr lang="en-US" dirty="0"/>
              <a:t> (</a:t>
            </a:r>
            <a:r>
              <a:rPr lang="en-US" dirty="0" err="1"/>
              <a:t>ExecutionException</a:t>
            </a:r>
            <a:r>
              <a:rPr lang="en-US" dirty="0"/>
              <a:t> e) {};</a:t>
            </a:r>
          </a:p>
          <a:p>
            <a:pPr eaLnBrk="1" hangingPunct="1">
              <a:defRPr/>
            </a:pPr>
            <a:r>
              <a:rPr lang="en-US" dirty="0"/>
              <a:t>}</a:t>
            </a:r>
          </a:p>
          <a:p>
            <a:pPr eaLnBrk="1" hangingPunct="1">
              <a:defRPr/>
            </a:pPr>
            <a:endParaRPr lang="en-US" dirty="0"/>
          </a:p>
        </p:txBody>
      </p:sp>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230B6C71-3F18-4E4A-B3BF-5D2B1429550C}" type="slidenum">
              <a:rPr lang="en-US"/>
              <a:pPr/>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endParaRPr lang="en-US"/>
          </a:p>
        </p:txBody>
      </p:sp>
      <p:sp>
        <p:nvSpPr>
          <p:cNvPr id="3" name="Content Placeholder 2"/>
          <p:cNvSpPr>
            <a:spLocks noGrp="1"/>
          </p:cNvSpPr>
          <p:nvPr>
            <p:ph idx="1"/>
          </p:nvPr>
        </p:nvSpPr>
        <p:spPr/>
        <p:txBody>
          <a:bodyPr/>
          <a:lstStyle/>
          <a:p>
            <a:pPr eaLnBrk="1" hangingPunct="1">
              <a:defRPr/>
            </a:pPr>
            <a:r>
              <a:rPr lang="en-US" b="1" dirty="0"/>
              <a:t>class</a:t>
            </a:r>
            <a:r>
              <a:rPr lang="en-US" dirty="0"/>
              <a:t> Sum </a:t>
            </a:r>
            <a:r>
              <a:rPr lang="en-US" b="1" dirty="0"/>
              <a:t>implements</a:t>
            </a:r>
            <a:r>
              <a:rPr lang="en-US" dirty="0"/>
              <a:t> Callable&lt;Integer&gt;{ </a:t>
            </a:r>
          </a:p>
          <a:p>
            <a:pPr eaLnBrk="1" hangingPunct="1">
              <a:defRPr/>
            </a:pPr>
            <a:r>
              <a:rPr lang="en-US" dirty="0"/>
              <a:t>	</a:t>
            </a:r>
            <a:r>
              <a:rPr lang="en-US" b="1" dirty="0"/>
              <a:t>private</a:t>
            </a:r>
            <a:r>
              <a:rPr lang="en-US" dirty="0"/>
              <a:t> </a:t>
            </a:r>
            <a:r>
              <a:rPr lang="en-US" b="1" dirty="0" err="1"/>
              <a:t>int</a:t>
            </a:r>
            <a:r>
              <a:rPr lang="en-US" dirty="0"/>
              <a:t> from, to;</a:t>
            </a:r>
          </a:p>
          <a:p>
            <a:pPr eaLnBrk="1" hangingPunct="1">
              <a:defRPr/>
            </a:pPr>
            <a:r>
              <a:rPr lang="en-US" dirty="0"/>
              <a:t>	</a:t>
            </a:r>
            <a:r>
              <a:rPr lang="en-US" b="1" dirty="0"/>
              <a:t>private</a:t>
            </a:r>
            <a:r>
              <a:rPr lang="en-US" dirty="0"/>
              <a:t> </a:t>
            </a:r>
            <a:r>
              <a:rPr lang="en-US" b="1" dirty="0" err="1"/>
              <a:t>int</a:t>
            </a:r>
            <a:r>
              <a:rPr lang="en-US" dirty="0"/>
              <a:t> data[];</a:t>
            </a:r>
          </a:p>
          <a:p>
            <a:pPr eaLnBrk="1" hangingPunct="1">
              <a:defRPr/>
            </a:pPr>
            <a:r>
              <a:rPr lang="en-US" dirty="0"/>
              <a:t>	Sum(</a:t>
            </a:r>
            <a:r>
              <a:rPr lang="en-US" b="1" dirty="0" err="1"/>
              <a:t>int</a:t>
            </a:r>
            <a:r>
              <a:rPr lang="en-US" dirty="0"/>
              <a:t> </a:t>
            </a:r>
            <a:r>
              <a:rPr lang="en-US" dirty="0" err="1"/>
              <a:t>dd</a:t>
            </a:r>
            <a:r>
              <a:rPr lang="en-US" dirty="0"/>
              <a:t>[], </a:t>
            </a:r>
            <a:r>
              <a:rPr lang="en-US" b="1" dirty="0" err="1"/>
              <a:t>int</a:t>
            </a:r>
            <a:r>
              <a:rPr lang="en-US" dirty="0"/>
              <a:t> </a:t>
            </a:r>
            <a:r>
              <a:rPr lang="en-US" dirty="0" err="1"/>
              <a:t>st</a:t>
            </a:r>
            <a:r>
              <a:rPr lang="en-US" dirty="0"/>
              <a:t>, </a:t>
            </a:r>
            <a:r>
              <a:rPr lang="en-US" b="1" dirty="0" err="1"/>
              <a:t>int</a:t>
            </a:r>
            <a:r>
              <a:rPr lang="en-US" dirty="0"/>
              <a:t> en ) {</a:t>
            </a:r>
          </a:p>
          <a:p>
            <a:pPr eaLnBrk="1" hangingPunct="1">
              <a:defRPr/>
            </a:pPr>
            <a:r>
              <a:rPr lang="en-US" dirty="0"/>
              <a:t>		data = </a:t>
            </a:r>
            <a:r>
              <a:rPr lang="en-US" dirty="0" err="1"/>
              <a:t>dd</a:t>
            </a:r>
            <a:r>
              <a:rPr lang="en-US" dirty="0"/>
              <a:t>; from = </a:t>
            </a:r>
            <a:r>
              <a:rPr lang="en-US" dirty="0" err="1"/>
              <a:t>st</a:t>
            </a:r>
            <a:r>
              <a:rPr lang="en-US" dirty="0"/>
              <a:t>; to = en;</a:t>
            </a:r>
          </a:p>
          <a:p>
            <a:pPr eaLnBrk="1" hangingPunct="1">
              <a:defRPr/>
            </a:pPr>
            <a:r>
              <a:rPr lang="en-US" dirty="0"/>
              <a:t>	}</a:t>
            </a:r>
          </a:p>
          <a:p>
            <a:pPr eaLnBrk="1" hangingPunct="1">
              <a:defRPr/>
            </a:pPr>
            <a:r>
              <a:rPr lang="en-US" dirty="0"/>
              <a:t>	</a:t>
            </a:r>
          </a:p>
        </p:txBody>
      </p:sp>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BB0C9C64-0830-4CAA-BE6E-1146EEDBBB04}" type="slidenum">
              <a:rPr lang="en-US"/>
              <a:pPr/>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endParaRPr lang="en-US"/>
          </a:p>
        </p:txBody>
      </p:sp>
      <p:sp>
        <p:nvSpPr>
          <p:cNvPr id="3" name="Content Placeholder 2"/>
          <p:cNvSpPr>
            <a:spLocks noGrp="1"/>
          </p:cNvSpPr>
          <p:nvPr>
            <p:ph idx="1"/>
          </p:nvPr>
        </p:nvSpPr>
        <p:spPr/>
        <p:txBody>
          <a:bodyPr/>
          <a:lstStyle/>
          <a:p>
            <a:pPr eaLnBrk="1" hangingPunct="1">
              <a:defRPr/>
            </a:pPr>
            <a:r>
              <a:rPr lang="en-US" b="1" dirty="0"/>
              <a:t>public</a:t>
            </a:r>
            <a:r>
              <a:rPr lang="en-US" dirty="0"/>
              <a:t> Integer call() {</a:t>
            </a:r>
          </a:p>
          <a:p>
            <a:pPr eaLnBrk="1" hangingPunct="1">
              <a:defRPr/>
            </a:pPr>
            <a:r>
              <a:rPr lang="en-US" dirty="0"/>
              <a:t>		</a:t>
            </a:r>
            <a:r>
              <a:rPr lang="en-US" b="1" dirty="0" err="1"/>
              <a:t>int</a:t>
            </a:r>
            <a:r>
              <a:rPr lang="en-US" dirty="0"/>
              <a:t> sum = 0;</a:t>
            </a:r>
          </a:p>
          <a:p>
            <a:pPr eaLnBrk="1" hangingPunct="1">
              <a:defRPr/>
            </a:pPr>
            <a:r>
              <a:rPr lang="en-US" dirty="0"/>
              <a:t>		</a:t>
            </a:r>
            <a:r>
              <a:rPr lang="en-US" b="1" dirty="0"/>
              <a:t>for</a:t>
            </a:r>
            <a:r>
              <a:rPr lang="en-US" dirty="0"/>
              <a:t>(</a:t>
            </a:r>
            <a:r>
              <a:rPr lang="en-US" b="1" dirty="0" err="1"/>
              <a:t>int</a:t>
            </a:r>
            <a:r>
              <a:rPr lang="en-US" dirty="0"/>
              <a:t> j = from; j &lt; to; j++)</a:t>
            </a:r>
          </a:p>
          <a:p>
            <a:pPr eaLnBrk="1" hangingPunct="1">
              <a:defRPr/>
            </a:pPr>
            <a:r>
              <a:rPr lang="en-US" dirty="0"/>
              <a:t>			sum = sum + data[j];</a:t>
            </a:r>
          </a:p>
          <a:p>
            <a:pPr eaLnBrk="1" hangingPunct="1">
              <a:defRPr/>
            </a:pPr>
            <a:r>
              <a:rPr lang="en-US" dirty="0"/>
              <a:t>		</a:t>
            </a:r>
            <a:r>
              <a:rPr lang="en-US" b="1" dirty="0"/>
              <a:t>return</a:t>
            </a:r>
            <a:r>
              <a:rPr lang="en-US" dirty="0"/>
              <a:t> sum;</a:t>
            </a:r>
          </a:p>
          <a:p>
            <a:pPr eaLnBrk="1" hangingPunct="1">
              <a:defRPr/>
            </a:pPr>
            <a:r>
              <a:rPr lang="en-US" dirty="0"/>
              <a:t>	}</a:t>
            </a:r>
          </a:p>
          <a:p>
            <a:pPr eaLnBrk="1" hangingPunct="1">
              <a:defRPr/>
            </a:pPr>
            <a:r>
              <a:rPr lang="en-US" b="1" dirty="0"/>
              <a:t>}</a:t>
            </a:r>
            <a:r>
              <a:rPr lang="en-US" dirty="0"/>
              <a:t> </a:t>
            </a:r>
          </a:p>
          <a:p>
            <a:pPr eaLnBrk="1" hangingPunct="1">
              <a:defRPr/>
            </a:pPr>
            <a:endParaRPr lang="en-US" dirty="0"/>
          </a:p>
        </p:txBody>
      </p:sp>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82C000AD-F715-4502-8C15-2C9ED6FCD82D}" type="slidenum">
              <a:rPr lang="en-US"/>
              <a:pPr/>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Prime Number Problem</a:t>
            </a:r>
          </a:p>
        </p:txBody>
      </p:sp>
      <p:sp>
        <p:nvSpPr>
          <p:cNvPr id="3" name="Content Placeholder 2"/>
          <p:cNvSpPr>
            <a:spLocks noGrp="1"/>
          </p:cNvSpPr>
          <p:nvPr>
            <p:ph idx="1"/>
          </p:nvPr>
        </p:nvSpPr>
        <p:spPr/>
        <p:txBody>
          <a:bodyPr/>
          <a:lstStyle/>
          <a:p>
            <a:r>
              <a:rPr lang="en-IE" dirty="0"/>
              <a:t>Calculate frequency of primes in range </a:t>
            </a:r>
          </a:p>
          <a:p>
            <a:r>
              <a:rPr lang="en-IE" dirty="0"/>
              <a:t>1 to 10000000</a:t>
            </a:r>
          </a:p>
        </p:txBody>
      </p:sp>
      <p:sp>
        <p:nvSpPr>
          <p:cNvPr id="6" name="Slide Number Placeholder 5"/>
          <p:cNvSpPr>
            <a:spLocks noGrp="1"/>
          </p:cNvSpPr>
          <p:nvPr>
            <p:ph type="sldNum" sz="quarter" idx="12"/>
          </p:nvPr>
        </p:nvSpPr>
        <p:spPr/>
        <p:txBody>
          <a:bodyPr/>
          <a:lstStyle/>
          <a:p>
            <a:fld id="{2C77B6D4-FF60-4BA7-86A9-72D6106BD70D}" type="slidenum">
              <a:rPr lang="en-US" smtClean="0"/>
              <a:pPr/>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long </a:t>
            </a:r>
            <a:r>
              <a:rPr lang="en-US" dirty="0" err="1"/>
              <a:t>startTime</a:t>
            </a:r>
            <a:r>
              <a:rPr lang="en-US" dirty="0"/>
              <a:t> = </a:t>
            </a:r>
            <a:r>
              <a:rPr lang="en-US" dirty="0" err="1"/>
              <a:t>System.currentTimeMillis</a:t>
            </a:r>
            <a:r>
              <a:rPr lang="en-US" dirty="0"/>
              <a:t>();</a:t>
            </a:r>
            <a:endParaRPr lang="en-IE" dirty="0"/>
          </a:p>
          <a:p>
            <a:r>
              <a:rPr lang="en-US" dirty="0"/>
              <a:t> </a:t>
            </a:r>
            <a:r>
              <a:rPr lang="en-US" dirty="0" err="1"/>
              <a:t>int</a:t>
            </a:r>
            <a:r>
              <a:rPr lang="en-US" dirty="0"/>
              <a:t> freq = 1; // 2 is prime</a:t>
            </a:r>
            <a:endParaRPr lang="en-IE" dirty="0"/>
          </a:p>
          <a:p>
            <a:r>
              <a:rPr lang="en-US" dirty="0"/>
              <a:t> for(</a:t>
            </a:r>
            <a:r>
              <a:rPr lang="en-US" dirty="0" err="1"/>
              <a:t>int</a:t>
            </a:r>
            <a:r>
              <a:rPr lang="en-US" dirty="0"/>
              <a:t> k = 3; k &lt; N; k = k + 2)</a:t>
            </a:r>
            <a:endParaRPr lang="en-IE" dirty="0"/>
          </a:p>
          <a:p>
            <a:r>
              <a:rPr lang="en-US" dirty="0"/>
              <a:t>      if(</a:t>
            </a:r>
            <a:r>
              <a:rPr lang="en-US" dirty="0" err="1"/>
              <a:t>PTest.isPrime</a:t>
            </a:r>
            <a:r>
              <a:rPr lang="en-US" dirty="0"/>
              <a:t>(k))</a:t>
            </a:r>
            <a:endParaRPr lang="en-IE" dirty="0"/>
          </a:p>
          <a:p>
            <a:r>
              <a:rPr lang="en-US" dirty="0"/>
              <a:t>    	 freq++;</a:t>
            </a:r>
            <a:endParaRPr lang="en-IE" dirty="0"/>
          </a:p>
          <a:p>
            <a:r>
              <a:rPr lang="en-US" dirty="0"/>
              <a:t> long </a:t>
            </a:r>
            <a:r>
              <a:rPr lang="en-US" dirty="0" err="1"/>
              <a:t>endTime</a:t>
            </a:r>
            <a:r>
              <a:rPr lang="en-US" dirty="0"/>
              <a:t> = </a:t>
            </a:r>
            <a:r>
              <a:rPr lang="en-US" dirty="0" err="1"/>
              <a:t>System.currentTimeMillis</a:t>
            </a:r>
            <a:r>
              <a:rPr lang="en-US" dirty="0"/>
              <a:t>();</a:t>
            </a:r>
            <a:endParaRPr lang="en-IE"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static </a:t>
            </a:r>
            <a:r>
              <a:rPr lang="en-US" dirty="0" err="1"/>
              <a:t>boolean</a:t>
            </a:r>
            <a:r>
              <a:rPr lang="en-US" dirty="0"/>
              <a:t> </a:t>
            </a:r>
            <a:r>
              <a:rPr lang="en-US" dirty="0" err="1"/>
              <a:t>isPrime</a:t>
            </a:r>
            <a:r>
              <a:rPr lang="en-US" dirty="0"/>
              <a:t>(</a:t>
            </a:r>
            <a:r>
              <a:rPr lang="en-US" dirty="0" err="1"/>
              <a:t>int</a:t>
            </a:r>
            <a:r>
              <a:rPr lang="en-US" dirty="0"/>
              <a:t> n){</a:t>
            </a:r>
            <a:endParaRPr lang="en-IE" dirty="0"/>
          </a:p>
          <a:p>
            <a:r>
              <a:rPr lang="en-US" dirty="0"/>
              <a:t>	</a:t>
            </a:r>
            <a:r>
              <a:rPr lang="en-US" dirty="0" err="1"/>
              <a:t>boolean</a:t>
            </a:r>
            <a:r>
              <a:rPr lang="en-US" dirty="0"/>
              <a:t> prime = true;</a:t>
            </a:r>
            <a:endParaRPr lang="en-IE" dirty="0"/>
          </a:p>
          <a:p>
            <a:r>
              <a:rPr lang="en-US" dirty="0"/>
              <a:t>	if(n &lt; 2) prime = false;</a:t>
            </a:r>
            <a:endParaRPr lang="en-IE" dirty="0"/>
          </a:p>
          <a:p>
            <a:r>
              <a:rPr lang="en-US" dirty="0"/>
              <a:t>	for(</a:t>
            </a:r>
            <a:r>
              <a:rPr lang="en-US" dirty="0" err="1"/>
              <a:t>int</a:t>
            </a:r>
            <a:r>
              <a:rPr lang="en-US" dirty="0"/>
              <a:t> k = 2; k &lt;= (</a:t>
            </a:r>
            <a:r>
              <a:rPr lang="en-US" dirty="0" err="1"/>
              <a:t>int</a:t>
            </a:r>
            <a:r>
              <a:rPr lang="en-US" dirty="0"/>
              <a:t>)</a:t>
            </a:r>
            <a:r>
              <a:rPr lang="en-US" dirty="0" err="1"/>
              <a:t>Math.sqrt</a:t>
            </a:r>
            <a:r>
              <a:rPr lang="en-US" dirty="0"/>
              <a:t>(n) &amp;&amp; prime; k++)</a:t>
            </a:r>
            <a:endParaRPr lang="en-IE" dirty="0"/>
          </a:p>
          <a:p>
            <a:r>
              <a:rPr lang="en-US" dirty="0"/>
              <a:t>	    if(n % k == 0) prime = false;</a:t>
            </a:r>
            <a:endParaRPr lang="en-IE" dirty="0"/>
          </a:p>
          <a:p>
            <a:r>
              <a:rPr lang="en-US" dirty="0"/>
              <a:t>	 return prime; </a:t>
            </a:r>
            <a:endParaRPr lang="en-IE" dirty="0"/>
          </a:p>
          <a:p>
            <a:r>
              <a:rPr lang="en-US" dirty="0"/>
              <a:t> }</a:t>
            </a:r>
            <a:endParaRPr lang="en-IE"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    Performance: 36secs</a:t>
            </a:r>
          </a:p>
          <a:p>
            <a:endParaRPr lang="en-IE" dirty="0"/>
          </a:p>
          <a:p>
            <a:r>
              <a:rPr lang="en-IE" dirty="0"/>
              <a:t>   Try to improve it by dividing work fairly between underlying processors</a:t>
            </a:r>
          </a:p>
          <a:p>
            <a:endParaRPr lang="en-IE" dirty="0"/>
          </a:p>
          <a:p>
            <a:r>
              <a:rPr lang="en-IE" dirty="0"/>
              <a:t>    See program code in text</a:t>
            </a:r>
          </a:p>
          <a:p>
            <a:endParaRPr lang="en-IE" dirty="0"/>
          </a:p>
          <a:p>
            <a:r>
              <a:rPr lang="en-IE" dirty="0"/>
              <a:t>	</a:t>
            </a:r>
          </a:p>
        </p:txBody>
      </p:sp>
      <p:sp>
        <p:nvSpPr>
          <p:cNvPr id="6" name="Slide Number Placeholder 5"/>
          <p:cNvSpPr>
            <a:spLocks noGrp="1"/>
          </p:cNvSpPr>
          <p:nvPr>
            <p:ph type="sldNum" sz="quarter" idx="12"/>
          </p:nvPr>
        </p:nvSpPr>
        <p:spPr/>
        <p:txBody>
          <a:bodyPr/>
          <a:lstStyle/>
          <a:p>
            <a:fld id="{2C77B6D4-FF60-4BA7-86A9-72D6106BD70D}" type="slidenum">
              <a:rPr lang="en-US" smtClean="0"/>
              <a:pPr/>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	Performance 24 </a:t>
            </a:r>
            <a:r>
              <a:rPr lang="en-IE" dirty="0" err="1"/>
              <a:t>secs</a:t>
            </a:r>
            <a:endParaRPr lang="en-IE" dirty="0"/>
          </a:p>
          <a:p>
            <a:r>
              <a:rPr lang="en-IE" dirty="0"/>
              <a:t>    Only 33% gain</a:t>
            </a:r>
          </a:p>
          <a:p>
            <a:r>
              <a:rPr lang="en-IE" dirty="0"/>
              <a:t>   </a:t>
            </a:r>
          </a:p>
          <a:p>
            <a:endParaRPr lang="en-IE" dirty="0"/>
          </a:p>
          <a:p>
            <a:r>
              <a:rPr lang="en-IE" dirty="0"/>
              <a:t>	 Why?</a:t>
            </a:r>
          </a:p>
          <a:p>
            <a:endParaRPr lang="en-IE" dirty="0"/>
          </a:p>
          <a:p>
            <a:r>
              <a:rPr lang="en-IE" dirty="0"/>
              <a:t>	Some threads finished before others and lay idle for considerable periods of time</a:t>
            </a:r>
          </a:p>
          <a:p>
            <a:endParaRPr lang="en-IE" dirty="0"/>
          </a:p>
          <a:p>
            <a:r>
              <a:rPr lang="en-IE" dirty="0"/>
              <a:t>	Why?</a:t>
            </a:r>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	Use a </a:t>
            </a:r>
            <a:r>
              <a:rPr lang="en-IE" dirty="0" err="1"/>
              <a:t>threadpool</a:t>
            </a:r>
            <a:r>
              <a:rPr lang="en-IE" dirty="0"/>
              <a:t> to execute tasks</a:t>
            </a:r>
          </a:p>
          <a:p>
            <a:endParaRPr lang="en-IE" dirty="0"/>
          </a:p>
          <a:p>
            <a:r>
              <a:rPr lang="en-IE" dirty="0"/>
              <a:t>	Divide total range into small segments of say 1000</a:t>
            </a:r>
          </a:p>
          <a:p>
            <a:endParaRPr lang="en-IE" dirty="0"/>
          </a:p>
          <a:p>
            <a:r>
              <a:rPr lang="en-IE" dirty="0"/>
              <a:t>	A thread checking a small range will go back to the pool and get another task.</a:t>
            </a:r>
          </a:p>
          <a:p>
            <a:endParaRPr lang="en-IE" dirty="0"/>
          </a:p>
          <a:p>
            <a:r>
              <a:rPr lang="en-IE" dirty="0"/>
              <a:t>	Increased performance to 50% as one would expect on a dual core machine</a:t>
            </a:r>
          </a:p>
        </p:txBody>
      </p:sp>
      <p:sp>
        <p:nvSpPr>
          <p:cNvPr id="6" name="Slide Number Placeholder 5"/>
          <p:cNvSpPr>
            <a:spLocks noGrp="1"/>
          </p:cNvSpPr>
          <p:nvPr>
            <p:ph type="sldNum" sz="quarter" idx="12"/>
          </p:nvPr>
        </p:nvSpPr>
        <p:spPr/>
        <p:txBody>
          <a:bodyPr/>
          <a:lstStyle/>
          <a:p>
            <a:fld id="{2C77B6D4-FF60-4BA7-86A9-72D6106BD70D}" type="slidenum">
              <a:rPr lang="en-US" smtClean="0"/>
              <a:pPr/>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Fork Join and Work Stealing</a:t>
            </a:r>
          </a:p>
        </p:txBody>
      </p:sp>
      <p:sp>
        <p:nvSpPr>
          <p:cNvPr id="3" name="Content Placeholder 2"/>
          <p:cNvSpPr>
            <a:spLocks noGrp="1"/>
          </p:cNvSpPr>
          <p:nvPr>
            <p:ph idx="1"/>
          </p:nvPr>
        </p:nvSpPr>
        <p:spPr/>
        <p:txBody>
          <a:bodyPr/>
          <a:lstStyle/>
          <a:p>
            <a:r>
              <a:rPr lang="en-IE" dirty="0"/>
              <a:t>    </a:t>
            </a:r>
            <a:r>
              <a:rPr lang="en-IE" dirty="0" err="1">
                <a:latin typeface="Comic Sans MS" pitchFamily="66" charset="0"/>
              </a:rPr>
              <a:t>ForkJoinPool</a:t>
            </a:r>
            <a:r>
              <a:rPr lang="en-IE" dirty="0"/>
              <a:t> provides an implementation of a divide and conquer algorithm</a:t>
            </a:r>
          </a:p>
          <a:p>
            <a:endParaRPr lang="en-IE" dirty="0"/>
          </a:p>
          <a:p>
            <a:r>
              <a:rPr lang="en-IE" dirty="0"/>
              <a:t>	Developed by D. Lea and introduced in Java 7</a:t>
            </a:r>
          </a:p>
        </p:txBody>
      </p:sp>
      <p:sp>
        <p:nvSpPr>
          <p:cNvPr id="6" name="Slide Number Placeholder 5"/>
          <p:cNvSpPr>
            <a:spLocks noGrp="1"/>
          </p:cNvSpPr>
          <p:nvPr>
            <p:ph type="sldNum" sz="quarter" idx="12"/>
          </p:nvPr>
        </p:nvSpPr>
        <p:spPr/>
        <p:txBody>
          <a:bodyPr/>
          <a:lstStyle/>
          <a:p>
            <a:fld id="{2C77B6D4-FF60-4BA7-86A9-72D6106BD70D}" type="slidenum">
              <a:rPr lang="en-US" smtClean="0"/>
              <a:pPr/>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Result solve(Problem </a:t>
            </a:r>
            <a:r>
              <a:rPr lang="en-IE" dirty="0" err="1"/>
              <a:t>problem</a:t>
            </a:r>
            <a:r>
              <a:rPr lang="en-IE" dirty="0"/>
              <a:t>) {</a:t>
            </a:r>
          </a:p>
          <a:p>
            <a:r>
              <a:rPr lang="en-IE" dirty="0"/>
              <a:t>     if (problem is small)</a:t>
            </a:r>
          </a:p>
          <a:p>
            <a:r>
              <a:rPr lang="en-IE" dirty="0"/>
              <a:t>        directly solve problem</a:t>
            </a:r>
          </a:p>
          <a:p>
            <a:r>
              <a:rPr lang="en-IE" dirty="0"/>
              <a:t>     else {</a:t>
            </a:r>
          </a:p>
          <a:p>
            <a:r>
              <a:rPr lang="en-IE" dirty="0"/>
              <a:t>        split problem into independent parts</a:t>
            </a:r>
          </a:p>
          <a:p>
            <a:r>
              <a:rPr lang="en-IE" dirty="0"/>
              <a:t>        fork new subtasks to solve each part</a:t>
            </a:r>
          </a:p>
          <a:p>
            <a:r>
              <a:rPr lang="en-IE" dirty="0"/>
              <a:t>        join all subtasks</a:t>
            </a:r>
          </a:p>
          <a:p>
            <a:r>
              <a:rPr lang="en-IE" dirty="0"/>
              <a:t>        compose result from </a:t>
            </a:r>
            <a:r>
              <a:rPr lang="en-IE" dirty="0" err="1"/>
              <a:t>subresults</a:t>
            </a:r>
            <a:endParaRPr lang="en-IE" dirty="0"/>
          </a:p>
          <a:p>
            <a:r>
              <a:rPr lang="en-IE" dirty="0"/>
              <a:t>     }</a:t>
            </a:r>
          </a:p>
          <a:p>
            <a:r>
              <a:rPr lang="en-IE" dirty="0"/>
              <a:t>}</a:t>
            </a:r>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	This is a recursive algorithm that divides a task until it is manageable and then solves the sub task. </a:t>
            </a:r>
          </a:p>
          <a:p>
            <a:endParaRPr lang="en-US" dirty="0"/>
          </a:p>
          <a:p>
            <a:r>
              <a:rPr lang="en-US" dirty="0"/>
              <a:t>	To do this it recursively forks new tasks and then waits (join) for all sub-tasks to complete.</a:t>
            </a:r>
          </a:p>
          <a:p>
            <a:r>
              <a:rPr lang="en-US" dirty="0"/>
              <a:t>	</a:t>
            </a:r>
          </a:p>
          <a:p>
            <a:r>
              <a:rPr lang="en-US" dirty="0"/>
              <a:t>   The underlying tasks are managed by a </a:t>
            </a:r>
            <a:r>
              <a:rPr lang="en-US" dirty="0" err="1"/>
              <a:t>threadpool</a:t>
            </a:r>
            <a:r>
              <a:rPr lang="en-US" dirty="0"/>
              <a:t> that uses </a:t>
            </a:r>
            <a:r>
              <a:rPr lang="en-US" i="1" dirty="0"/>
              <a:t>work stealing</a:t>
            </a:r>
            <a:r>
              <a:rPr lang="en-US" dirty="0"/>
              <a:t>.</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pPr algn="just">
              <a:buFont typeface="Arial" pitchFamily="34" charset="0"/>
              <a:buChar char="•"/>
            </a:pPr>
            <a:r>
              <a:rPr lang="en-US" dirty="0"/>
              <a:t>Idea behind </a:t>
            </a:r>
            <a:r>
              <a:rPr lang="en-US" i="1" dirty="0"/>
              <a:t>work stealing</a:t>
            </a:r>
            <a:r>
              <a:rPr lang="en-US" dirty="0"/>
              <a:t> is that workers steal work from other workers, if they themselves are idle.</a:t>
            </a:r>
          </a:p>
          <a:p>
            <a:pPr algn="just"/>
            <a:r>
              <a:rPr lang="en-US" dirty="0"/>
              <a:t> </a:t>
            </a:r>
          </a:p>
          <a:p>
            <a:pPr algn="just">
              <a:buFont typeface="Arial" pitchFamily="34" charset="0"/>
              <a:buChar char="•"/>
            </a:pPr>
            <a:r>
              <a:rPr lang="en-US" dirty="0"/>
              <a:t>Each thread in the pool manages its own job queue and can add new jobs to it. </a:t>
            </a:r>
          </a:p>
          <a:p>
            <a:pPr algn="just">
              <a:buFont typeface="Arial" pitchFamily="34" charset="0"/>
              <a:buChar char="•"/>
            </a:pPr>
            <a:endParaRPr lang="en-US" dirty="0"/>
          </a:p>
          <a:p>
            <a:pPr algn="just">
              <a:buFont typeface="Arial" pitchFamily="34" charset="0"/>
              <a:buChar char="•"/>
            </a:pPr>
            <a:r>
              <a:rPr lang="en-US" dirty="0"/>
              <a:t>In the event that it has no work left to do in its own queue it inspects the queue of another worker in the pool and tries to help by </a:t>
            </a:r>
            <a:r>
              <a:rPr lang="en-US" i="1" dirty="0"/>
              <a:t>stealing</a:t>
            </a:r>
            <a:r>
              <a:rPr lang="en-US" dirty="0"/>
              <a:t> a job from it.</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	</a:t>
            </a:r>
            <a:r>
              <a:rPr lang="en-US" dirty="0" err="1"/>
              <a:t>ForkJoinPool</a:t>
            </a:r>
            <a:r>
              <a:rPr lang="en-US" dirty="0"/>
              <a:t> creates an environment that will execute and manage fork-join tasks. </a:t>
            </a:r>
          </a:p>
          <a:p>
            <a:r>
              <a:rPr lang="en-US" dirty="0"/>
              <a:t>	</a:t>
            </a:r>
          </a:p>
          <a:p>
            <a:r>
              <a:rPr lang="en-US" dirty="0"/>
              <a:t>	By default it allocates as many threads as there are processors on the machine to handle the pool of tasks</a:t>
            </a:r>
          </a:p>
          <a:p>
            <a:endParaRPr lang="en-US" dirty="0"/>
          </a:p>
          <a:p>
            <a:r>
              <a:rPr lang="en-US" dirty="0"/>
              <a:t>	</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	</a:t>
            </a:r>
            <a:r>
              <a:rPr lang="en-US" dirty="0" err="1"/>
              <a:t>RecursiveAction</a:t>
            </a:r>
            <a:r>
              <a:rPr lang="en-US" dirty="0"/>
              <a:t>&lt;V&gt;, that defines a task and does not return a value</a:t>
            </a:r>
          </a:p>
          <a:p>
            <a:r>
              <a:rPr lang="en-US" dirty="0"/>
              <a:t> </a:t>
            </a:r>
          </a:p>
          <a:p>
            <a:r>
              <a:rPr lang="en-US" dirty="0"/>
              <a:t>	</a:t>
            </a:r>
            <a:r>
              <a:rPr lang="en-US" dirty="0" err="1"/>
              <a:t>RecursiveTask</a:t>
            </a:r>
            <a:r>
              <a:rPr lang="en-US" dirty="0"/>
              <a:t>&lt;V&gt; that returns a value on completion</a:t>
            </a:r>
          </a:p>
          <a:p>
            <a:r>
              <a:rPr lang="en-US" dirty="0"/>
              <a:t>	</a:t>
            </a:r>
          </a:p>
          <a:p>
            <a:r>
              <a:rPr lang="en-US" dirty="0"/>
              <a:t>	Classes that inherit from these super classes must override the </a:t>
            </a:r>
            <a:r>
              <a:rPr lang="en-US" dirty="0">
                <a:latin typeface="Comic Sans MS" pitchFamily="66" charset="0"/>
              </a:rPr>
              <a:t>compute</a:t>
            </a:r>
            <a:r>
              <a:rPr lang="en-US" dirty="0"/>
              <a:t> method. </a:t>
            </a:r>
          </a:p>
          <a:p>
            <a:endParaRPr lang="en-US" dirty="0"/>
          </a:p>
          <a:p>
            <a:r>
              <a:rPr lang="en-US" dirty="0"/>
              <a:t>	This method takes no arguments and may or may not return a value. </a:t>
            </a:r>
            <a:endParaRPr lang="en-IE"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class &lt;Name&gt; extends </a:t>
            </a:r>
            <a:r>
              <a:rPr lang="en-US" dirty="0" err="1"/>
              <a:t>RecursiveTask</a:t>
            </a:r>
            <a:r>
              <a:rPr lang="en-US" dirty="0"/>
              <a:t>&lt;V&gt; {</a:t>
            </a:r>
            <a:endParaRPr lang="en-IE" dirty="0"/>
          </a:p>
          <a:p>
            <a:r>
              <a:rPr lang="en-US" dirty="0"/>
              <a:t>    static final </a:t>
            </a:r>
            <a:r>
              <a:rPr lang="en-US" dirty="0" err="1"/>
              <a:t>int</a:t>
            </a:r>
            <a:r>
              <a:rPr lang="en-US" dirty="0"/>
              <a:t> </a:t>
            </a:r>
            <a:r>
              <a:rPr lang="en-US" dirty="0" err="1"/>
              <a:t>BaseBlockSize</a:t>
            </a:r>
            <a:r>
              <a:rPr lang="en-US" dirty="0"/>
              <a:t> = …;</a:t>
            </a:r>
            <a:endParaRPr lang="en-IE" dirty="0"/>
          </a:p>
          <a:p>
            <a:r>
              <a:rPr lang="en-US" dirty="0"/>
              <a:t>    &lt;Name&gt;(…){</a:t>
            </a:r>
            <a:endParaRPr lang="en-IE" dirty="0"/>
          </a:p>
          <a:p>
            <a:r>
              <a:rPr lang="en-US" dirty="0"/>
              <a:t>        //constructor</a:t>
            </a:r>
            <a:endParaRPr lang="en-IE" dirty="0"/>
          </a:p>
          <a:p>
            <a:r>
              <a:rPr lang="en-US" dirty="0"/>
              <a:t>    }</a:t>
            </a:r>
            <a:endParaRPr lang="en-IE" dirty="0"/>
          </a:p>
          <a:p>
            <a:r>
              <a:rPr lang="en-US" dirty="0"/>
              <a:t>    </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sz="2400" dirty="0"/>
              <a:t>protected &lt;V&gt; compute() {</a:t>
            </a:r>
            <a:endParaRPr lang="en-IE" sz="2400" dirty="0"/>
          </a:p>
          <a:p>
            <a:r>
              <a:rPr lang="en-US" sz="2400" dirty="0"/>
              <a:t>        if(… &lt;= </a:t>
            </a:r>
            <a:r>
              <a:rPr lang="en-US" sz="2400" dirty="0" err="1"/>
              <a:t>BaseBlockSize</a:t>
            </a:r>
            <a:r>
              <a:rPr lang="en-US" sz="2400" dirty="0"/>
              <a:t>) {</a:t>
            </a:r>
            <a:endParaRPr lang="en-IE" sz="2400" dirty="0"/>
          </a:p>
          <a:p>
            <a:r>
              <a:rPr lang="en-US" sz="2400" dirty="0"/>
              <a:t>            // execute sequential code</a:t>
            </a:r>
            <a:endParaRPr lang="en-IE" sz="2400" dirty="0"/>
          </a:p>
          <a:p>
            <a:r>
              <a:rPr lang="en-US" sz="2400" dirty="0"/>
              <a:t>         } else {</a:t>
            </a:r>
            <a:endParaRPr lang="en-IE" sz="2400" dirty="0"/>
          </a:p>
          <a:p>
            <a:r>
              <a:rPr lang="en-US" sz="2400" dirty="0"/>
              <a:t>            //divide job size</a:t>
            </a:r>
            <a:endParaRPr lang="en-IE" sz="2400" dirty="0"/>
          </a:p>
          <a:p>
            <a:r>
              <a:rPr lang="en-US" sz="2400" dirty="0"/>
              <a:t>            &lt;Name&gt; left  = new &lt;Name&gt;(…);</a:t>
            </a:r>
            <a:endParaRPr lang="en-IE" sz="2400" dirty="0"/>
          </a:p>
          <a:p>
            <a:r>
              <a:rPr lang="en-US" sz="2400" dirty="0"/>
              <a:t>            &lt;Name&gt; right = new &lt;Name&gt;(…);</a:t>
            </a:r>
            <a:endParaRPr lang="en-IE" sz="2400" dirty="0"/>
          </a:p>
          <a:p>
            <a:r>
              <a:rPr lang="en-US" sz="2400" dirty="0"/>
              <a:t>            </a:t>
            </a:r>
            <a:r>
              <a:rPr lang="en-US" sz="2400" dirty="0" err="1"/>
              <a:t>left.fork</a:t>
            </a:r>
            <a:r>
              <a:rPr lang="en-US" sz="2400" dirty="0"/>
              <a:t>();</a:t>
            </a:r>
            <a:endParaRPr lang="en-IE" sz="2400" dirty="0"/>
          </a:p>
          <a:p>
            <a:r>
              <a:rPr lang="en-US" sz="2400" dirty="0"/>
              <a:t>		  </a:t>
            </a:r>
            <a:r>
              <a:rPr lang="en-US" sz="2400" dirty="0" err="1"/>
              <a:t>right.fork</a:t>
            </a:r>
            <a:r>
              <a:rPr lang="en-US" sz="2400" dirty="0"/>
              <a:t>();</a:t>
            </a:r>
            <a:endParaRPr lang="en-IE" sz="2400" dirty="0"/>
          </a:p>
          <a:p>
            <a:r>
              <a:rPr lang="en-US" sz="2400" dirty="0"/>
              <a:t>            &lt;V&gt; &lt;</a:t>
            </a:r>
            <a:r>
              <a:rPr lang="en-US" sz="2400" dirty="0" err="1"/>
              <a:t>varName</a:t>
            </a:r>
            <a:r>
              <a:rPr lang="en-US" sz="2400" dirty="0"/>
              <a:t>&gt; = </a:t>
            </a:r>
            <a:r>
              <a:rPr lang="en-US" sz="2400" dirty="0" err="1"/>
              <a:t>right.join</a:t>
            </a:r>
            <a:r>
              <a:rPr lang="en-US" sz="2400" dirty="0"/>
              <a:t>();</a:t>
            </a:r>
            <a:endParaRPr lang="en-IE" sz="2400" dirty="0"/>
          </a:p>
          <a:p>
            <a:r>
              <a:rPr lang="en-US" sz="2400" dirty="0"/>
              <a:t>            &lt;V&gt; &lt;</a:t>
            </a:r>
            <a:r>
              <a:rPr lang="en-US" sz="2400" dirty="0" err="1"/>
              <a:t>varName</a:t>
            </a:r>
            <a:r>
              <a:rPr lang="en-US" sz="2400" dirty="0"/>
              <a:t>&gt;  = </a:t>
            </a:r>
            <a:r>
              <a:rPr lang="en-US" sz="2400" dirty="0" err="1"/>
              <a:t>left.join</a:t>
            </a:r>
            <a:r>
              <a:rPr lang="en-US" sz="2400" dirty="0"/>
              <a:t>();</a:t>
            </a:r>
            <a:endParaRPr lang="en-IE" sz="2400" dirty="0"/>
          </a:p>
          <a:p>
            <a:r>
              <a:rPr lang="en-US" sz="2400" dirty="0"/>
              <a:t>            return &lt;result&gt;;</a:t>
            </a:r>
            <a:endParaRPr lang="en-IE" sz="2400"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Never do this!</a:t>
            </a:r>
          </a:p>
          <a:p>
            <a:endParaRPr lang="en-US" dirty="0"/>
          </a:p>
          <a:p>
            <a:r>
              <a:rPr lang="en-US" dirty="0" err="1"/>
              <a:t>left.fork</a:t>
            </a:r>
            <a:r>
              <a:rPr lang="en-US" dirty="0"/>
              <a:t>();</a:t>
            </a:r>
            <a:endParaRPr lang="en-IE" dirty="0"/>
          </a:p>
          <a:p>
            <a:r>
              <a:rPr lang="en-US" dirty="0"/>
              <a:t>&lt;V&gt; &lt;</a:t>
            </a:r>
            <a:r>
              <a:rPr lang="en-US" dirty="0" err="1"/>
              <a:t>varName</a:t>
            </a:r>
            <a:r>
              <a:rPr lang="en-US" dirty="0"/>
              <a:t>&gt;  = </a:t>
            </a:r>
            <a:r>
              <a:rPr lang="en-US" dirty="0" err="1"/>
              <a:t>left.join</a:t>
            </a:r>
            <a:r>
              <a:rPr lang="en-US" dirty="0"/>
              <a:t>();</a:t>
            </a:r>
            <a:endParaRPr lang="en-IE" dirty="0"/>
          </a:p>
          <a:p>
            <a:r>
              <a:rPr lang="en-US" dirty="0"/>
              <a:t> </a:t>
            </a:r>
            <a:r>
              <a:rPr lang="en-US" dirty="0" err="1"/>
              <a:t>right.fork</a:t>
            </a:r>
            <a:r>
              <a:rPr lang="en-US" dirty="0"/>
              <a:t>();</a:t>
            </a:r>
            <a:endParaRPr lang="en-IE" dirty="0"/>
          </a:p>
          <a:p>
            <a:r>
              <a:rPr lang="en-US" dirty="0"/>
              <a:t>  &lt;V&gt; &lt;</a:t>
            </a:r>
            <a:r>
              <a:rPr lang="en-US" dirty="0" err="1"/>
              <a:t>varName</a:t>
            </a:r>
            <a:r>
              <a:rPr lang="en-US" dirty="0"/>
              <a:t>&gt;  = </a:t>
            </a:r>
            <a:r>
              <a:rPr lang="en-US" dirty="0" err="1"/>
              <a:t>right.join</a:t>
            </a:r>
            <a:r>
              <a:rPr lang="en-US" dirty="0"/>
              <a:t>();</a:t>
            </a:r>
            <a:endParaRPr lang="en-IE" dirty="0"/>
          </a:p>
          <a:p>
            <a:endParaRPr lang="en-US" dirty="0"/>
          </a:p>
          <a:p>
            <a:r>
              <a:rPr lang="en-US" dirty="0"/>
              <a:t>	This sequence forces right to wait for left to complete and, hence, inhibits parallelism.</a:t>
            </a:r>
            <a:r>
              <a:rPr lang="en-US" b="1" dirty="0"/>
              <a:t> </a:t>
            </a:r>
            <a:endParaRPr lang="en-IE"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class Sum extends </a:t>
            </a:r>
            <a:r>
              <a:rPr lang="en-US" dirty="0" err="1"/>
              <a:t>RecursiveTask</a:t>
            </a:r>
            <a:r>
              <a:rPr lang="en-US" dirty="0"/>
              <a:t>&lt;Long&gt; {</a:t>
            </a:r>
            <a:endParaRPr lang="en-IE" dirty="0"/>
          </a:p>
          <a:p>
            <a:r>
              <a:rPr lang="en-US" dirty="0"/>
              <a:t>    static final </a:t>
            </a:r>
            <a:r>
              <a:rPr lang="en-US" dirty="0" err="1"/>
              <a:t>int</a:t>
            </a:r>
            <a:r>
              <a:rPr lang="en-US" dirty="0"/>
              <a:t> </a:t>
            </a:r>
            <a:r>
              <a:rPr lang="en-US" dirty="0" err="1"/>
              <a:t>BaseBlockSize</a:t>
            </a:r>
            <a:r>
              <a:rPr lang="en-US" dirty="0"/>
              <a:t> = 5000;</a:t>
            </a:r>
            <a:endParaRPr lang="en-IE" dirty="0"/>
          </a:p>
          <a:p>
            <a:r>
              <a:rPr lang="en-US" dirty="0"/>
              <a:t>    </a:t>
            </a:r>
            <a:r>
              <a:rPr lang="en-US" dirty="0" err="1"/>
              <a:t>int</a:t>
            </a:r>
            <a:r>
              <a:rPr lang="en-US" dirty="0"/>
              <a:t> lb, </a:t>
            </a:r>
            <a:r>
              <a:rPr lang="en-US" dirty="0" err="1"/>
              <a:t>ub</a:t>
            </a:r>
            <a:r>
              <a:rPr lang="en-US" dirty="0"/>
              <a:t>;</a:t>
            </a:r>
            <a:endParaRPr lang="en-IE" dirty="0"/>
          </a:p>
          <a:p>
            <a:r>
              <a:rPr lang="en-US" dirty="0"/>
              <a:t>    </a:t>
            </a:r>
            <a:r>
              <a:rPr lang="en-US" dirty="0" err="1"/>
              <a:t>int</a:t>
            </a:r>
            <a:r>
              <a:rPr lang="en-US" dirty="0"/>
              <a:t>[] data;</a:t>
            </a:r>
            <a:endParaRPr lang="en-IE" dirty="0"/>
          </a:p>
          <a:p>
            <a:r>
              <a:rPr lang="en-US" dirty="0"/>
              <a:t>    Sum(</a:t>
            </a:r>
            <a:r>
              <a:rPr lang="en-US" dirty="0" err="1"/>
              <a:t>int</a:t>
            </a:r>
            <a:r>
              <a:rPr lang="en-US" dirty="0"/>
              <a:t>[] </a:t>
            </a:r>
            <a:r>
              <a:rPr lang="en-US" dirty="0" err="1"/>
              <a:t>dt</a:t>
            </a:r>
            <a:r>
              <a:rPr lang="en-US" dirty="0"/>
              <a:t>, </a:t>
            </a:r>
            <a:r>
              <a:rPr lang="en-US" dirty="0" err="1"/>
              <a:t>int</a:t>
            </a:r>
            <a:r>
              <a:rPr lang="en-US" dirty="0"/>
              <a:t> a, </a:t>
            </a:r>
            <a:r>
              <a:rPr lang="en-US" dirty="0" err="1"/>
              <a:t>int</a:t>
            </a:r>
            <a:r>
              <a:rPr lang="en-US" dirty="0"/>
              <a:t> b){</a:t>
            </a:r>
            <a:endParaRPr lang="en-IE" dirty="0"/>
          </a:p>
          <a:p>
            <a:r>
              <a:rPr lang="en-US" dirty="0"/>
              <a:t>        data = </a:t>
            </a:r>
            <a:r>
              <a:rPr lang="en-US" dirty="0" err="1"/>
              <a:t>dt</a:t>
            </a:r>
            <a:r>
              <a:rPr lang="en-US" dirty="0"/>
              <a:t>;</a:t>
            </a:r>
            <a:endParaRPr lang="en-IE" dirty="0"/>
          </a:p>
          <a:p>
            <a:r>
              <a:rPr lang="en-US" dirty="0"/>
              <a:t>        lb = a; </a:t>
            </a:r>
            <a:r>
              <a:rPr lang="en-US" dirty="0" err="1"/>
              <a:t>ub</a:t>
            </a:r>
            <a:r>
              <a:rPr lang="en-US" dirty="0"/>
              <a:t> = b;</a:t>
            </a:r>
            <a:endParaRPr lang="en-IE" dirty="0"/>
          </a:p>
          <a:p>
            <a:r>
              <a:rPr lang="en-US" dirty="0"/>
              <a:t>    }</a:t>
            </a:r>
            <a:endParaRPr lang="en-IE"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    protected Long compute() {</a:t>
            </a:r>
            <a:endParaRPr lang="en-IE" dirty="0"/>
          </a:p>
          <a:p>
            <a:r>
              <a:rPr lang="en-US" dirty="0"/>
              <a:t>        if(</a:t>
            </a:r>
            <a:r>
              <a:rPr lang="en-US" dirty="0" err="1"/>
              <a:t>ub</a:t>
            </a:r>
            <a:r>
              <a:rPr lang="en-US" dirty="0"/>
              <a:t> - lb &lt;= </a:t>
            </a:r>
            <a:r>
              <a:rPr lang="en-US" dirty="0" err="1"/>
              <a:t>BaseBlockSize</a:t>
            </a:r>
            <a:r>
              <a:rPr lang="en-US" dirty="0"/>
              <a:t>) {</a:t>
            </a:r>
            <a:endParaRPr lang="en-IE" dirty="0"/>
          </a:p>
          <a:p>
            <a:r>
              <a:rPr lang="en-US" dirty="0"/>
              <a:t>            long sum = 0;</a:t>
            </a:r>
            <a:endParaRPr lang="en-IE" dirty="0"/>
          </a:p>
          <a:p>
            <a:r>
              <a:rPr lang="en-US" dirty="0"/>
              <a:t>            for(</a:t>
            </a:r>
            <a:r>
              <a:rPr lang="en-US" dirty="0" err="1"/>
              <a:t>int</a:t>
            </a:r>
            <a:r>
              <a:rPr lang="en-US" dirty="0"/>
              <a:t> </a:t>
            </a:r>
            <a:r>
              <a:rPr lang="en-US" dirty="0" err="1"/>
              <a:t>i</a:t>
            </a:r>
            <a:r>
              <a:rPr lang="en-US" dirty="0"/>
              <a:t>=lb; </a:t>
            </a:r>
            <a:r>
              <a:rPr lang="en-US" dirty="0" err="1"/>
              <a:t>i</a:t>
            </a:r>
            <a:r>
              <a:rPr lang="en-US" dirty="0"/>
              <a:t> &lt; </a:t>
            </a:r>
            <a:r>
              <a:rPr lang="en-US" dirty="0" err="1"/>
              <a:t>ub</a:t>
            </a:r>
            <a:r>
              <a:rPr lang="en-US" dirty="0"/>
              <a:t>; ++</a:t>
            </a:r>
            <a:r>
              <a:rPr lang="en-US" dirty="0" err="1"/>
              <a:t>i</a:t>
            </a:r>
            <a:r>
              <a:rPr lang="en-US" dirty="0"/>
              <a:t>)</a:t>
            </a:r>
            <a:endParaRPr lang="en-IE" dirty="0"/>
          </a:p>
          <a:p>
            <a:r>
              <a:rPr lang="en-US" dirty="0"/>
              <a:t>                sum = sum + data[</a:t>
            </a:r>
            <a:r>
              <a:rPr lang="en-US" dirty="0" err="1"/>
              <a:t>i</a:t>
            </a:r>
            <a:r>
              <a:rPr lang="en-US" dirty="0"/>
              <a:t>];</a:t>
            </a:r>
            <a:endParaRPr lang="en-IE" dirty="0"/>
          </a:p>
          <a:p>
            <a:r>
              <a:rPr lang="en-US" dirty="0"/>
              <a:t>            return sum;</a:t>
            </a:r>
            <a:endParaRPr lang="en-IE" dirty="0"/>
          </a:p>
          <a:p>
            <a:r>
              <a:rPr lang="en-US" dirty="0"/>
              <a:t>         } else </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a:xfrm>
            <a:off x="395288" y="548680"/>
            <a:ext cx="8229600" cy="5606059"/>
          </a:xfrm>
        </p:spPr>
        <p:txBody>
          <a:bodyPr/>
          <a:lstStyle/>
          <a:p>
            <a:r>
              <a:rPr lang="en-US" dirty="0"/>
              <a:t>       else {</a:t>
            </a:r>
            <a:endParaRPr lang="en-IE" dirty="0"/>
          </a:p>
          <a:p>
            <a:r>
              <a:rPr lang="en-US" dirty="0"/>
              <a:t>             </a:t>
            </a:r>
            <a:r>
              <a:rPr lang="en-US" dirty="0" err="1"/>
              <a:t>int</a:t>
            </a:r>
            <a:r>
              <a:rPr lang="en-US" dirty="0"/>
              <a:t> mid = lb + (</a:t>
            </a:r>
            <a:r>
              <a:rPr lang="en-US" dirty="0" err="1"/>
              <a:t>ub</a:t>
            </a:r>
            <a:r>
              <a:rPr lang="en-US" dirty="0"/>
              <a:t> - lb) / 2; </a:t>
            </a:r>
            <a:endParaRPr lang="en-IE" dirty="0"/>
          </a:p>
          <a:p>
            <a:r>
              <a:rPr lang="en-US" dirty="0"/>
              <a:t>            Sum left  = new Sum(data, lb, mid);</a:t>
            </a:r>
            <a:endParaRPr lang="en-IE" dirty="0"/>
          </a:p>
          <a:p>
            <a:r>
              <a:rPr lang="en-US" dirty="0"/>
              <a:t>            Sum right = new Sum(data, mid, </a:t>
            </a:r>
            <a:r>
              <a:rPr lang="en-US" dirty="0" err="1"/>
              <a:t>ub</a:t>
            </a:r>
            <a:r>
              <a:rPr lang="en-US" dirty="0"/>
              <a:t>);</a:t>
            </a:r>
            <a:endParaRPr lang="en-IE" dirty="0"/>
          </a:p>
          <a:p>
            <a:r>
              <a:rPr lang="en-US" dirty="0"/>
              <a:t>            </a:t>
            </a:r>
            <a:r>
              <a:rPr lang="en-US" dirty="0" err="1"/>
              <a:t>left.fork</a:t>
            </a:r>
            <a:r>
              <a:rPr lang="en-US" dirty="0"/>
              <a:t>();</a:t>
            </a:r>
            <a:endParaRPr lang="en-IE" dirty="0"/>
          </a:p>
          <a:p>
            <a:r>
              <a:rPr lang="en-US" dirty="0"/>
              <a:t>		   </a:t>
            </a:r>
            <a:r>
              <a:rPr lang="en-US" dirty="0" err="1"/>
              <a:t>right.fork</a:t>
            </a:r>
            <a:r>
              <a:rPr lang="en-US" dirty="0"/>
              <a:t>();</a:t>
            </a:r>
            <a:endParaRPr lang="en-IE" dirty="0"/>
          </a:p>
          <a:p>
            <a:r>
              <a:rPr lang="en-US" dirty="0"/>
              <a:t>            long </a:t>
            </a:r>
            <a:r>
              <a:rPr lang="en-US" dirty="0" err="1"/>
              <a:t>rSum</a:t>
            </a:r>
            <a:r>
              <a:rPr lang="en-US" dirty="0"/>
              <a:t> = </a:t>
            </a:r>
            <a:r>
              <a:rPr lang="en-US" dirty="0" err="1"/>
              <a:t>right.join</a:t>
            </a:r>
            <a:r>
              <a:rPr lang="en-US" dirty="0"/>
              <a:t>();</a:t>
            </a:r>
            <a:endParaRPr lang="en-IE" dirty="0"/>
          </a:p>
          <a:p>
            <a:r>
              <a:rPr lang="en-US" dirty="0"/>
              <a:t>            long </a:t>
            </a:r>
            <a:r>
              <a:rPr lang="en-US" dirty="0" err="1"/>
              <a:t>lSum</a:t>
            </a:r>
            <a:r>
              <a:rPr lang="en-US" dirty="0"/>
              <a:t>  = </a:t>
            </a:r>
            <a:r>
              <a:rPr lang="en-US" dirty="0" err="1"/>
              <a:t>left.join</a:t>
            </a:r>
            <a:r>
              <a:rPr lang="en-US" dirty="0"/>
              <a:t>();</a:t>
            </a:r>
            <a:endParaRPr lang="en-IE" dirty="0"/>
          </a:p>
          <a:p>
            <a:r>
              <a:rPr lang="en-US" dirty="0"/>
              <a:t>            return </a:t>
            </a:r>
            <a:r>
              <a:rPr lang="en-US" dirty="0" err="1"/>
              <a:t>lSum</a:t>
            </a:r>
            <a:r>
              <a:rPr lang="en-US" dirty="0"/>
              <a:t> + </a:t>
            </a:r>
            <a:r>
              <a:rPr lang="en-US" dirty="0" err="1"/>
              <a:t>rSum</a:t>
            </a:r>
            <a:r>
              <a:rPr lang="en-US" dirty="0"/>
              <a:t>;</a:t>
            </a:r>
            <a:endParaRPr lang="en-IE" dirty="0"/>
          </a:p>
          <a:p>
            <a:r>
              <a:rPr lang="en-US" dirty="0"/>
              <a:t>         }</a:t>
            </a:r>
            <a:endParaRPr lang="en-IE" dirty="0"/>
          </a:p>
          <a:p>
            <a:r>
              <a:rPr lang="en-US" dirty="0"/>
              <a:t>     }</a:t>
            </a:r>
            <a:endParaRPr lang="en-IE"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 public static void main(String[] </a:t>
            </a:r>
            <a:r>
              <a:rPr lang="en-US" dirty="0" err="1"/>
              <a:t>args</a:t>
            </a:r>
            <a:r>
              <a:rPr lang="en-US" dirty="0"/>
              <a:t>) {</a:t>
            </a:r>
            <a:endParaRPr lang="en-IE" dirty="0"/>
          </a:p>
          <a:p>
            <a:r>
              <a:rPr lang="en-US" dirty="0"/>
              <a:t>    </a:t>
            </a:r>
            <a:r>
              <a:rPr lang="en-US" dirty="0" err="1"/>
              <a:t>int</a:t>
            </a:r>
            <a:r>
              <a:rPr lang="en-US" dirty="0"/>
              <a:t> f[] = new </a:t>
            </a:r>
            <a:r>
              <a:rPr lang="en-US" dirty="0" err="1"/>
              <a:t>int</a:t>
            </a:r>
            <a:r>
              <a:rPr lang="en-US" dirty="0"/>
              <a:t>[10000000];</a:t>
            </a:r>
            <a:endParaRPr lang="en-IE" dirty="0"/>
          </a:p>
          <a:p>
            <a:r>
              <a:rPr lang="en-US" dirty="0"/>
              <a:t>    for(</a:t>
            </a:r>
            <a:r>
              <a:rPr lang="en-US" dirty="0" err="1"/>
              <a:t>int</a:t>
            </a:r>
            <a:r>
              <a:rPr lang="en-US" dirty="0"/>
              <a:t> j = 0; j &lt; </a:t>
            </a:r>
            <a:r>
              <a:rPr lang="en-US" dirty="0" err="1"/>
              <a:t>f.length</a:t>
            </a:r>
            <a:r>
              <a:rPr lang="en-US" dirty="0"/>
              <a:t>; j++)</a:t>
            </a:r>
            <a:endParaRPr lang="en-IE" dirty="0"/>
          </a:p>
          <a:p>
            <a:r>
              <a:rPr lang="en-US" dirty="0"/>
              <a:t>    	  f[j] = (</a:t>
            </a:r>
            <a:r>
              <a:rPr lang="en-US" dirty="0" err="1"/>
              <a:t>int</a:t>
            </a:r>
            <a:r>
              <a:rPr lang="en-US" dirty="0"/>
              <a:t>)(</a:t>
            </a:r>
            <a:r>
              <a:rPr lang="en-US" dirty="0" err="1"/>
              <a:t>Math.random</a:t>
            </a:r>
            <a:r>
              <a:rPr lang="en-US" dirty="0"/>
              <a:t>()*1000);</a:t>
            </a:r>
            <a:endParaRPr lang="en-IE" dirty="0"/>
          </a:p>
          <a:p>
            <a:r>
              <a:rPr lang="en-US" dirty="0"/>
              <a:t>    </a:t>
            </a:r>
            <a:r>
              <a:rPr lang="en-US" dirty="0" err="1"/>
              <a:t>ForkJoinPool</a:t>
            </a:r>
            <a:r>
              <a:rPr lang="en-US" dirty="0"/>
              <a:t> </a:t>
            </a:r>
            <a:r>
              <a:rPr lang="en-US" dirty="0" err="1"/>
              <a:t>fjPool</a:t>
            </a:r>
            <a:r>
              <a:rPr lang="en-US" dirty="0"/>
              <a:t> = new </a:t>
            </a:r>
            <a:r>
              <a:rPr lang="en-US" dirty="0" err="1"/>
              <a:t>ForkJoinPool</a:t>
            </a:r>
            <a:r>
              <a:rPr lang="en-US" dirty="0"/>
              <a:t>();</a:t>
            </a:r>
            <a:endParaRPr lang="en-IE" dirty="0"/>
          </a:p>
          <a:p>
            <a:r>
              <a:rPr lang="en-US" dirty="0"/>
              <a:t>    long sum = </a:t>
            </a:r>
            <a:r>
              <a:rPr lang="en-US" dirty="0" err="1"/>
              <a:t>fjPool.invoke</a:t>
            </a:r>
            <a:r>
              <a:rPr lang="en-US" dirty="0"/>
              <a:t>(new Sum(f,0,f.length));</a:t>
            </a:r>
            <a:endParaRPr lang="en-IE" dirty="0"/>
          </a:p>
          <a:p>
            <a:r>
              <a:rPr lang="en-US" dirty="0"/>
              <a:t>    </a:t>
            </a:r>
            <a:r>
              <a:rPr lang="en-US" dirty="0" err="1"/>
              <a:t>System.out.println</a:t>
            </a:r>
            <a:r>
              <a:rPr lang="en-US" dirty="0"/>
              <a:t>("Sum = "+sum);</a:t>
            </a:r>
            <a:endParaRPr lang="en-IE" dirty="0"/>
          </a:p>
          <a:p>
            <a:r>
              <a:rPr lang="en-US" dirty="0"/>
              <a:t> }</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A750B7EA-6C39-4B18-AE35-477E8B143085}" type="slidenum">
              <a:rPr lang="en-US"/>
              <a:pPr/>
              <a:t>92</a:t>
            </a:fld>
            <a:endParaRPr lang="en-US"/>
          </a:p>
        </p:txBody>
      </p:sp>
      <p:sp>
        <p:nvSpPr>
          <p:cNvPr id="31746" name="Rectangle 2"/>
          <p:cNvSpPr>
            <a:spLocks noGrp="1" noChangeArrowheads="1"/>
          </p:cNvSpPr>
          <p:nvPr>
            <p:ph type="title"/>
          </p:nvPr>
        </p:nvSpPr>
        <p:spPr/>
        <p:txBody>
          <a:bodyPr/>
          <a:lstStyle/>
          <a:p>
            <a:pPr eaLnBrk="1" hangingPunct="1">
              <a:defRPr/>
            </a:pPr>
            <a:r>
              <a:rPr lang="en-GB"/>
              <a:t>Quicksort</a:t>
            </a:r>
            <a:endParaRPr lang="en-US"/>
          </a:p>
        </p:txBody>
      </p:sp>
      <p:sp>
        <p:nvSpPr>
          <p:cNvPr id="31747" name="Rectangle 3"/>
          <p:cNvSpPr>
            <a:spLocks noGrp="1" noChangeArrowheads="1"/>
          </p:cNvSpPr>
          <p:nvPr>
            <p:ph type="body" idx="1"/>
          </p:nvPr>
        </p:nvSpPr>
        <p:spPr/>
        <p:txBody>
          <a:bodyPr/>
          <a:lstStyle/>
          <a:p>
            <a:pPr eaLnBrk="1" hangingPunct="1">
              <a:defRPr/>
            </a:pPr>
            <a:r>
              <a:rPr lang="en-AU" dirty="0"/>
              <a:t>	</a:t>
            </a:r>
          </a:p>
          <a:p>
            <a:pPr eaLnBrk="1" hangingPunct="1">
              <a:defRPr/>
            </a:pPr>
            <a:r>
              <a:rPr lang="en-AU" dirty="0"/>
              <a:t>	The strategy is to shuffle the elements in the array into two non- empty partitions such that all the elements in the left partition are less than or equal to those in the right partition. </a:t>
            </a:r>
          </a:p>
          <a:p>
            <a:pPr eaLnBrk="1" hangingPunct="1">
              <a:defRPr/>
            </a:pPr>
            <a:endParaRPr lang="en-AU" dirty="0"/>
          </a:p>
          <a:p>
            <a:pPr eaLnBrk="1" hangingPunct="1">
              <a:defRPr/>
            </a:pPr>
            <a:r>
              <a:rPr lang="en-AU" dirty="0"/>
              <a:t>	The elements in each partition are not necessarily sorted. </a:t>
            </a: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9311329D-7C4B-46E9-A394-3C60234DC575}" type="slidenum">
              <a:rPr lang="en-US"/>
              <a:pPr/>
              <a:t>93</a:t>
            </a:fld>
            <a:endParaRPr lang="en-US"/>
          </a:p>
        </p:txBody>
      </p:sp>
      <p:sp>
        <p:nvSpPr>
          <p:cNvPr id="32770" name="Rectangle 2"/>
          <p:cNvSpPr>
            <a:spLocks noGrp="1" noChangeArrowheads="1"/>
          </p:cNvSpPr>
          <p:nvPr>
            <p:ph type="title"/>
          </p:nvPr>
        </p:nvSpPr>
        <p:spPr>
          <a:xfrm>
            <a:off x="457200" y="274638"/>
            <a:ext cx="8229600" cy="130175"/>
          </a:xfrm>
        </p:spPr>
        <p:txBody>
          <a:bodyPr/>
          <a:lstStyle/>
          <a:p>
            <a:pPr eaLnBrk="1" hangingPunct="1">
              <a:defRPr/>
            </a:pPr>
            <a:endParaRPr lang="en-US" sz="2800"/>
          </a:p>
        </p:txBody>
      </p:sp>
      <p:sp>
        <p:nvSpPr>
          <p:cNvPr id="32771" name="Rectangle 3"/>
          <p:cNvSpPr>
            <a:spLocks noGrp="1" noChangeArrowheads="1"/>
          </p:cNvSpPr>
          <p:nvPr>
            <p:ph type="body" idx="1"/>
          </p:nvPr>
        </p:nvSpPr>
        <p:spPr>
          <a:xfrm>
            <a:off x="395288" y="333375"/>
            <a:ext cx="8229600" cy="5821363"/>
          </a:xfrm>
        </p:spPr>
        <p:txBody>
          <a:bodyPr/>
          <a:lstStyle/>
          <a:p>
            <a:pPr eaLnBrk="1" hangingPunct="1">
              <a:defRPr/>
            </a:pPr>
            <a:endParaRPr lang="en-AU" sz="2400">
              <a:latin typeface="Comic Sans MS" charset="0"/>
            </a:endParaRPr>
          </a:p>
          <a:p>
            <a:pPr eaLnBrk="1" hangingPunct="1">
              <a:defRPr/>
            </a:pPr>
            <a:r>
              <a:rPr lang="en-AU" sz="2400">
                <a:latin typeface="Comic Sans MS" charset="0"/>
              </a:rPr>
              <a:t>static void quickSort(int f[], int p, int q){</a:t>
            </a:r>
          </a:p>
          <a:p>
            <a:pPr eaLnBrk="1" hangingPunct="1">
              <a:defRPr/>
            </a:pPr>
            <a:r>
              <a:rPr lang="en-AU" sz="2400">
                <a:latin typeface="Comic Sans MS" charset="0"/>
              </a:rPr>
              <a:t>  if(q-p &lt;= 1)</a:t>
            </a:r>
          </a:p>
          <a:p>
            <a:pPr eaLnBrk="1" hangingPunct="1">
              <a:defRPr/>
            </a:pPr>
            <a:r>
              <a:rPr lang="en-AU" sz="2400">
                <a:latin typeface="Comic Sans MS" charset="0"/>
              </a:rPr>
              <a:t>      ; //skip</a:t>
            </a:r>
          </a:p>
          <a:p>
            <a:pPr eaLnBrk="1" hangingPunct="1">
              <a:defRPr/>
            </a:pPr>
            <a:r>
              <a:rPr lang="en-AU" sz="2400">
                <a:latin typeface="Comic Sans MS" charset="0"/>
              </a:rPr>
              <a:t>  else{</a:t>
            </a:r>
          </a:p>
          <a:p>
            <a:pPr eaLnBrk="1" hangingPunct="1">
              <a:defRPr/>
            </a:pPr>
            <a:r>
              <a:rPr lang="en-AU" sz="2400">
                <a:latin typeface="Comic Sans MS" charset="0"/>
              </a:rPr>
              <a:t>     // re-arrange f[p..q-1] into two non-empty partitions</a:t>
            </a:r>
          </a:p>
          <a:p>
            <a:pPr eaLnBrk="1" hangingPunct="1">
              <a:defRPr/>
            </a:pPr>
            <a:r>
              <a:rPr lang="en-AU" sz="2400">
                <a:latin typeface="Comic Sans MS" charset="0"/>
              </a:rPr>
              <a:t>     // f[p..i-1] and f[i..q-1] (p </a:t>
            </a:r>
            <a:r>
              <a:rPr lang="en-AU" sz="2400">
                <a:latin typeface="Comic Sans MS" charset="0"/>
                <a:sym typeface="Symbol" charset="0"/>
              </a:rPr>
              <a:t></a:t>
            </a:r>
            <a:r>
              <a:rPr lang="en-AU" sz="2400">
                <a:latin typeface="Comic Sans MS" charset="0"/>
              </a:rPr>
              <a:t> i </a:t>
            </a:r>
            <a:r>
              <a:rPr lang="en-AU" sz="2400">
                <a:latin typeface="Comic Sans MS" charset="0"/>
                <a:sym typeface="Symbol" charset="0"/>
              </a:rPr>
              <a:t></a:t>
            </a:r>
            <a:r>
              <a:rPr lang="en-AU" sz="2400">
                <a:latin typeface="Comic Sans MS" charset="0"/>
              </a:rPr>
              <a:t> q) and each element in</a:t>
            </a:r>
          </a:p>
          <a:p>
            <a:pPr eaLnBrk="1" hangingPunct="1">
              <a:defRPr/>
            </a:pPr>
            <a:r>
              <a:rPr lang="en-AU" sz="2400">
                <a:latin typeface="Comic Sans MS" charset="0"/>
              </a:rPr>
              <a:t>     // f[p..i-1] </a:t>
            </a:r>
            <a:r>
              <a:rPr lang="en-AU" sz="2400">
                <a:latin typeface="Comic Sans MS" charset="0"/>
                <a:sym typeface="Symbol" charset="0"/>
              </a:rPr>
              <a:t></a:t>
            </a:r>
            <a:r>
              <a:rPr lang="en-AU" sz="2400">
                <a:latin typeface="Comic Sans MS" charset="0"/>
              </a:rPr>
              <a:t> each element in f[i..q-1]</a:t>
            </a:r>
          </a:p>
          <a:p>
            <a:pPr eaLnBrk="1" hangingPunct="1">
              <a:defRPr/>
            </a:pPr>
            <a:r>
              <a:rPr lang="en-AU" sz="2400">
                <a:latin typeface="Comic Sans MS" charset="0"/>
              </a:rPr>
              <a:t>     quickSort(f,p,i);</a:t>
            </a:r>
          </a:p>
          <a:p>
            <a:pPr eaLnBrk="1" hangingPunct="1">
              <a:defRPr/>
            </a:pPr>
            <a:r>
              <a:rPr lang="en-AU" sz="2400">
                <a:latin typeface="Comic Sans MS" charset="0"/>
              </a:rPr>
              <a:t>     quickSort(f,i,q);</a:t>
            </a:r>
          </a:p>
          <a:p>
            <a:pPr eaLnBrk="1" hangingPunct="1">
              <a:defRPr/>
            </a:pPr>
            <a:r>
              <a:rPr lang="en-AU" sz="2400">
                <a:latin typeface="Comic Sans MS" charset="0"/>
              </a:rPr>
              <a:t>  }</a:t>
            </a:r>
          </a:p>
          <a:p>
            <a:pPr eaLnBrk="1" hangingPunct="1">
              <a:defRPr/>
            </a:pPr>
            <a:r>
              <a:rPr lang="en-AU" sz="2400">
                <a:latin typeface="Comic Sans MS" charset="0"/>
              </a:rPr>
              <a:t>}</a:t>
            </a:r>
            <a:endParaRPr lang="en-US" sz="2400">
              <a:latin typeface="Comic Sans MS"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651E2E75-1FCE-4761-A288-EE7D8EA8EDDB}" type="slidenum">
              <a:rPr lang="en-US"/>
              <a:pPr/>
              <a:t>94</a:t>
            </a:fld>
            <a:endParaRPr lang="en-US"/>
          </a:p>
        </p:txBody>
      </p:sp>
      <p:sp>
        <p:nvSpPr>
          <p:cNvPr id="33794" name="Rectangle 2"/>
          <p:cNvSpPr>
            <a:spLocks noGrp="1" noChangeArrowheads="1"/>
          </p:cNvSpPr>
          <p:nvPr>
            <p:ph type="title"/>
          </p:nvPr>
        </p:nvSpPr>
        <p:spPr/>
        <p:txBody>
          <a:bodyPr/>
          <a:lstStyle/>
          <a:p>
            <a:pPr eaLnBrk="1" hangingPunct="1">
              <a:defRPr/>
            </a:pPr>
            <a:endParaRPr lang="en-US"/>
          </a:p>
        </p:txBody>
      </p:sp>
      <p:sp>
        <p:nvSpPr>
          <p:cNvPr id="33795" name="Rectangle 3"/>
          <p:cNvSpPr>
            <a:spLocks noGrp="1" noChangeArrowheads="1"/>
          </p:cNvSpPr>
          <p:nvPr>
            <p:ph type="body" idx="1"/>
          </p:nvPr>
        </p:nvSpPr>
        <p:spPr/>
        <p:txBody>
          <a:bodyPr/>
          <a:lstStyle/>
          <a:p>
            <a:pPr eaLnBrk="1" hangingPunct="1">
              <a:defRPr/>
            </a:pPr>
            <a:r>
              <a:rPr lang="en-AU"/>
              <a:t>	re-arrange f[p..q-1] must now be solved. </a:t>
            </a:r>
          </a:p>
          <a:p>
            <a:pPr eaLnBrk="1" hangingPunct="1">
              <a:defRPr/>
            </a:pPr>
            <a:endParaRPr lang="en-AU"/>
          </a:p>
          <a:p>
            <a:pPr eaLnBrk="1" hangingPunct="1">
              <a:defRPr/>
            </a:pPr>
            <a:r>
              <a:rPr lang="en-AU"/>
              <a:t>	The strategy is to choose some x in the segment and partition the elements about x.</a:t>
            </a:r>
          </a:p>
          <a:p>
            <a:pPr eaLnBrk="1" hangingPunct="1">
              <a:defRPr/>
            </a:pPr>
            <a:endParaRPr lang="en-AU"/>
          </a:p>
          <a:p>
            <a:pPr eaLnBrk="1" hangingPunct="1">
              <a:defRPr/>
            </a:pPr>
            <a:endParaRPr lang="en-AU"/>
          </a:p>
          <a:p>
            <a:pPr eaLnBrk="1" hangingPunct="1">
              <a:defRPr/>
            </a:pPr>
            <a:endParaRPr lang="en-AU"/>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304E283B-8A63-4102-8EEC-99AB71274C52}" type="slidenum">
              <a:rPr lang="en-US"/>
              <a:pPr/>
              <a:t>95</a:t>
            </a:fld>
            <a:endParaRPr lang="en-US"/>
          </a:p>
        </p:txBody>
      </p:sp>
      <p:sp>
        <p:nvSpPr>
          <p:cNvPr id="35842" name="Rectangle 2"/>
          <p:cNvSpPr>
            <a:spLocks noGrp="1" noChangeArrowheads="1"/>
          </p:cNvSpPr>
          <p:nvPr>
            <p:ph type="title"/>
          </p:nvPr>
        </p:nvSpPr>
        <p:spPr>
          <a:xfrm flipV="1">
            <a:off x="457200" y="188913"/>
            <a:ext cx="8229600" cy="85725"/>
          </a:xfrm>
        </p:spPr>
        <p:txBody>
          <a:bodyPr/>
          <a:lstStyle/>
          <a:p>
            <a:pPr eaLnBrk="1" hangingPunct="1">
              <a:defRPr/>
            </a:pPr>
            <a:endParaRPr lang="en-US" sz="2800"/>
          </a:p>
        </p:txBody>
      </p:sp>
      <p:sp>
        <p:nvSpPr>
          <p:cNvPr id="35843" name="Rectangle 3"/>
          <p:cNvSpPr>
            <a:spLocks noGrp="1" noChangeArrowheads="1"/>
          </p:cNvSpPr>
          <p:nvPr>
            <p:ph type="body" idx="1"/>
          </p:nvPr>
        </p:nvSpPr>
        <p:spPr>
          <a:xfrm>
            <a:off x="395288" y="260350"/>
            <a:ext cx="8229600" cy="5894388"/>
          </a:xfrm>
        </p:spPr>
        <p:txBody>
          <a:bodyPr/>
          <a:lstStyle/>
          <a:p>
            <a:pPr eaLnBrk="1" hangingPunct="1">
              <a:lnSpc>
                <a:spcPct val="80000"/>
              </a:lnSpc>
              <a:defRPr/>
            </a:pPr>
            <a:r>
              <a:rPr lang="en-AU" sz="2400"/>
              <a:t>	 </a:t>
            </a:r>
            <a:r>
              <a:rPr lang="en-AU" sz="2400">
                <a:latin typeface="Comic Sans MS" charset="0"/>
              </a:rPr>
              <a:t>int x;</a:t>
            </a:r>
          </a:p>
          <a:p>
            <a:pPr eaLnBrk="1" hangingPunct="1">
              <a:lnSpc>
                <a:spcPct val="80000"/>
              </a:lnSpc>
              <a:defRPr/>
            </a:pPr>
            <a:r>
              <a:rPr lang="en-AU" sz="2400">
                <a:latin typeface="Comic Sans MS" charset="0"/>
              </a:rPr>
              <a:t>     int i, j, k;</a:t>
            </a:r>
          </a:p>
          <a:p>
            <a:pPr eaLnBrk="1" hangingPunct="1">
              <a:lnSpc>
                <a:spcPct val="80000"/>
              </a:lnSpc>
              <a:defRPr/>
            </a:pPr>
            <a:r>
              <a:rPr lang="en-AU" sz="2400">
                <a:latin typeface="Comic Sans MS" charset="0"/>
              </a:rPr>
              <a:t>     // let x = middle element in f[p..q-1]</a:t>
            </a:r>
          </a:p>
          <a:p>
            <a:pPr eaLnBrk="1" hangingPunct="1">
              <a:lnSpc>
                <a:spcPct val="80000"/>
              </a:lnSpc>
              <a:defRPr/>
            </a:pPr>
            <a:r>
              <a:rPr lang="en-AU" sz="2400">
                <a:latin typeface="Comic Sans MS" charset="0"/>
              </a:rPr>
              <a:t>     x = f[(p+q)/2];</a:t>
            </a:r>
          </a:p>
          <a:p>
            <a:pPr eaLnBrk="1" hangingPunct="1">
              <a:lnSpc>
                <a:spcPct val="80000"/>
              </a:lnSpc>
              <a:defRPr/>
            </a:pPr>
            <a:r>
              <a:rPr lang="en-AU" sz="2400">
                <a:latin typeface="Comic Sans MS" charset="0"/>
              </a:rPr>
              <a:t>     i = p; j = p; k = q;</a:t>
            </a:r>
          </a:p>
          <a:p>
            <a:pPr eaLnBrk="1" hangingPunct="1">
              <a:lnSpc>
                <a:spcPct val="80000"/>
              </a:lnSpc>
              <a:defRPr/>
            </a:pPr>
            <a:r>
              <a:rPr lang="en-AU" sz="2400">
                <a:latin typeface="Comic Sans MS" charset="0"/>
              </a:rPr>
              <a:t>     while(j != k){</a:t>
            </a:r>
          </a:p>
          <a:p>
            <a:pPr eaLnBrk="1" hangingPunct="1">
              <a:lnSpc>
                <a:spcPct val="80000"/>
              </a:lnSpc>
              <a:defRPr/>
            </a:pPr>
            <a:r>
              <a:rPr lang="en-AU" sz="2400">
                <a:latin typeface="Comic Sans MS" charset="0"/>
              </a:rPr>
              <a:t>       if(f[j] == x)</a:t>
            </a:r>
          </a:p>
          <a:p>
            <a:pPr eaLnBrk="1" hangingPunct="1">
              <a:lnSpc>
                <a:spcPct val="80000"/>
              </a:lnSpc>
              <a:defRPr/>
            </a:pPr>
            <a:r>
              <a:rPr lang="en-AU" sz="2400">
                <a:latin typeface="Comic Sans MS" charset="0"/>
              </a:rPr>
              <a:t>          j = j + 1;</a:t>
            </a:r>
          </a:p>
          <a:p>
            <a:pPr eaLnBrk="1" hangingPunct="1">
              <a:lnSpc>
                <a:spcPct val="80000"/>
              </a:lnSpc>
              <a:defRPr/>
            </a:pPr>
            <a:r>
              <a:rPr lang="en-AU" sz="2400">
                <a:latin typeface="Comic Sans MS" charset="0"/>
              </a:rPr>
              <a:t>       else if(f[j] &lt; x){ </a:t>
            </a:r>
          </a:p>
          <a:p>
            <a:pPr eaLnBrk="1" hangingPunct="1">
              <a:lnSpc>
                <a:spcPct val="80000"/>
              </a:lnSpc>
              <a:defRPr/>
            </a:pPr>
            <a:r>
              <a:rPr lang="en-AU" sz="2400">
                <a:latin typeface="Comic Sans MS" charset="0"/>
              </a:rPr>
              <a:t>         //swap f[j] with f[i]</a:t>
            </a:r>
          </a:p>
          <a:p>
            <a:pPr eaLnBrk="1" hangingPunct="1">
              <a:lnSpc>
                <a:spcPct val="80000"/>
              </a:lnSpc>
              <a:defRPr/>
            </a:pPr>
            <a:r>
              <a:rPr lang="en-AU" sz="2400">
                <a:latin typeface="Comic Sans MS" charset="0"/>
              </a:rPr>
              <a:t>       }</a:t>
            </a:r>
          </a:p>
          <a:p>
            <a:pPr eaLnBrk="1" hangingPunct="1">
              <a:lnSpc>
                <a:spcPct val="80000"/>
              </a:lnSpc>
              <a:defRPr/>
            </a:pPr>
            <a:r>
              <a:rPr lang="en-AU" sz="2400">
                <a:latin typeface="Comic Sans MS" charset="0"/>
              </a:rPr>
              <a:t>       else{ // f[j] &gt; x </a:t>
            </a:r>
          </a:p>
          <a:p>
            <a:pPr eaLnBrk="1" hangingPunct="1">
              <a:lnSpc>
                <a:spcPct val="80000"/>
              </a:lnSpc>
              <a:defRPr/>
            </a:pPr>
            <a:r>
              <a:rPr lang="en-AU" sz="2400">
                <a:latin typeface="Comic Sans MS" charset="0"/>
              </a:rPr>
              <a:t>          // swap f[j] with f[k-1]</a:t>
            </a:r>
          </a:p>
          <a:p>
            <a:pPr eaLnBrk="1" hangingPunct="1">
              <a:lnSpc>
                <a:spcPct val="80000"/>
              </a:lnSpc>
              <a:defRPr/>
            </a:pPr>
            <a:r>
              <a:rPr lang="en-AU" sz="2400">
                <a:latin typeface="Comic Sans MS" charset="0"/>
              </a:rPr>
              <a:t>        }</a:t>
            </a:r>
          </a:p>
          <a:p>
            <a:pPr eaLnBrk="1" hangingPunct="1">
              <a:lnSpc>
                <a:spcPct val="80000"/>
              </a:lnSpc>
              <a:defRPr/>
            </a:pPr>
            <a:r>
              <a:rPr lang="en-AU" sz="2400">
                <a:latin typeface="Comic Sans MS" charset="0"/>
              </a:rPr>
              <a:t>      }</a:t>
            </a:r>
            <a:endParaRPr lang="en-US" sz="2400">
              <a:latin typeface="Comic Sans MS"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fld id="{0BAED0D6-2F90-459B-BCB3-68D7F674B836}" type="slidenum">
              <a:rPr lang="en-US"/>
              <a:pPr/>
              <a:t>96</a:t>
            </a:fld>
            <a:endParaRPr lang="en-US"/>
          </a:p>
        </p:txBody>
      </p:sp>
      <p:sp>
        <p:nvSpPr>
          <p:cNvPr id="36866" name="Rectangle 2"/>
          <p:cNvSpPr>
            <a:spLocks noGrp="1" noChangeArrowheads="1"/>
          </p:cNvSpPr>
          <p:nvPr>
            <p:ph type="title"/>
          </p:nvPr>
        </p:nvSpPr>
        <p:spPr/>
        <p:txBody>
          <a:bodyPr/>
          <a:lstStyle/>
          <a:p>
            <a:pPr eaLnBrk="1" hangingPunct="1">
              <a:defRPr/>
            </a:pPr>
            <a:r>
              <a:rPr lang="en-AU" b="1"/>
              <a:t>Parallel Solution</a:t>
            </a:r>
            <a:endParaRPr lang="en-US" b="1"/>
          </a:p>
        </p:txBody>
      </p:sp>
      <p:sp>
        <p:nvSpPr>
          <p:cNvPr id="36867" name="Rectangle 3"/>
          <p:cNvSpPr>
            <a:spLocks noGrp="1" noChangeArrowheads="1"/>
          </p:cNvSpPr>
          <p:nvPr>
            <p:ph type="body" idx="1"/>
          </p:nvPr>
        </p:nvSpPr>
        <p:spPr/>
        <p:txBody>
          <a:bodyPr/>
          <a:lstStyle/>
          <a:p>
            <a:pPr eaLnBrk="1" hangingPunct="1">
              <a:defRPr/>
            </a:pPr>
            <a:endParaRPr lang="en-AU" dirty="0"/>
          </a:p>
          <a:p>
            <a:r>
              <a:rPr lang="en-AU" dirty="0"/>
              <a:t>	</a:t>
            </a:r>
            <a:r>
              <a:rPr lang="en-US" dirty="0"/>
              <a:t> This is a divide and conquer algorithm and is a prime candidate for our </a:t>
            </a:r>
            <a:r>
              <a:rPr lang="en-US" dirty="0" err="1"/>
              <a:t>ForkJoinPool</a:t>
            </a:r>
            <a:r>
              <a:rPr lang="en-US" dirty="0"/>
              <a:t> model. It is naturally recursive in nature and we can implement it by extending the </a:t>
            </a:r>
            <a:r>
              <a:rPr lang="en-US" dirty="0" err="1"/>
              <a:t>RecursiveAction</a:t>
            </a:r>
            <a:r>
              <a:rPr lang="en-US" dirty="0"/>
              <a:t> class.</a:t>
            </a:r>
            <a:endParaRPr lang="en-IE"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class </a:t>
            </a:r>
            <a:r>
              <a:rPr lang="en-US" dirty="0" err="1"/>
              <a:t>QuickSort</a:t>
            </a:r>
            <a:r>
              <a:rPr lang="en-US" dirty="0"/>
              <a:t> extends </a:t>
            </a:r>
            <a:r>
              <a:rPr lang="en-US" dirty="0" err="1"/>
              <a:t>RecursiveAction</a:t>
            </a:r>
            <a:r>
              <a:rPr lang="en-US" dirty="0"/>
              <a:t>{</a:t>
            </a:r>
            <a:endParaRPr lang="en-IE" dirty="0"/>
          </a:p>
          <a:p>
            <a:r>
              <a:rPr lang="en-US" dirty="0"/>
              <a:t>  </a:t>
            </a:r>
            <a:r>
              <a:rPr lang="en-US" dirty="0" err="1"/>
              <a:t>int</a:t>
            </a:r>
            <a:r>
              <a:rPr lang="en-US" dirty="0"/>
              <a:t> lb;</a:t>
            </a:r>
            <a:endParaRPr lang="en-IE" dirty="0"/>
          </a:p>
          <a:p>
            <a:r>
              <a:rPr lang="en-US" dirty="0"/>
              <a:t>  </a:t>
            </a:r>
            <a:r>
              <a:rPr lang="en-US" dirty="0" err="1"/>
              <a:t>int</a:t>
            </a:r>
            <a:r>
              <a:rPr lang="en-US" dirty="0"/>
              <a:t> </a:t>
            </a:r>
            <a:r>
              <a:rPr lang="en-US" dirty="0" err="1"/>
              <a:t>ub</a:t>
            </a:r>
            <a:r>
              <a:rPr lang="en-US" dirty="0"/>
              <a:t>;</a:t>
            </a:r>
            <a:endParaRPr lang="en-IE" dirty="0"/>
          </a:p>
          <a:p>
            <a:r>
              <a:rPr lang="en-US" dirty="0"/>
              <a:t>  </a:t>
            </a:r>
            <a:r>
              <a:rPr lang="en-US" dirty="0" err="1"/>
              <a:t>int</a:t>
            </a:r>
            <a:r>
              <a:rPr lang="en-US" dirty="0"/>
              <a:t>[] data;</a:t>
            </a:r>
            <a:endParaRPr lang="en-IE" dirty="0"/>
          </a:p>
          <a:p>
            <a:r>
              <a:rPr lang="en-US" dirty="0"/>
              <a:t>  </a:t>
            </a:r>
            <a:r>
              <a:rPr lang="en-US" dirty="0" err="1"/>
              <a:t>QuickSort</a:t>
            </a:r>
            <a:r>
              <a:rPr lang="en-US" dirty="0"/>
              <a:t>(</a:t>
            </a:r>
            <a:r>
              <a:rPr lang="en-US" dirty="0" err="1"/>
              <a:t>int</a:t>
            </a:r>
            <a:r>
              <a:rPr lang="en-US" dirty="0"/>
              <a:t>[] </a:t>
            </a:r>
            <a:r>
              <a:rPr lang="en-US" dirty="0" err="1"/>
              <a:t>dt</a:t>
            </a:r>
            <a:r>
              <a:rPr lang="en-US" dirty="0"/>
              <a:t>, </a:t>
            </a:r>
            <a:r>
              <a:rPr lang="en-US" dirty="0" err="1"/>
              <a:t>int</a:t>
            </a:r>
            <a:r>
              <a:rPr lang="en-US" dirty="0"/>
              <a:t> a, </a:t>
            </a:r>
            <a:r>
              <a:rPr lang="en-US" dirty="0" err="1"/>
              <a:t>int</a:t>
            </a:r>
            <a:r>
              <a:rPr lang="en-US" dirty="0"/>
              <a:t> b){</a:t>
            </a:r>
            <a:endParaRPr lang="en-IE" dirty="0"/>
          </a:p>
          <a:p>
            <a:r>
              <a:rPr lang="en-US" dirty="0"/>
              <a:t>      data = </a:t>
            </a:r>
            <a:r>
              <a:rPr lang="en-US" dirty="0" err="1"/>
              <a:t>dt</a:t>
            </a:r>
            <a:r>
              <a:rPr lang="en-US" dirty="0"/>
              <a:t>;</a:t>
            </a:r>
            <a:endParaRPr lang="en-IE" dirty="0"/>
          </a:p>
          <a:p>
            <a:r>
              <a:rPr lang="en-US" dirty="0"/>
              <a:t>      lb   = a; </a:t>
            </a:r>
            <a:r>
              <a:rPr lang="en-US" dirty="0" err="1"/>
              <a:t>ub</a:t>
            </a:r>
            <a:r>
              <a:rPr lang="en-US" dirty="0"/>
              <a:t>  = b;</a:t>
            </a:r>
            <a:endParaRPr lang="en-IE" dirty="0"/>
          </a:p>
          <a:p>
            <a:r>
              <a:rPr lang="en-US" dirty="0"/>
              <a:t>  }</a:t>
            </a:r>
            <a:endParaRPr lang="en-IE"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   protected void compute() {</a:t>
            </a:r>
            <a:endParaRPr lang="en-IE" dirty="0"/>
          </a:p>
          <a:p>
            <a:r>
              <a:rPr lang="en-US" dirty="0"/>
              <a:t>      if(</a:t>
            </a:r>
            <a:r>
              <a:rPr lang="en-US" dirty="0" err="1"/>
              <a:t>ub</a:t>
            </a:r>
            <a:r>
              <a:rPr lang="en-US" dirty="0"/>
              <a:t> - lb &gt; 1){</a:t>
            </a:r>
            <a:endParaRPr lang="en-IE" dirty="0"/>
          </a:p>
          <a:p>
            <a:r>
              <a:rPr lang="en-US" dirty="0"/>
              <a:t>         </a:t>
            </a:r>
            <a:r>
              <a:rPr lang="en-US" dirty="0" err="1"/>
              <a:t>int</a:t>
            </a:r>
            <a:r>
              <a:rPr lang="en-US" dirty="0"/>
              <a:t> </a:t>
            </a:r>
            <a:r>
              <a:rPr lang="en-US" dirty="0" err="1"/>
              <a:t>i</a:t>
            </a:r>
            <a:r>
              <a:rPr lang="en-US" dirty="0"/>
              <a:t>, j, k;</a:t>
            </a:r>
            <a:endParaRPr lang="en-IE" dirty="0"/>
          </a:p>
          <a:p>
            <a:r>
              <a:rPr lang="en-US" dirty="0"/>
              <a:t>	     // let x = middle element in f[p..q-1]</a:t>
            </a:r>
            <a:endParaRPr lang="en-IE" dirty="0"/>
          </a:p>
          <a:p>
            <a:r>
              <a:rPr lang="en-IE" dirty="0"/>
              <a:t>         ...</a:t>
            </a:r>
          </a:p>
          <a:p>
            <a:r>
              <a:rPr lang="en-IE" dirty="0"/>
              <a:t>       </a:t>
            </a:r>
            <a:r>
              <a:rPr lang="en-US" dirty="0" err="1"/>
              <a:t>QuickSort</a:t>
            </a:r>
            <a:r>
              <a:rPr lang="en-US" dirty="0"/>
              <a:t> left  = new </a:t>
            </a:r>
            <a:r>
              <a:rPr lang="en-US" dirty="0" err="1"/>
              <a:t>QuickSort</a:t>
            </a:r>
            <a:r>
              <a:rPr lang="en-US" dirty="0"/>
              <a:t>(data, lb, </a:t>
            </a:r>
            <a:r>
              <a:rPr lang="en-US" dirty="0" err="1"/>
              <a:t>i</a:t>
            </a:r>
            <a:r>
              <a:rPr lang="en-US" dirty="0"/>
              <a:t>);</a:t>
            </a:r>
            <a:endParaRPr lang="en-IE" dirty="0"/>
          </a:p>
          <a:p>
            <a:r>
              <a:rPr lang="en-US" dirty="0"/>
              <a:t>       </a:t>
            </a:r>
            <a:r>
              <a:rPr lang="en-US" dirty="0" err="1"/>
              <a:t>QuickSort</a:t>
            </a:r>
            <a:r>
              <a:rPr lang="en-US" dirty="0"/>
              <a:t> right = new </a:t>
            </a:r>
            <a:r>
              <a:rPr lang="en-US" dirty="0" err="1"/>
              <a:t>QuickSort</a:t>
            </a:r>
            <a:r>
              <a:rPr lang="en-US" dirty="0"/>
              <a:t>(data, j, </a:t>
            </a:r>
            <a:r>
              <a:rPr lang="en-US" dirty="0" err="1"/>
              <a:t>ub</a:t>
            </a:r>
            <a:r>
              <a:rPr lang="en-US" dirty="0"/>
              <a:t>);</a:t>
            </a:r>
            <a:endParaRPr lang="en-IE" dirty="0"/>
          </a:p>
          <a:p>
            <a:r>
              <a:rPr lang="en-US" dirty="0"/>
              <a:t>       </a:t>
            </a:r>
            <a:r>
              <a:rPr lang="en-US" dirty="0" err="1"/>
              <a:t>invokeAll</a:t>
            </a:r>
            <a:r>
              <a:rPr lang="en-US" dirty="0"/>
              <a:t>(</a:t>
            </a:r>
            <a:r>
              <a:rPr lang="en-US" dirty="0" err="1"/>
              <a:t>left,right</a:t>
            </a:r>
            <a:r>
              <a:rPr lang="en-US" dirty="0"/>
              <a:t>);</a:t>
            </a:r>
            <a:endParaRPr lang="en-IE" dirty="0"/>
          </a:p>
          <a:p>
            <a:r>
              <a:rPr lang="en-US" dirty="0"/>
              <a:t>       </a:t>
            </a:r>
            <a:r>
              <a:rPr lang="en-US" dirty="0" err="1"/>
              <a:t>left.join</a:t>
            </a:r>
            <a:r>
              <a:rPr lang="en-US" dirty="0"/>
              <a:t>(); </a:t>
            </a:r>
            <a:r>
              <a:rPr lang="en-US" dirty="0" err="1"/>
              <a:t>right.join</a:t>
            </a:r>
            <a:r>
              <a:rPr lang="en-US" dirty="0"/>
              <a:t>();</a:t>
            </a:r>
          </a:p>
          <a:p>
            <a:r>
              <a:rPr lang="en-US" dirty="0"/>
              <a:t>    }</a:t>
            </a:r>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US" dirty="0"/>
              <a:t>    performance on average of approximately 2.9secs for 10 million randomly generated integer values in the range 0 .. 9999999 on dual core machine </a:t>
            </a:r>
            <a:endParaRPr lang="en-IE" dirty="0"/>
          </a:p>
          <a:p>
            <a:endParaRPr lang="en-IE" dirty="0"/>
          </a:p>
        </p:txBody>
      </p:sp>
      <p:sp>
        <p:nvSpPr>
          <p:cNvPr id="6" name="Slide Number Placeholder 5"/>
          <p:cNvSpPr>
            <a:spLocks noGrp="1"/>
          </p:cNvSpPr>
          <p:nvPr>
            <p:ph type="sldNum" sz="quarter" idx="12"/>
          </p:nvPr>
        </p:nvSpPr>
        <p:spPr/>
        <p:txBody>
          <a:bodyPr/>
          <a:lstStyle/>
          <a:p>
            <a:fld id="{2C77B6D4-FF60-4BA7-86A9-72D6106BD70D}" type="slidenum">
              <a:rPr lang="en-US" smtClean="0"/>
              <a:pPr/>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endParaRPr lang="en-IE"/>
          </a:p>
        </p:txBody>
      </p:sp>
      <p:sp>
        <p:nvSpPr>
          <p:cNvPr id="6" name="Slide Number Placeholder 5"/>
          <p:cNvSpPr>
            <a:spLocks noGrp="1"/>
          </p:cNvSpPr>
          <p:nvPr>
            <p:ph type="sldNum" sz="quarter" idx="12"/>
          </p:nvPr>
        </p:nvSpPr>
        <p:spPr/>
        <p:txBody>
          <a:bodyPr/>
          <a:lstStyle/>
          <a:p>
            <a:fld id="{2C77B6D4-FF60-4BA7-86A9-72D6106BD70D}" type="slidenum">
              <a:rPr lang="en-US" smtClean="0"/>
              <a:pPr/>
              <a:t>100</a:t>
            </a:fld>
            <a:endParaRPr lang="en-US"/>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8527</TotalTime>
  <Words>2126</Words>
  <Application>Microsoft Office PowerPoint</Application>
  <PresentationFormat>On-screen Show (4:3)</PresentationFormat>
  <Paragraphs>865</Paragraphs>
  <Slides>100</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100</vt:i4>
      </vt:variant>
    </vt:vector>
  </HeadingPairs>
  <TitlesOfParts>
    <vt:vector size="105" baseType="lpstr">
      <vt:lpstr>ＭＳ Ｐゴシック</vt:lpstr>
      <vt:lpstr>Arial</vt:lpstr>
      <vt:lpstr>Comic Sans MS</vt:lpstr>
      <vt:lpstr>Symbol</vt:lpstr>
      <vt:lpstr>Default Design</vt:lpstr>
      <vt:lpstr>Parallelising Sequential Algorithms</vt:lpstr>
      <vt:lpstr>Parallel Search</vt:lpstr>
      <vt:lpstr>Parallel Search</vt:lpstr>
      <vt:lpstr>Parallel Search</vt:lpstr>
      <vt:lpstr>Performance</vt:lpstr>
      <vt:lpstr>PowerPoint Presentation</vt:lpstr>
      <vt:lpstr>PowerPoint Presentation</vt:lpstr>
      <vt:lpstr>Selection Sort</vt:lpstr>
      <vt:lpstr>Selection Sort</vt:lpstr>
      <vt:lpstr>Selection Sort</vt:lpstr>
      <vt:lpstr>PowerPoint Presentation</vt:lpstr>
      <vt:lpstr>PowerPoint Presentation</vt:lpstr>
      <vt:lpstr>Selection Sort</vt:lpstr>
      <vt:lpstr> Distributing the Workload Fairly over Threads </vt:lpstr>
      <vt:lpstr>Rank Sort</vt:lpstr>
      <vt:lpstr>Rank Sort</vt:lpstr>
      <vt:lpstr>Parallel Version</vt:lpstr>
      <vt:lpstr>PowerPoint Presentation</vt:lpstr>
      <vt:lpstr>PowerPoint Presentation</vt:lpstr>
      <vt:lpstr>PowerPoint Presentation</vt:lpstr>
      <vt:lpstr>Performance</vt:lpstr>
      <vt:lpstr>PowerPoint Presentation</vt:lpstr>
      <vt:lpstr>PowerPoint Presentation</vt:lpstr>
      <vt:lpstr>PowerPoint Presentation</vt:lpstr>
      <vt:lpstr>PowerPoint Presentation</vt:lpstr>
      <vt:lpstr>PowerPoint Presentation</vt:lpstr>
      <vt:lpstr>PowerPoint Presentation</vt:lpstr>
      <vt:lpstr> Happy Numbers Problem </vt:lpstr>
      <vt:lpstr>Happy Numbers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ExecutorService and Threadpools</vt:lpstr>
      <vt:lpstr>ExecutorService and Threadpools</vt:lpstr>
      <vt:lpstr>PowerPoint Presentation</vt:lpstr>
      <vt:lpstr>PowerPoint Presentation</vt:lpstr>
      <vt:lpstr>PowerPoint Presentation</vt:lpstr>
      <vt:lpstr>PowerPoint Presentation</vt:lpstr>
      <vt:lpstr>PowerPoint Presentation</vt:lpstr>
      <vt:lpstr>PowerPoint Presentation</vt:lpstr>
      <vt:lpstr>Example 1</vt:lpstr>
      <vt:lpstr>PowerPoint Presentation</vt:lpstr>
      <vt:lpstr>PowerPoint Presentation</vt:lpstr>
      <vt:lpstr>PowerPoint Presentation</vt:lpstr>
      <vt:lpstr>Example 2</vt:lpstr>
      <vt:lpstr>PowerPoint Presentation</vt:lpstr>
      <vt:lpstr>PowerPoint Presentation</vt:lpstr>
      <vt:lpstr>PowerPoint Presentation</vt:lpstr>
      <vt:lpstr>PowerPoint Presentation</vt:lpstr>
      <vt:lpstr>Example 3</vt:lpstr>
      <vt:lpstr>PowerPoint Presentation</vt:lpstr>
      <vt:lpstr>PowerPoint Presentation</vt:lpstr>
      <vt:lpstr>PowerPoint Presentation</vt:lpstr>
      <vt:lpstr>PowerPoint Presentation</vt:lpstr>
      <vt:lpstr>PowerPoint Presentation</vt:lpstr>
      <vt:lpstr>PowerPoint Presentation</vt:lpstr>
      <vt:lpstr>Distrbute workload</vt:lpstr>
      <vt:lpstr>PowerPoint Presentation</vt:lpstr>
      <vt:lpstr>PowerPoint Presentation</vt:lpstr>
      <vt:lpstr>PowerPoint Presentation</vt:lpstr>
      <vt:lpstr>PowerPoint Presentation</vt:lpstr>
      <vt:lpstr>Prime Number Problem</vt:lpstr>
      <vt:lpstr>PowerPoint Presentation</vt:lpstr>
      <vt:lpstr>PowerPoint Presentation</vt:lpstr>
      <vt:lpstr>PowerPoint Presentation</vt:lpstr>
      <vt:lpstr>PowerPoint Presentation</vt:lpstr>
      <vt:lpstr>PowerPoint Presentation</vt:lpstr>
      <vt:lpstr>Fork Join and Work Stealing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Quicksort</vt:lpstr>
      <vt:lpstr>PowerPoint Presentation</vt:lpstr>
      <vt:lpstr>PowerPoint Presentation</vt:lpstr>
      <vt:lpstr>PowerPoint Presentation</vt:lpstr>
      <vt:lpstr>Parallel Solution</vt:lpstr>
      <vt:lpstr>PowerPoint Presentation</vt:lpstr>
      <vt:lpstr>PowerPoint Presentation</vt:lpstr>
      <vt:lpstr>PowerPoint Presentation</vt:lpstr>
      <vt:lpstr>PowerPoint Presentation</vt:lpstr>
    </vt:vector>
  </TitlesOfParts>
  <Company>Griffith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Tony Mullins</dc:creator>
  <cp:lastModifiedBy>OSAMA ABUSHAMA</cp:lastModifiedBy>
  <cp:revision>20</cp:revision>
  <dcterms:created xsi:type="dcterms:W3CDTF">2006-10-04T12:22:27Z</dcterms:created>
  <dcterms:modified xsi:type="dcterms:W3CDTF">2018-10-01T19:27:02Z</dcterms:modified>
</cp:coreProperties>
</file>