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7"/>
  </p:notesMasterIdLst>
  <p:sldIdLst>
    <p:sldId id="256" r:id="rId2"/>
    <p:sldId id="257" r:id="rId3"/>
    <p:sldId id="258" r:id="rId4"/>
    <p:sldId id="259" r:id="rId5"/>
    <p:sldId id="260" r:id="rId6"/>
    <p:sldId id="261" r:id="rId7"/>
    <p:sldId id="262" r:id="rId8"/>
    <p:sldId id="305"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318" r:id="rId29"/>
    <p:sldId id="282" r:id="rId30"/>
    <p:sldId id="283" r:id="rId31"/>
    <p:sldId id="284" r:id="rId32"/>
    <p:sldId id="322" r:id="rId33"/>
    <p:sldId id="323" r:id="rId34"/>
    <p:sldId id="286" r:id="rId35"/>
    <p:sldId id="325" r:id="rId36"/>
    <p:sldId id="328" r:id="rId37"/>
    <p:sldId id="329" r:id="rId38"/>
    <p:sldId id="330" r:id="rId39"/>
    <p:sldId id="331" r:id="rId40"/>
    <p:sldId id="332" r:id="rId41"/>
    <p:sldId id="333" r:id="rId42"/>
    <p:sldId id="334" r:id="rId43"/>
    <p:sldId id="360" r:id="rId44"/>
    <p:sldId id="361" r:id="rId45"/>
    <p:sldId id="362" r:id="rId46"/>
    <p:sldId id="335" r:id="rId47"/>
    <p:sldId id="336" r:id="rId48"/>
    <p:sldId id="363" r:id="rId49"/>
    <p:sldId id="364" r:id="rId50"/>
    <p:sldId id="365" r:id="rId51"/>
    <p:sldId id="366" r:id="rId52"/>
    <p:sldId id="389" r:id="rId53"/>
    <p:sldId id="390" r:id="rId54"/>
    <p:sldId id="391" r:id="rId55"/>
    <p:sldId id="367" r:id="rId56"/>
    <p:sldId id="337" r:id="rId57"/>
    <p:sldId id="339" r:id="rId58"/>
    <p:sldId id="340" r:id="rId59"/>
    <p:sldId id="344" r:id="rId60"/>
    <p:sldId id="341" r:id="rId61"/>
    <p:sldId id="369" r:id="rId62"/>
    <p:sldId id="370" r:id="rId63"/>
    <p:sldId id="368" r:id="rId64"/>
    <p:sldId id="342" r:id="rId65"/>
    <p:sldId id="343" r:id="rId66"/>
    <p:sldId id="371" r:id="rId67"/>
    <p:sldId id="372" r:id="rId68"/>
    <p:sldId id="373" r:id="rId69"/>
    <p:sldId id="345" r:id="rId70"/>
    <p:sldId id="346" r:id="rId71"/>
    <p:sldId id="347" r:id="rId72"/>
    <p:sldId id="374" r:id="rId73"/>
    <p:sldId id="375" r:id="rId74"/>
    <p:sldId id="376" r:id="rId75"/>
    <p:sldId id="377" r:id="rId76"/>
    <p:sldId id="378" r:id="rId77"/>
    <p:sldId id="380" r:id="rId78"/>
    <p:sldId id="381" r:id="rId79"/>
    <p:sldId id="382" r:id="rId80"/>
    <p:sldId id="383" r:id="rId81"/>
    <p:sldId id="379" r:id="rId82"/>
    <p:sldId id="384" r:id="rId83"/>
    <p:sldId id="385" r:id="rId84"/>
    <p:sldId id="348" r:id="rId85"/>
    <p:sldId id="349" r:id="rId86"/>
    <p:sldId id="350" r:id="rId87"/>
    <p:sldId id="351" r:id="rId88"/>
    <p:sldId id="352" r:id="rId89"/>
    <p:sldId id="353" r:id="rId90"/>
    <p:sldId id="354" r:id="rId91"/>
    <p:sldId id="355" r:id="rId92"/>
    <p:sldId id="356" r:id="rId93"/>
    <p:sldId id="357" r:id="rId94"/>
    <p:sldId id="358" r:id="rId95"/>
    <p:sldId id="359" r:id="rId9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1498"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857A75-5FCF-8C46-8938-66FD489524D6}" type="datetimeFigureOut">
              <a:rPr lang="en-US" smtClean="0"/>
              <a:pPr/>
              <a:t>2/2/2020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FD63BB-45CE-FB47-9D74-F5D17591684E}" type="slidenum">
              <a:rPr lang="en-US" smtClean="0"/>
              <a:pPr/>
              <a:t>‹#›</a:t>
            </a:fld>
            <a:endParaRPr lang="en-US"/>
          </a:p>
        </p:txBody>
      </p:sp>
    </p:spTree>
    <p:extLst>
      <p:ext uri="{BB962C8B-B14F-4D97-AF65-F5344CB8AC3E}">
        <p14:creationId xmlns:p14="http://schemas.microsoft.com/office/powerpoint/2010/main" val="12886213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073080F-C108-2C46-B0DD-95C88BF5F9B4}" type="slidenum">
              <a:rPr lang="en-US"/>
              <a:pPr>
                <a:defRPr/>
              </a:pPr>
              <a:t>35</a:t>
            </a:fld>
            <a:endParaRPr lang="en-US"/>
          </a:p>
        </p:txBody>
      </p:sp>
      <p:sp>
        <p:nvSpPr>
          <p:cNvPr id="194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945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67398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300C85A-89CC-4045-9473-F3CDEC0C9433}" type="slidenum">
              <a:rPr lang="en-US"/>
              <a:pPr>
                <a:defRPr/>
              </a:pPr>
              <a:t>38</a:t>
            </a:fld>
            <a:endParaRPr lang="en-US"/>
          </a:p>
        </p:txBody>
      </p:sp>
      <p:sp>
        <p:nvSpPr>
          <p:cNvPr id="225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2531"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915108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83AEBD2-20BC-6F4D-B8B9-8FB20E095D3F}" type="slidenum">
              <a:rPr lang="en-US"/>
              <a:pPr>
                <a:defRPr/>
              </a:pPr>
              <a:t>39</a:t>
            </a:fld>
            <a:endParaRPr lang="en-US"/>
          </a:p>
        </p:txBody>
      </p:sp>
      <p:sp>
        <p:nvSpPr>
          <p:cNvPr id="2355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355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564685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3EFD5E8-A4CA-8546-8CDC-A176857F90A1}" type="slidenum">
              <a:rPr lang="en-US"/>
              <a:pPr>
                <a:defRPr/>
              </a:pPr>
              <a:t>40</a:t>
            </a:fld>
            <a:endParaRPr lang="en-US"/>
          </a:p>
        </p:txBody>
      </p:sp>
      <p:sp>
        <p:nvSpPr>
          <p:cNvPr id="2457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457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79673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327D59B-B471-BB4C-BCF9-27B2CC9B6F82}" type="slidenum">
              <a:rPr lang="en-US"/>
              <a:pPr>
                <a:defRPr/>
              </a:pPr>
              <a:t>41</a:t>
            </a:fld>
            <a:endParaRPr lang="en-US"/>
          </a:p>
        </p:txBody>
      </p:sp>
      <p:sp>
        <p:nvSpPr>
          <p:cNvPr id="2560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560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616304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4BEDDD7-2DCA-CB4B-8533-7748D2E76284}" type="slidenum">
              <a:rPr lang="en-US"/>
              <a:pPr>
                <a:defRPr/>
              </a:pPr>
              <a:t>42</a:t>
            </a:fld>
            <a:endParaRPr lang="en-US"/>
          </a:p>
        </p:txBody>
      </p:sp>
      <p:sp>
        <p:nvSpPr>
          <p:cNvPr id="2662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62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882600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F7315C4-8C47-9744-8227-211C127F7962}" type="slidenum">
              <a:rPr lang="en-US"/>
              <a:pPr>
                <a:defRPr/>
              </a:pPr>
              <a:t>46</a:t>
            </a:fld>
            <a:endParaRPr lang="en-US"/>
          </a:p>
        </p:txBody>
      </p:sp>
      <p:sp>
        <p:nvSpPr>
          <p:cNvPr id="2765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651"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392855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4F8EBDB-E717-3846-86AF-40C0347D787D}" type="slidenum">
              <a:rPr lang="en-US"/>
              <a:pPr>
                <a:defRPr/>
              </a:pPr>
              <a:t>47</a:t>
            </a:fld>
            <a:endParaRPr lang="en-US"/>
          </a:p>
        </p:txBody>
      </p:sp>
      <p:sp>
        <p:nvSpPr>
          <p:cNvPr id="2867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867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94676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5D5AD7B-138F-0D41-9E45-730A65D6167F}" type="slidenum">
              <a:rPr lang="en-US"/>
              <a:pPr>
                <a:defRPr/>
              </a:pPr>
              <a:t>56</a:t>
            </a:fld>
            <a:endParaRPr lang="en-US"/>
          </a:p>
        </p:txBody>
      </p:sp>
      <p:sp>
        <p:nvSpPr>
          <p:cNvPr id="317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174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570030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5D92375-E2D9-6640-98FA-46D6BC504941}" type="slidenum">
              <a:rPr lang="en-US"/>
              <a:pPr>
                <a:defRPr/>
              </a:pPr>
              <a:t>57</a:t>
            </a:fld>
            <a:endParaRPr lang="en-US"/>
          </a:p>
        </p:txBody>
      </p:sp>
      <p:sp>
        <p:nvSpPr>
          <p:cNvPr id="440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403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315165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EB6BE81-A92A-D140-A9F6-EB26F8525667}" type="slidenum">
              <a:rPr lang="en-US"/>
              <a:pPr>
                <a:defRPr/>
              </a:pPr>
              <a:t>58</a:t>
            </a:fld>
            <a:endParaRPr lang="en-US"/>
          </a:p>
        </p:txBody>
      </p:sp>
      <p:sp>
        <p:nvSpPr>
          <p:cNvPr id="450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505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130296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31A22A1-B965-C24E-ABB0-D7BFD1E780B9}" type="slidenum">
              <a:rPr lang="en-US"/>
              <a:pPr>
                <a:defRPr/>
              </a:pPr>
              <a:t>59</a:t>
            </a:fld>
            <a:endParaRPr lang="en-US"/>
          </a:p>
        </p:txBody>
      </p:sp>
      <p:sp>
        <p:nvSpPr>
          <p:cNvPr id="4915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915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323075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6CBDB93-C50E-664D-A43D-6F1F83B4676B}" type="slidenum">
              <a:rPr lang="en-US"/>
              <a:pPr>
                <a:defRPr/>
              </a:pPr>
              <a:t>60</a:t>
            </a:fld>
            <a:endParaRPr lang="en-US"/>
          </a:p>
        </p:txBody>
      </p:sp>
      <p:sp>
        <p:nvSpPr>
          <p:cNvPr id="460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608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97062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0E33C10-B01C-E44A-9834-8F6CB2D582EE}" type="slidenum">
              <a:rPr lang="en-US"/>
              <a:pPr>
                <a:defRPr/>
              </a:pPr>
              <a:t>64</a:t>
            </a:fld>
            <a:endParaRPr lang="en-US"/>
          </a:p>
        </p:txBody>
      </p:sp>
      <p:sp>
        <p:nvSpPr>
          <p:cNvPr id="4710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710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8095852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41217F7-ED0F-E445-AA82-3654A4C718CC}" type="slidenum">
              <a:rPr lang="en-US"/>
              <a:pPr>
                <a:defRPr/>
              </a:pPr>
              <a:t>65</a:t>
            </a:fld>
            <a:endParaRPr lang="en-US"/>
          </a:p>
        </p:txBody>
      </p:sp>
      <p:sp>
        <p:nvSpPr>
          <p:cNvPr id="481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8131"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7264101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3F86E83-3DE5-944A-9D37-5037DE2B86AF}" type="slidenum">
              <a:rPr lang="en-US"/>
              <a:pPr>
                <a:defRPr/>
              </a:pPr>
              <a:t>69</a:t>
            </a:fld>
            <a:endParaRPr lang="en-US"/>
          </a:p>
        </p:txBody>
      </p:sp>
      <p:sp>
        <p:nvSpPr>
          <p:cNvPr id="5017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017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347655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A22BBEE-5830-EC4B-A5E2-986664138AA2}" type="slidenum">
              <a:rPr lang="en-US"/>
              <a:pPr>
                <a:defRPr/>
              </a:pPr>
              <a:t>70</a:t>
            </a:fld>
            <a:endParaRPr lang="en-US"/>
          </a:p>
        </p:txBody>
      </p:sp>
      <p:sp>
        <p:nvSpPr>
          <p:cNvPr id="5120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120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0994366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04C878B-E9B8-AA4A-BF51-939DDCCC56D6}" type="slidenum">
              <a:rPr lang="en-US"/>
              <a:pPr>
                <a:defRPr/>
              </a:pPr>
              <a:t>71</a:t>
            </a:fld>
            <a:endParaRPr lang="en-US"/>
          </a:p>
        </p:txBody>
      </p:sp>
      <p:sp>
        <p:nvSpPr>
          <p:cNvPr id="5222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222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686402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D1A75CE-0E2C-EB46-954C-BABEF632A3A2}" type="slidenum">
              <a:rPr lang="en-US"/>
              <a:pPr>
                <a:defRPr/>
              </a:pPr>
              <a:t>84</a:t>
            </a:fld>
            <a:endParaRPr lang="en-US"/>
          </a:p>
        </p:txBody>
      </p:sp>
      <p:sp>
        <p:nvSpPr>
          <p:cNvPr id="5325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3251"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128684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85508D1-801E-9A4A-8B55-D1FD6B899BEC}" type="slidenum">
              <a:rPr lang="en-US"/>
              <a:pPr>
                <a:defRPr/>
              </a:pPr>
              <a:t>85</a:t>
            </a:fld>
            <a:endParaRPr lang="en-US"/>
          </a:p>
        </p:txBody>
      </p:sp>
      <p:sp>
        <p:nvSpPr>
          <p:cNvPr id="6553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553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5555620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804ABD7-DEA0-714A-8FF7-3288ECFC93E9}" type="slidenum">
              <a:rPr lang="en-US"/>
              <a:pPr>
                <a:defRPr/>
              </a:pPr>
              <a:t>86</a:t>
            </a:fld>
            <a:endParaRPr lang="en-US"/>
          </a:p>
        </p:txBody>
      </p:sp>
      <p:sp>
        <p:nvSpPr>
          <p:cNvPr id="665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656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4316015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7480141-8EBD-8A45-99B7-B2686F86D815}" type="slidenum">
              <a:rPr lang="en-US"/>
              <a:pPr>
                <a:defRPr/>
              </a:pPr>
              <a:t>87</a:t>
            </a:fld>
            <a:endParaRPr lang="en-US"/>
          </a:p>
        </p:txBody>
      </p:sp>
      <p:sp>
        <p:nvSpPr>
          <p:cNvPr id="6758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758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4952696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7C96FAC-0CA4-4A4C-BC38-98AE268007A2}" type="slidenum">
              <a:rPr lang="en-US"/>
              <a:pPr>
                <a:defRPr/>
              </a:pPr>
              <a:t>88</a:t>
            </a:fld>
            <a:endParaRPr lang="en-US"/>
          </a:p>
        </p:txBody>
      </p:sp>
      <p:sp>
        <p:nvSpPr>
          <p:cNvPr id="6861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8611"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219328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03DD7B2-141C-8642-B7EF-5E3069905D77}" type="slidenum">
              <a:rPr lang="en-US"/>
              <a:pPr>
                <a:defRPr/>
              </a:pPr>
              <a:t>89</a:t>
            </a:fld>
            <a:endParaRPr lang="en-US"/>
          </a:p>
        </p:txBody>
      </p:sp>
      <p:sp>
        <p:nvSpPr>
          <p:cNvPr id="696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963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5204605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C830D45-6B65-E94C-BCF0-1DC4B12B5ED4}" type="slidenum">
              <a:rPr lang="en-US"/>
              <a:pPr>
                <a:defRPr/>
              </a:pPr>
              <a:t>90</a:t>
            </a:fld>
            <a:endParaRPr lang="en-US"/>
          </a:p>
        </p:txBody>
      </p:sp>
      <p:sp>
        <p:nvSpPr>
          <p:cNvPr id="706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7065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2304078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34FC02B-7AAE-B44A-88B3-75CA4EF821D1}" type="slidenum">
              <a:rPr lang="en-US"/>
              <a:pPr>
                <a:defRPr/>
              </a:pPr>
              <a:t>91</a:t>
            </a:fld>
            <a:endParaRPr lang="en-US"/>
          </a:p>
        </p:txBody>
      </p:sp>
      <p:sp>
        <p:nvSpPr>
          <p:cNvPr id="716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71683"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40117824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C73BFF8-2CC2-9A4F-88B7-F0505E54F833}" type="slidenum">
              <a:rPr lang="en-US"/>
              <a:pPr>
                <a:defRPr/>
              </a:pPr>
              <a:t>92</a:t>
            </a:fld>
            <a:endParaRPr lang="en-US"/>
          </a:p>
        </p:txBody>
      </p:sp>
      <p:sp>
        <p:nvSpPr>
          <p:cNvPr id="7270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7270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9900211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42EF478-079F-7C44-A8ED-600470A5FFF4}" type="slidenum">
              <a:rPr lang="en-US"/>
              <a:pPr>
                <a:defRPr/>
              </a:pPr>
              <a:t>93</a:t>
            </a:fld>
            <a:endParaRPr lang="en-US"/>
          </a:p>
        </p:txBody>
      </p:sp>
      <p:sp>
        <p:nvSpPr>
          <p:cNvPr id="737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73731"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13650641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07AA420-46E7-5840-9584-99984941F88C}" type="slidenum">
              <a:rPr lang="en-US"/>
              <a:pPr>
                <a:defRPr/>
              </a:pPr>
              <a:t>94</a:t>
            </a:fld>
            <a:endParaRPr lang="en-US"/>
          </a:p>
        </p:txBody>
      </p:sp>
      <p:sp>
        <p:nvSpPr>
          <p:cNvPr id="7475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7475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5117446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9771527-E335-4C45-AD53-F6242C9150D1}" type="slidenum">
              <a:rPr lang="en-US"/>
              <a:pPr>
                <a:defRPr/>
              </a:pPr>
              <a:t>95</a:t>
            </a:fld>
            <a:endParaRPr lang="en-US"/>
          </a:p>
        </p:txBody>
      </p:sp>
      <p:sp>
        <p:nvSpPr>
          <p:cNvPr id="7577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75779"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398329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ga-IE" dirty="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ga-IE"/>
              <a:t>Click to edit Master subtitle style</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Concurrent Programming</a:t>
            </a:r>
            <a:endParaRPr lang="en-US" dirty="0"/>
          </a:p>
        </p:txBody>
      </p:sp>
      <p:sp>
        <p:nvSpPr>
          <p:cNvPr id="6" name="Slide Number Placeholder 5"/>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2977346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idx="1"/>
          </p:nvPr>
        </p:nvSpPr>
        <p:spPr>
          <a:xfrm>
            <a:off x="457200" y="710508"/>
            <a:ext cx="8229600" cy="5439719"/>
          </a:xfrm>
        </p:spPr>
        <p:txBody>
          <a:bodyPr/>
          <a:lstStyle/>
          <a:p>
            <a:pPr lvl="0"/>
            <a:r>
              <a:rPr lang="ga-IE" dirty="0"/>
              <a:t>Click to edit Master text styles</a:t>
            </a:r>
          </a:p>
          <a:p>
            <a:pPr lvl="1"/>
            <a:r>
              <a:rPr lang="ga-IE" dirty="0"/>
              <a:t>Second level</a:t>
            </a:r>
          </a:p>
          <a:p>
            <a:pPr lvl="2"/>
            <a:r>
              <a:rPr lang="ga-IE" dirty="0"/>
              <a:t>Third level</a:t>
            </a:r>
          </a:p>
          <a:p>
            <a:pPr lvl="3"/>
            <a:r>
              <a:rPr lang="ga-IE" dirty="0"/>
              <a:t>Fourth level</a:t>
            </a:r>
          </a:p>
          <a:p>
            <a:pPr lvl="4"/>
            <a:r>
              <a:rPr lang="ga-IE" dirty="0"/>
              <a:t>Fifth level</a:t>
            </a:r>
            <a:endParaRPr lang="en-IE" dirty="0"/>
          </a:p>
          <a:p>
            <a:pPr lvl="4"/>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Concurrent Programming</a:t>
            </a:r>
            <a:endParaRPr lang="en-US" dirty="0"/>
          </a:p>
        </p:txBody>
      </p:sp>
      <p:sp>
        <p:nvSpPr>
          <p:cNvPr id="6" name="Slide Number Placeholder 5"/>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2404565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ga-IE"/>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ga-IE"/>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Concurrent Programming</a:t>
            </a:r>
            <a:endParaRPr lang="en-US" dirty="0"/>
          </a:p>
        </p:txBody>
      </p:sp>
      <p:sp>
        <p:nvSpPr>
          <p:cNvPr id="6" name="Slide Number Placeholder 5"/>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55756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Concurrent Programming</a:t>
            </a:r>
          </a:p>
        </p:txBody>
      </p:sp>
      <p:sp>
        <p:nvSpPr>
          <p:cNvPr id="7" name="Slide Number Placeholder 6"/>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967008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ga-I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Concurrent Programming</a:t>
            </a:r>
          </a:p>
        </p:txBody>
      </p:sp>
      <p:sp>
        <p:nvSpPr>
          <p:cNvPr id="9" name="Slide Number Placeholder 8"/>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3438328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Concurrent Programming</a:t>
            </a:r>
            <a:endParaRPr lang="en-US" dirty="0"/>
          </a:p>
        </p:txBody>
      </p:sp>
      <p:sp>
        <p:nvSpPr>
          <p:cNvPr id="5" name="Slide Number Placeholder 4"/>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2043943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Concurrent Programming</a:t>
            </a:r>
          </a:p>
        </p:txBody>
      </p:sp>
      <p:sp>
        <p:nvSpPr>
          <p:cNvPr id="4" name="Slide Number Placeholder 3"/>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111753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ga-I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Concurrent Programming</a:t>
            </a:r>
          </a:p>
        </p:txBody>
      </p:sp>
      <p:sp>
        <p:nvSpPr>
          <p:cNvPr id="7" name="Slide Number Placeholder 6"/>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440713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ga-I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Concurrent Programming</a:t>
            </a:r>
          </a:p>
        </p:txBody>
      </p:sp>
      <p:sp>
        <p:nvSpPr>
          <p:cNvPr id="7" name="Slide Number Placeholder 6"/>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3556118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Concurrent Programming</a:t>
            </a:r>
          </a:p>
        </p:txBody>
      </p:sp>
      <p:sp>
        <p:nvSpPr>
          <p:cNvPr id="6" name="Slide Number Placeholder 5"/>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2906980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ga-IE"/>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Concurrent Programming</a:t>
            </a:r>
          </a:p>
        </p:txBody>
      </p:sp>
      <p:sp>
        <p:nvSpPr>
          <p:cNvPr id="6" name="Slide Number Placeholder 5"/>
          <p:cNvSpPr>
            <a:spLocks noGrp="1"/>
          </p:cNvSpPr>
          <p:nvPr>
            <p:ph type="sldNum" sz="quarter" idx="12"/>
          </p:nvPr>
        </p:nvSpPr>
        <p:spPr/>
        <p:txBody>
          <a:bodyPr/>
          <a:lstStyle/>
          <a:p>
            <a:fld id="{26944F6C-7B8C-1F48-9BFD-FC1F35051F46}" type="slidenum">
              <a:rPr lang="en-US" smtClean="0"/>
              <a:pPr/>
              <a:t>‹#›</a:t>
            </a:fld>
            <a:endParaRPr lang="en-US"/>
          </a:p>
        </p:txBody>
      </p:sp>
    </p:spTree>
    <p:extLst>
      <p:ext uri="{BB962C8B-B14F-4D97-AF65-F5344CB8AC3E}">
        <p14:creationId xmlns:p14="http://schemas.microsoft.com/office/powerpoint/2010/main" val="2958993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411806"/>
          </a:xfrm>
          <a:prstGeom prst="rect">
            <a:avLst/>
          </a:prstGeom>
        </p:spPr>
        <p:txBody>
          <a:bodyPr vert="horz" lIns="91440" tIns="45720" rIns="91440" bIns="45720" rtlCol="0" anchor="ctr">
            <a:normAutofit/>
          </a:bodyPr>
          <a:lstStyle/>
          <a:p>
            <a:r>
              <a:rPr lang="ga-IE" dirty="0"/>
              <a:t>Click to edit Master title style</a:t>
            </a:r>
            <a:endParaRPr lang="en-US" dirty="0"/>
          </a:p>
        </p:txBody>
      </p:sp>
      <p:sp>
        <p:nvSpPr>
          <p:cNvPr id="3" name="Text Placeholder 2"/>
          <p:cNvSpPr>
            <a:spLocks noGrp="1"/>
          </p:cNvSpPr>
          <p:nvPr>
            <p:ph type="body" idx="1"/>
          </p:nvPr>
        </p:nvSpPr>
        <p:spPr>
          <a:xfrm>
            <a:off x="457200" y="686444"/>
            <a:ext cx="8229600" cy="5439719"/>
          </a:xfrm>
          <a:prstGeom prst="rect">
            <a:avLst/>
          </a:prstGeom>
        </p:spPr>
        <p:txBody>
          <a:bodyPr vert="horz" lIns="91440" tIns="45720" rIns="91440" bIns="45720" rtlCol="0">
            <a:normAutofit/>
          </a:bodyPr>
          <a:lstStyle/>
          <a:p>
            <a:pPr lvl="0"/>
            <a:r>
              <a:rPr lang="ga-IE" dirty="0"/>
              <a:t>Click to edit Master text styles</a:t>
            </a:r>
          </a:p>
          <a:p>
            <a:pPr lvl="1"/>
            <a:r>
              <a:rPr lang="ga-IE" dirty="0"/>
              <a:t>Second level</a:t>
            </a:r>
          </a:p>
          <a:p>
            <a:pPr lvl="2"/>
            <a:r>
              <a:rPr lang="ga-IE" dirty="0"/>
              <a:t>Third level</a:t>
            </a:r>
          </a:p>
          <a:p>
            <a:pPr lvl="3"/>
            <a:r>
              <a:rPr lang="ga-IE" dirty="0"/>
              <a:t>Fourth level</a:t>
            </a:r>
          </a:p>
          <a:p>
            <a:pPr lvl="4"/>
            <a:r>
              <a:rPr lang="ga-IE" dirty="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Concurrent Programming</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944F6C-7B8C-1F48-9BFD-FC1F35051F46}" type="slidenum">
              <a:rPr lang="en-US" smtClean="0"/>
              <a:pPr/>
              <a:t>‹#›</a:t>
            </a:fld>
            <a:endParaRPr lang="en-US"/>
          </a:p>
        </p:txBody>
      </p:sp>
    </p:spTree>
    <p:extLst>
      <p:ext uri="{BB962C8B-B14F-4D97-AF65-F5344CB8AC3E}">
        <p14:creationId xmlns:p14="http://schemas.microsoft.com/office/powerpoint/2010/main" val="1709440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r" defTabSz="457200" rtl="0" eaLnBrk="1" latinLnBrk="0" hangingPunct="1">
        <a:spcBef>
          <a:spcPct val="0"/>
        </a:spcBef>
        <a:buNone/>
        <a:defRPr sz="2400" u="sng" kern="1200">
          <a:solidFill>
            <a:srgbClr val="FF0000"/>
          </a:solidFill>
          <a:latin typeface="+mj-lt"/>
          <a:ea typeface="+mj-ea"/>
          <a:cs typeface="+mj-cs"/>
        </a:defRPr>
      </a:lvl1pPr>
    </p:titleStyle>
    <p:body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sz="4000" dirty="0"/>
              <a:t>Introduction to </a:t>
            </a:r>
            <a:r>
              <a:rPr lang="en-IE" sz="4000" dirty="0"/>
              <a:t>Parallel and Distributed Programming</a:t>
            </a:r>
            <a:endParaRPr lang="en-US" sz="4000" dirty="0">
              <a:solidFill>
                <a:srgbClr val="FF0000"/>
              </a:solidFill>
            </a:endParaRPr>
          </a:p>
        </p:txBody>
      </p:sp>
      <p:sp>
        <p:nvSpPr>
          <p:cNvPr id="3" name="Subtitle 2"/>
          <p:cNvSpPr>
            <a:spLocks noGrp="1"/>
          </p:cNvSpPr>
          <p:nvPr>
            <p:ph type="subTitle" idx="1"/>
          </p:nvPr>
        </p:nvSpPr>
        <p:spPr/>
        <p:txBody>
          <a:bodyPr/>
          <a:lstStyle/>
          <a:p>
            <a:r>
              <a:rPr lang="en-US" dirty="0"/>
              <a:t>Osama Abushama</a:t>
            </a:r>
          </a:p>
          <a:p>
            <a:r>
              <a:rPr lang="en-US" dirty="0"/>
              <a:t>Osama.Abushama@Griffith.ie</a:t>
            </a:r>
          </a:p>
        </p:txBody>
      </p:sp>
      <p:sp>
        <p:nvSpPr>
          <p:cNvPr id="6" name="Slide Number Placeholder 5">
            <a:extLst>
              <a:ext uri="{FF2B5EF4-FFF2-40B4-BE49-F238E27FC236}">
                <a16:creationId xmlns:a16="http://schemas.microsoft.com/office/drawing/2014/main" id="{E0DC71D1-55AE-4B28-AA30-2CA70CF043B6}"/>
              </a:ext>
            </a:extLst>
          </p:cNvPr>
          <p:cNvSpPr>
            <a:spLocks noGrp="1"/>
          </p:cNvSpPr>
          <p:nvPr>
            <p:ph type="sldNum" sz="quarter" idx="12"/>
          </p:nvPr>
        </p:nvSpPr>
        <p:spPr/>
        <p:txBody>
          <a:bodyPr/>
          <a:lstStyle/>
          <a:p>
            <a:fld id="{26944F6C-7B8C-1F48-9BFD-FC1F35051F46}" type="slidenum">
              <a:rPr lang="en-US" smtClean="0"/>
              <a:pPr/>
              <a:t>1</a:t>
            </a:fld>
            <a:endParaRPr lang="en-US"/>
          </a:p>
        </p:txBody>
      </p:sp>
    </p:spTree>
    <p:extLst>
      <p:ext uri="{BB962C8B-B14F-4D97-AF65-F5344CB8AC3E}">
        <p14:creationId xmlns:p14="http://schemas.microsoft.com/office/powerpoint/2010/main" val="484591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buNone/>
            </a:pPr>
            <a:r>
              <a:rPr lang="en-US" i="1" dirty="0"/>
              <a:t>Most programmers have a love-hate relationship with concurrency.</a:t>
            </a:r>
          </a:p>
          <a:p>
            <a:pPr marL="0" indent="0" algn="just">
              <a:buNone/>
            </a:pPr>
            <a:r>
              <a:rPr lang="en-US" i="1" dirty="0"/>
              <a:t>Programming concurrency is hard, yet the benefits it provides make all the troubles worthwhile. The processing power we have at our disposal, at such an affordable cost, is something that our parents could only dream of. We can exploit the ability to run multiple concurrent tasks to create stellar applications. … To realize this, however, we have to program concurrency.</a:t>
            </a:r>
          </a:p>
          <a:p>
            <a:pPr marL="0" indent="0">
              <a:buNone/>
            </a:pPr>
            <a:r>
              <a:rPr lang="en-US" i="1" dirty="0"/>
              <a:t>  </a:t>
            </a:r>
            <a:r>
              <a:rPr lang="en-US" sz="2400" i="1" dirty="0"/>
              <a:t>(</a:t>
            </a:r>
            <a:r>
              <a:rPr lang="en-US" sz="2400" i="1" dirty="0" err="1"/>
              <a:t>Venkat</a:t>
            </a:r>
            <a:r>
              <a:rPr lang="en-US" sz="2400" i="1" dirty="0"/>
              <a:t> </a:t>
            </a:r>
            <a:r>
              <a:rPr lang="en-US" sz="2400" i="1" dirty="0" err="1"/>
              <a:t>Subramaniam</a:t>
            </a:r>
            <a:r>
              <a:rPr lang="en-US" sz="2400" i="1" dirty="0"/>
              <a:t>, Programming Concurrency on the JVM, 2011)</a:t>
            </a:r>
            <a:endParaRPr lang="en-US" sz="2400" dirty="0"/>
          </a:p>
          <a:p>
            <a:pPr marL="0" indent="0">
              <a:buNone/>
            </a:pPr>
            <a:endParaRPr lang="en-US" dirty="0"/>
          </a:p>
        </p:txBody>
      </p:sp>
      <p:sp>
        <p:nvSpPr>
          <p:cNvPr id="6" name="Slide Number Placeholder 5">
            <a:extLst>
              <a:ext uri="{FF2B5EF4-FFF2-40B4-BE49-F238E27FC236}">
                <a16:creationId xmlns:a16="http://schemas.microsoft.com/office/drawing/2014/main" id="{17E84249-D897-4F17-B896-5AC8C861075A}"/>
              </a:ext>
            </a:extLst>
          </p:cNvPr>
          <p:cNvSpPr>
            <a:spLocks noGrp="1"/>
          </p:cNvSpPr>
          <p:nvPr>
            <p:ph type="sldNum" sz="quarter" idx="12"/>
          </p:nvPr>
        </p:nvSpPr>
        <p:spPr/>
        <p:txBody>
          <a:bodyPr/>
          <a:lstStyle/>
          <a:p>
            <a:fld id="{26944F6C-7B8C-1F48-9BFD-FC1F35051F46}" type="slidenum">
              <a:rPr lang="en-US" smtClean="0"/>
              <a:pPr/>
              <a:t>2</a:t>
            </a:fld>
            <a:endParaRPr lang="en-US"/>
          </a:p>
        </p:txBody>
      </p:sp>
    </p:spTree>
    <p:extLst>
      <p:ext uri="{BB962C8B-B14F-4D97-AF65-F5344CB8AC3E}">
        <p14:creationId xmlns:p14="http://schemas.microsoft.com/office/powerpoint/2010/main" val="1943582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lgn="just">
              <a:buNone/>
            </a:pPr>
            <a:r>
              <a:rPr lang="en-US" i="1" dirty="0"/>
              <a:t>The swing away from assembly language, which gained genuine momentum during the seventies, was slow to affect the area of concurrent systems – operating systems, embedded control systems and the like. What happened was that three people – </a:t>
            </a:r>
            <a:r>
              <a:rPr lang="en-US" b="1" i="1" dirty="0" err="1"/>
              <a:t>Edsger</a:t>
            </a:r>
            <a:r>
              <a:rPr lang="en-US" b="1" i="1" dirty="0"/>
              <a:t> </a:t>
            </a:r>
            <a:r>
              <a:rPr lang="en-US" b="1" i="1" dirty="0" err="1"/>
              <a:t>Dijkstra</a:t>
            </a:r>
            <a:r>
              <a:rPr lang="en-US" b="1" i="1" dirty="0"/>
              <a:t>, Tony </a:t>
            </a:r>
            <a:r>
              <a:rPr lang="en-US" b="1" i="1" dirty="0" err="1"/>
              <a:t>hoare</a:t>
            </a:r>
            <a:r>
              <a:rPr lang="en-US" b="1" i="1" dirty="0"/>
              <a:t> and Per </a:t>
            </a:r>
            <a:r>
              <a:rPr lang="en-US" b="1" i="1" dirty="0" err="1"/>
              <a:t>Brinch</a:t>
            </a:r>
            <a:r>
              <a:rPr lang="en-US" b="1" i="1" dirty="0"/>
              <a:t> Hanson </a:t>
            </a:r>
            <a:r>
              <a:rPr lang="en-US" i="1" dirty="0"/>
              <a:t>– independently developed key abstractions which were taken up by researchers worldwide, realized in experimental languages, reported on, adapted and refined. In this way, the problems of concurrency could be expressed in well understood notation and principles gradually evolved.</a:t>
            </a:r>
          </a:p>
          <a:p>
            <a:pPr marL="0" indent="0">
              <a:buNone/>
            </a:pPr>
            <a:r>
              <a:rPr lang="en-US" sz="2200" i="1" dirty="0"/>
              <a:t>(Judy Bishop, Data Abstraction in Programming Languages, 1986)</a:t>
            </a:r>
            <a:endParaRPr lang="en-US" sz="2200" dirty="0"/>
          </a:p>
          <a:p>
            <a:pPr marL="0" indent="0">
              <a:buNone/>
            </a:pPr>
            <a:endParaRPr lang="en-US" dirty="0"/>
          </a:p>
        </p:txBody>
      </p:sp>
      <p:sp>
        <p:nvSpPr>
          <p:cNvPr id="6" name="Slide Number Placeholder 5">
            <a:extLst>
              <a:ext uri="{FF2B5EF4-FFF2-40B4-BE49-F238E27FC236}">
                <a16:creationId xmlns:a16="http://schemas.microsoft.com/office/drawing/2014/main" id="{37652343-1433-4BEC-9AB3-483C00A8965F}"/>
              </a:ext>
            </a:extLst>
          </p:cNvPr>
          <p:cNvSpPr>
            <a:spLocks noGrp="1"/>
          </p:cNvSpPr>
          <p:nvPr>
            <p:ph type="sldNum" sz="quarter" idx="12"/>
          </p:nvPr>
        </p:nvSpPr>
        <p:spPr/>
        <p:txBody>
          <a:bodyPr/>
          <a:lstStyle/>
          <a:p>
            <a:fld id="{26944F6C-7B8C-1F48-9BFD-FC1F35051F46}" type="slidenum">
              <a:rPr lang="en-US" smtClean="0"/>
              <a:pPr/>
              <a:t>3</a:t>
            </a:fld>
            <a:endParaRPr lang="en-US"/>
          </a:p>
        </p:txBody>
      </p:sp>
    </p:spTree>
    <p:extLst>
      <p:ext uri="{BB962C8B-B14F-4D97-AF65-F5344CB8AC3E}">
        <p14:creationId xmlns:p14="http://schemas.microsoft.com/office/powerpoint/2010/main" val="3860757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Concurrency?</a:t>
            </a:r>
          </a:p>
        </p:txBody>
      </p:sp>
      <p:sp>
        <p:nvSpPr>
          <p:cNvPr id="3" name="Content Placeholder 2"/>
          <p:cNvSpPr>
            <a:spLocks noGrp="1"/>
          </p:cNvSpPr>
          <p:nvPr>
            <p:ph idx="1"/>
          </p:nvPr>
        </p:nvSpPr>
        <p:spPr/>
        <p:txBody>
          <a:bodyPr>
            <a:normAutofit lnSpcReduction="10000"/>
          </a:bodyPr>
          <a:lstStyle/>
          <a:p>
            <a:endParaRPr lang="en-US" dirty="0"/>
          </a:p>
          <a:p>
            <a:r>
              <a:rPr lang="en-US" dirty="0"/>
              <a:t>Modern Processors</a:t>
            </a:r>
          </a:p>
          <a:p>
            <a:endParaRPr lang="en-US" dirty="0"/>
          </a:p>
          <a:p>
            <a:r>
              <a:rPr lang="en-US" dirty="0"/>
              <a:t>Modern Frameworks</a:t>
            </a:r>
          </a:p>
          <a:p>
            <a:endParaRPr lang="en-US" dirty="0"/>
          </a:p>
          <a:p>
            <a:r>
              <a:rPr lang="en-US" dirty="0"/>
              <a:t>Operating Systems</a:t>
            </a:r>
          </a:p>
          <a:p>
            <a:endParaRPr lang="en-US" dirty="0"/>
          </a:p>
          <a:p>
            <a:r>
              <a:rPr lang="en-US" dirty="0"/>
              <a:t>Embedded Real-Time Systems</a:t>
            </a:r>
          </a:p>
          <a:p>
            <a:endParaRPr lang="en-US" dirty="0"/>
          </a:p>
          <a:p>
            <a:r>
              <a:rPr lang="en-US" dirty="0"/>
              <a:t>Managing environments with multiple embedded processors</a:t>
            </a:r>
          </a:p>
          <a:p>
            <a:endParaRPr lang="en-US" dirty="0"/>
          </a:p>
        </p:txBody>
      </p:sp>
      <p:sp>
        <p:nvSpPr>
          <p:cNvPr id="6" name="Slide Number Placeholder 5">
            <a:extLst>
              <a:ext uri="{FF2B5EF4-FFF2-40B4-BE49-F238E27FC236}">
                <a16:creationId xmlns:a16="http://schemas.microsoft.com/office/drawing/2014/main" id="{26C5E58A-F54E-4F51-BB4F-41E8875BD39B}"/>
              </a:ext>
            </a:extLst>
          </p:cNvPr>
          <p:cNvSpPr>
            <a:spLocks noGrp="1"/>
          </p:cNvSpPr>
          <p:nvPr>
            <p:ph type="sldNum" sz="quarter" idx="12"/>
          </p:nvPr>
        </p:nvSpPr>
        <p:spPr/>
        <p:txBody>
          <a:bodyPr/>
          <a:lstStyle/>
          <a:p>
            <a:fld id="{26944F6C-7B8C-1F48-9BFD-FC1F35051F46}" type="slidenum">
              <a:rPr lang="en-US" smtClean="0"/>
              <a:pPr/>
              <a:t>4</a:t>
            </a:fld>
            <a:endParaRPr lang="en-US"/>
          </a:p>
        </p:txBody>
      </p:sp>
    </p:spTree>
    <p:extLst>
      <p:ext uri="{BB962C8B-B14F-4D97-AF65-F5344CB8AC3E}">
        <p14:creationId xmlns:p14="http://schemas.microsoft.com/office/powerpoint/2010/main" val="440861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Concurrent Processes</a:t>
            </a:r>
          </a:p>
        </p:txBody>
      </p:sp>
      <p:sp>
        <p:nvSpPr>
          <p:cNvPr id="3" name="Content Placeholder 2"/>
          <p:cNvSpPr>
            <a:spLocks noGrp="1"/>
          </p:cNvSpPr>
          <p:nvPr>
            <p:ph idx="1"/>
          </p:nvPr>
        </p:nvSpPr>
        <p:spPr/>
        <p:txBody>
          <a:bodyPr/>
          <a:lstStyle/>
          <a:p>
            <a:r>
              <a:rPr lang="en-AU" dirty="0">
                <a:latin typeface="Arial" charset="0"/>
                <a:ea typeface="ＭＳ Ｐゴシック" charset="0"/>
              </a:rPr>
              <a:t>Process: </a:t>
            </a:r>
          </a:p>
          <a:p>
            <a:pPr lvl="1"/>
            <a:r>
              <a:rPr lang="en-AU" dirty="0">
                <a:latin typeface="Arial" charset="0"/>
                <a:ea typeface="ＭＳ Ｐゴシック" charset="0"/>
              </a:rPr>
              <a:t>An executing program.</a:t>
            </a:r>
          </a:p>
          <a:p>
            <a:endParaRPr lang="en-AU" dirty="0">
              <a:latin typeface="Arial" charset="0"/>
              <a:ea typeface="ＭＳ Ｐゴシック" charset="0"/>
            </a:endParaRPr>
          </a:p>
          <a:p>
            <a:r>
              <a:rPr lang="en-AU" dirty="0">
                <a:latin typeface="Arial" charset="0"/>
                <a:ea typeface="ＭＳ Ｐゴシック" charset="0"/>
              </a:rPr>
              <a:t>Execution of multiple processes takes one of three forms:</a:t>
            </a:r>
          </a:p>
          <a:p>
            <a:pPr lvl="1"/>
            <a:r>
              <a:rPr lang="en-AU" dirty="0">
                <a:latin typeface="Arial" charset="0"/>
                <a:ea typeface="ＭＳ Ｐゴシック" charset="0"/>
              </a:rPr>
              <a:t>All processes share a single processor</a:t>
            </a:r>
          </a:p>
          <a:p>
            <a:pPr lvl="1"/>
            <a:r>
              <a:rPr lang="en-AU" dirty="0">
                <a:latin typeface="Arial" charset="0"/>
                <a:ea typeface="ＭＳ Ｐゴシック" charset="0"/>
              </a:rPr>
              <a:t>Each process may have its own processor and the processors share common memory</a:t>
            </a:r>
          </a:p>
          <a:p>
            <a:pPr lvl="1"/>
            <a:r>
              <a:rPr lang="en-AU" dirty="0">
                <a:latin typeface="Arial" charset="0"/>
                <a:ea typeface="ＭＳ Ｐゴシック" charset="0"/>
              </a:rPr>
              <a:t>Each process may have its own processor and the processes are distributed.</a:t>
            </a:r>
            <a:endParaRPr lang="en-AU" b="1" dirty="0">
              <a:latin typeface="Arial" charset="0"/>
              <a:ea typeface="ＭＳ Ｐゴシック" charset="0"/>
            </a:endParaRPr>
          </a:p>
          <a:p>
            <a:pPr marL="0" indent="0">
              <a:buNone/>
            </a:pPr>
            <a:endParaRPr lang="en-US" dirty="0"/>
          </a:p>
        </p:txBody>
      </p:sp>
      <p:sp>
        <p:nvSpPr>
          <p:cNvPr id="6" name="Slide Number Placeholder 5">
            <a:extLst>
              <a:ext uri="{FF2B5EF4-FFF2-40B4-BE49-F238E27FC236}">
                <a16:creationId xmlns:a16="http://schemas.microsoft.com/office/drawing/2014/main" id="{819AF40C-BE3A-47EC-AAA8-DCE402BAA0C8}"/>
              </a:ext>
            </a:extLst>
          </p:cNvPr>
          <p:cNvSpPr>
            <a:spLocks noGrp="1"/>
          </p:cNvSpPr>
          <p:nvPr>
            <p:ph type="sldNum" sz="quarter" idx="12"/>
          </p:nvPr>
        </p:nvSpPr>
        <p:spPr/>
        <p:txBody>
          <a:bodyPr/>
          <a:lstStyle/>
          <a:p>
            <a:fld id="{26944F6C-7B8C-1F48-9BFD-FC1F35051F46}" type="slidenum">
              <a:rPr lang="en-US" smtClean="0"/>
              <a:pPr/>
              <a:t>5</a:t>
            </a:fld>
            <a:endParaRPr lang="en-US"/>
          </a:p>
        </p:txBody>
      </p:sp>
    </p:spTree>
    <p:extLst>
      <p:ext uri="{BB962C8B-B14F-4D97-AF65-F5344CB8AC3E}">
        <p14:creationId xmlns:p14="http://schemas.microsoft.com/office/powerpoint/2010/main" val="487984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Concurrent processes</a:t>
            </a:r>
          </a:p>
        </p:txBody>
      </p:sp>
      <p:sp>
        <p:nvSpPr>
          <p:cNvPr id="3" name="Content Placeholder 2"/>
          <p:cNvSpPr>
            <a:spLocks noGrp="1"/>
          </p:cNvSpPr>
          <p:nvPr>
            <p:ph idx="1"/>
          </p:nvPr>
        </p:nvSpPr>
        <p:spPr/>
        <p:txBody>
          <a:bodyPr/>
          <a:lstStyle/>
          <a:p>
            <a:endParaRPr lang="en-AU" b="1" dirty="0">
              <a:latin typeface="Arial" charset="0"/>
              <a:ea typeface="ＭＳ Ｐゴシック" charset="0"/>
            </a:endParaRPr>
          </a:p>
          <a:p>
            <a:r>
              <a:rPr lang="en-AU" b="1" dirty="0">
                <a:latin typeface="Arial" charset="0"/>
                <a:ea typeface="ＭＳ Ｐゴシック" charset="0"/>
              </a:rPr>
              <a:t>Def. Parallel</a:t>
            </a:r>
            <a:r>
              <a:rPr lang="en-AU" dirty="0">
                <a:latin typeface="Arial" charset="0"/>
                <a:ea typeface="ＭＳ Ｐゴシック" charset="0"/>
              </a:rPr>
              <a:t> : Two processes are said to be executing in parallel if they are both executing at the same time. ( 2 and 3 above)</a:t>
            </a:r>
          </a:p>
          <a:p>
            <a:pPr>
              <a:buNone/>
            </a:pPr>
            <a:endParaRPr lang="en-AU" b="1" dirty="0">
              <a:latin typeface="Arial" charset="0"/>
              <a:ea typeface="ＭＳ Ｐゴシック" charset="0"/>
            </a:endParaRPr>
          </a:p>
          <a:p>
            <a:r>
              <a:rPr lang="en-AU" b="1" dirty="0">
                <a:latin typeface="Arial" charset="0"/>
                <a:ea typeface="ＭＳ Ｐゴシック" charset="0"/>
              </a:rPr>
              <a:t>Def. Concurrent</a:t>
            </a:r>
            <a:r>
              <a:rPr lang="en-AU" dirty="0">
                <a:latin typeface="Arial" charset="0"/>
                <a:ea typeface="ＭＳ Ｐゴシック" charset="0"/>
              </a:rPr>
              <a:t> : two processes are said to be concurrent if they have the potential for executing in parallel.</a:t>
            </a:r>
            <a:endParaRPr lang="en-US" dirty="0">
              <a:latin typeface="Arial" charset="0"/>
              <a:ea typeface="ＭＳ Ｐゴシック" charset="0"/>
            </a:endParaRPr>
          </a:p>
          <a:p>
            <a:endParaRPr lang="en-US" dirty="0"/>
          </a:p>
        </p:txBody>
      </p:sp>
      <p:sp>
        <p:nvSpPr>
          <p:cNvPr id="6" name="Slide Number Placeholder 5">
            <a:extLst>
              <a:ext uri="{FF2B5EF4-FFF2-40B4-BE49-F238E27FC236}">
                <a16:creationId xmlns:a16="http://schemas.microsoft.com/office/drawing/2014/main" id="{CEF1EFFB-6CCB-41F5-B5E5-5F38959CADE3}"/>
              </a:ext>
            </a:extLst>
          </p:cNvPr>
          <p:cNvSpPr>
            <a:spLocks noGrp="1"/>
          </p:cNvSpPr>
          <p:nvPr>
            <p:ph type="sldNum" sz="quarter" idx="12"/>
          </p:nvPr>
        </p:nvSpPr>
        <p:spPr/>
        <p:txBody>
          <a:bodyPr/>
          <a:lstStyle/>
          <a:p>
            <a:fld id="{26944F6C-7B8C-1F48-9BFD-FC1F35051F46}" type="slidenum">
              <a:rPr lang="en-US" smtClean="0"/>
              <a:pPr/>
              <a:t>6</a:t>
            </a:fld>
            <a:endParaRPr lang="en-US"/>
          </a:p>
        </p:txBody>
      </p:sp>
    </p:spTree>
    <p:extLst>
      <p:ext uri="{BB962C8B-B14F-4D97-AF65-F5344CB8AC3E}">
        <p14:creationId xmlns:p14="http://schemas.microsoft.com/office/powerpoint/2010/main" val="1415484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Concurrent Processing</a:t>
            </a:r>
          </a:p>
        </p:txBody>
      </p:sp>
      <p:sp>
        <p:nvSpPr>
          <p:cNvPr id="3" name="Content Placeholder 2"/>
          <p:cNvSpPr>
            <a:spLocks noGrp="1"/>
          </p:cNvSpPr>
          <p:nvPr>
            <p:ph idx="1"/>
          </p:nvPr>
        </p:nvSpPr>
        <p:spPr/>
        <p:txBody>
          <a:bodyPr/>
          <a:lstStyle/>
          <a:p>
            <a:r>
              <a:rPr lang="en-US" dirty="0"/>
              <a:t>When there are more processes than processors the scheduler is the arbiter that decides what process runs and for how long.</a:t>
            </a:r>
          </a:p>
          <a:p>
            <a:endParaRPr lang="en-US" dirty="0"/>
          </a:p>
          <a:p>
            <a:r>
              <a:rPr lang="en-US" dirty="0"/>
              <a:t>Processes can be CPU bound or I/O bound</a:t>
            </a:r>
          </a:p>
          <a:p>
            <a:endParaRPr lang="en-US" dirty="0"/>
          </a:p>
          <a:p>
            <a:endParaRPr lang="en-US" dirty="0"/>
          </a:p>
        </p:txBody>
      </p:sp>
      <p:sp>
        <p:nvSpPr>
          <p:cNvPr id="6" name="Slide Number Placeholder 5">
            <a:extLst>
              <a:ext uri="{FF2B5EF4-FFF2-40B4-BE49-F238E27FC236}">
                <a16:creationId xmlns:a16="http://schemas.microsoft.com/office/drawing/2014/main" id="{0B4B944E-5710-45C4-B4EB-35CACE2FA8F0}"/>
              </a:ext>
            </a:extLst>
          </p:cNvPr>
          <p:cNvSpPr>
            <a:spLocks noGrp="1"/>
          </p:cNvSpPr>
          <p:nvPr>
            <p:ph type="sldNum" sz="quarter" idx="12"/>
          </p:nvPr>
        </p:nvSpPr>
        <p:spPr/>
        <p:txBody>
          <a:bodyPr/>
          <a:lstStyle/>
          <a:p>
            <a:fld id="{26944F6C-7B8C-1F48-9BFD-FC1F35051F46}" type="slidenum">
              <a:rPr lang="en-US" smtClean="0"/>
              <a:pPr/>
              <a:t>7</a:t>
            </a:fld>
            <a:endParaRPr lang="en-US"/>
          </a:p>
        </p:txBody>
      </p:sp>
    </p:spTree>
    <p:extLst>
      <p:ext uri="{BB962C8B-B14F-4D97-AF65-F5344CB8AC3E}">
        <p14:creationId xmlns:p14="http://schemas.microsoft.com/office/powerpoint/2010/main" val="3383900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A41F9-2938-44BE-A7BD-CD79F90586CA}"/>
              </a:ext>
            </a:extLst>
          </p:cNvPr>
          <p:cNvSpPr>
            <a:spLocks noGrp="1"/>
          </p:cNvSpPr>
          <p:nvPr>
            <p:ph type="title"/>
          </p:nvPr>
        </p:nvSpPr>
        <p:spPr>
          <a:xfrm>
            <a:off x="457200" y="274638"/>
            <a:ext cx="8229600" cy="573774"/>
          </a:xfrm>
        </p:spPr>
        <p:txBody>
          <a:bodyPr>
            <a:normAutofit fontScale="90000"/>
          </a:bodyPr>
          <a:lstStyle/>
          <a:p>
            <a:br>
              <a:rPr lang="en-GB" b="1" dirty="0"/>
            </a:br>
            <a:r>
              <a:rPr lang="en-GB" b="1" dirty="0"/>
              <a:t>Advantages of Parallel Programming</a:t>
            </a:r>
            <a:br>
              <a:rPr lang="en-GB" b="1" dirty="0"/>
            </a:br>
            <a:endParaRPr lang="en-GB" dirty="0"/>
          </a:p>
        </p:txBody>
      </p:sp>
      <p:sp>
        <p:nvSpPr>
          <p:cNvPr id="3" name="Content Placeholder 2">
            <a:extLst>
              <a:ext uri="{FF2B5EF4-FFF2-40B4-BE49-F238E27FC236}">
                <a16:creationId xmlns:a16="http://schemas.microsoft.com/office/drawing/2014/main" id="{9767AD59-1559-46EE-88B9-F900795AA3EF}"/>
              </a:ext>
            </a:extLst>
          </p:cNvPr>
          <p:cNvSpPr>
            <a:spLocks noGrp="1"/>
          </p:cNvSpPr>
          <p:nvPr>
            <p:ph idx="1"/>
          </p:nvPr>
        </p:nvSpPr>
        <p:spPr>
          <a:xfrm>
            <a:off x="457200" y="999242"/>
            <a:ext cx="8229600" cy="5126922"/>
          </a:xfrm>
        </p:spPr>
        <p:txBody>
          <a:bodyPr>
            <a:normAutofit/>
          </a:bodyPr>
          <a:lstStyle/>
          <a:p>
            <a:r>
              <a:rPr lang="en-US" dirty="0"/>
              <a:t>Need to solve larger problems</a:t>
            </a:r>
          </a:p>
          <a:p>
            <a:pPr lvl="1"/>
            <a:r>
              <a:rPr lang="en-US" dirty="0"/>
              <a:t>more memory intensive</a:t>
            </a:r>
          </a:p>
          <a:p>
            <a:pPr lvl="1"/>
            <a:r>
              <a:rPr lang="en-US" dirty="0"/>
              <a:t>more computation</a:t>
            </a:r>
          </a:p>
          <a:p>
            <a:pPr lvl="1"/>
            <a:r>
              <a:rPr lang="en-US" dirty="0"/>
              <a:t>more data intensive</a:t>
            </a:r>
          </a:p>
          <a:p>
            <a:r>
              <a:rPr lang="en-US" dirty="0"/>
              <a:t>Parallel programming provides</a:t>
            </a:r>
          </a:p>
          <a:p>
            <a:pPr lvl="1"/>
            <a:r>
              <a:rPr lang="en-US" dirty="0"/>
              <a:t>more CPU resources</a:t>
            </a:r>
          </a:p>
          <a:p>
            <a:pPr lvl="1"/>
            <a:r>
              <a:rPr lang="en-US" dirty="0"/>
              <a:t>more memory resources</a:t>
            </a:r>
          </a:p>
          <a:p>
            <a:pPr lvl="1"/>
            <a:r>
              <a:rPr lang="en-US" dirty="0"/>
              <a:t>solve problems that were not possible with serial program</a:t>
            </a:r>
          </a:p>
          <a:p>
            <a:pPr lvl="1"/>
            <a:r>
              <a:rPr lang="en-US" dirty="0"/>
              <a:t>solve problems more quickly</a:t>
            </a:r>
          </a:p>
          <a:p>
            <a:pPr marL="0" indent="0">
              <a:buNone/>
            </a:pPr>
            <a:endParaRPr lang="en-GB" dirty="0"/>
          </a:p>
        </p:txBody>
      </p:sp>
    </p:spTree>
    <p:extLst>
      <p:ext uri="{BB962C8B-B14F-4D97-AF65-F5344CB8AC3E}">
        <p14:creationId xmlns:p14="http://schemas.microsoft.com/office/powerpoint/2010/main" val="4021981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Threads</a:t>
            </a:r>
          </a:p>
        </p:txBody>
      </p:sp>
      <p:sp>
        <p:nvSpPr>
          <p:cNvPr id="3" name="Content Placeholder 2"/>
          <p:cNvSpPr>
            <a:spLocks noGrp="1"/>
          </p:cNvSpPr>
          <p:nvPr>
            <p:ph idx="1"/>
          </p:nvPr>
        </p:nvSpPr>
        <p:spPr/>
        <p:txBody>
          <a:bodyPr/>
          <a:lstStyle/>
          <a:p>
            <a:endParaRPr lang="en-US" dirty="0"/>
          </a:p>
          <a:p>
            <a:r>
              <a:rPr lang="en-US" dirty="0"/>
              <a:t>In modern programming languages we speak of </a:t>
            </a:r>
            <a:r>
              <a:rPr lang="en-US" b="1" dirty="0"/>
              <a:t>threads</a:t>
            </a:r>
            <a:r>
              <a:rPr lang="en-US" dirty="0"/>
              <a:t> not processes</a:t>
            </a:r>
          </a:p>
          <a:p>
            <a:endParaRPr lang="en-US" dirty="0"/>
          </a:p>
          <a:p>
            <a:r>
              <a:rPr lang="en-US" dirty="0"/>
              <a:t>A thread is a path of control that executes in the context of a process</a:t>
            </a:r>
          </a:p>
          <a:p>
            <a:endParaRPr lang="en-US" dirty="0"/>
          </a:p>
          <a:p>
            <a:r>
              <a:rPr lang="en-US" dirty="0"/>
              <a:t>Every process has at least one thread called main(…)</a:t>
            </a:r>
          </a:p>
        </p:txBody>
      </p:sp>
      <p:sp>
        <p:nvSpPr>
          <p:cNvPr id="6" name="Slide Number Placeholder 5">
            <a:extLst>
              <a:ext uri="{FF2B5EF4-FFF2-40B4-BE49-F238E27FC236}">
                <a16:creationId xmlns:a16="http://schemas.microsoft.com/office/drawing/2014/main" id="{E7B1C686-3046-4373-B0FA-2D0B4D343FD1}"/>
              </a:ext>
            </a:extLst>
          </p:cNvPr>
          <p:cNvSpPr>
            <a:spLocks noGrp="1"/>
          </p:cNvSpPr>
          <p:nvPr>
            <p:ph type="sldNum" sz="quarter" idx="12"/>
          </p:nvPr>
        </p:nvSpPr>
        <p:spPr/>
        <p:txBody>
          <a:bodyPr/>
          <a:lstStyle/>
          <a:p>
            <a:fld id="{26944F6C-7B8C-1F48-9BFD-FC1F35051F46}" type="slidenum">
              <a:rPr lang="en-US" smtClean="0"/>
              <a:pPr/>
              <a:t>9</a:t>
            </a:fld>
            <a:endParaRPr lang="en-US"/>
          </a:p>
        </p:txBody>
      </p:sp>
    </p:spTree>
    <p:extLst>
      <p:ext uri="{BB962C8B-B14F-4D97-AF65-F5344CB8AC3E}">
        <p14:creationId xmlns:p14="http://schemas.microsoft.com/office/powerpoint/2010/main" val="1883344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Two types of Multi-tasking</a:t>
            </a:r>
          </a:p>
        </p:txBody>
      </p:sp>
      <p:sp>
        <p:nvSpPr>
          <p:cNvPr id="3" name="Content Placeholder 2"/>
          <p:cNvSpPr>
            <a:spLocks noGrp="1"/>
          </p:cNvSpPr>
          <p:nvPr>
            <p:ph idx="1"/>
          </p:nvPr>
        </p:nvSpPr>
        <p:spPr/>
        <p:txBody>
          <a:bodyPr/>
          <a:lstStyle/>
          <a:p>
            <a:endParaRPr lang="en-US" dirty="0"/>
          </a:p>
          <a:p>
            <a:r>
              <a:rPr lang="en-US" dirty="0"/>
              <a:t>Process based</a:t>
            </a:r>
          </a:p>
          <a:p>
            <a:pPr lvl="1"/>
            <a:r>
              <a:rPr lang="en-US" dirty="0" err="1"/>
              <a:t>Interprocess</a:t>
            </a:r>
            <a:r>
              <a:rPr lang="en-US" dirty="0"/>
              <a:t> communication</a:t>
            </a:r>
          </a:p>
          <a:p>
            <a:pPr lvl="1"/>
            <a:endParaRPr lang="en-US" dirty="0"/>
          </a:p>
          <a:p>
            <a:r>
              <a:rPr lang="en-US" dirty="0"/>
              <a:t>Thread based</a:t>
            </a:r>
          </a:p>
          <a:p>
            <a:pPr lvl="1"/>
            <a:r>
              <a:rPr lang="en-US" dirty="0"/>
              <a:t>Multiple paths of control in a single process</a:t>
            </a:r>
          </a:p>
        </p:txBody>
      </p:sp>
      <p:sp>
        <p:nvSpPr>
          <p:cNvPr id="6" name="Slide Number Placeholder 5">
            <a:extLst>
              <a:ext uri="{FF2B5EF4-FFF2-40B4-BE49-F238E27FC236}">
                <a16:creationId xmlns:a16="http://schemas.microsoft.com/office/drawing/2014/main" id="{031E2F58-1720-4002-A88A-E1848682B957}"/>
              </a:ext>
            </a:extLst>
          </p:cNvPr>
          <p:cNvSpPr>
            <a:spLocks noGrp="1"/>
          </p:cNvSpPr>
          <p:nvPr>
            <p:ph type="sldNum" sz="quarter" idx="12"/>
          </p:nvPr>
        </p:nvSpPr>
        <p:spPr/>
        <p:txBody>
          <a:bodyPr/>
          <a:lstStyle/>
          <a:p>
            <a:fld id="{26944F6C-7B8C-1F48-9BFD-FC1F35051F46}" type="slidenum">
              <a:rPr lang="en-US" smtClean="0"/>
              <a:pPr/>
              <a:t>10</a:t>
            </a:fld>
            <a:endParaRPr lang="en-US"/>
          </a:p>
        </p:txBody>
      </p:sp>
    </p:spTree>
    <p:extLst>
      <p:ext uri="{BB962C8B-B14F-4D97-AF65-F5344CB8AC3E}">
        <p14:creationId xmlns:p14="http://schemas.microsoft.com/office/powerpoint/2010/main" val="2705049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Programming languages</a:t>
            </a:r>
          </a:p>
        </p:txBody>
      </p:sp>
      <p:sp>
        <p:nvSpPr>
          <p:cNvPr id="3" name="Content Placeholder 2"/>
          <p:cNvSpPr>
            <a:spLocks noGrp="1"/>
          </p:cNvSpPr>
          <p:nvPr>
            <p:ph idx="1"/>
          </p:nvPr>
        </p:nvSpPr>
        <p:spPr/>
        <p:txBody>
          <a:bodyPr/>
          <a:lstStyle/>
          <a:p>
            <a:r>
              <a:rPr lang="en-US" dirty="0"/>
              <a:t>Java and C</a:t>
            </a:r>
            <a:r>
              <a:rPr lang="en-US" dirty="0">
                <a:sym typeface="Symbol"/>
              </a:rPr>
              <a:t></a:t>
            </a:r>
          </a:p>
          <a:p>
            <a:pPr lvl="1"/>
            <a:r>
              <a:rPr lang="en-US" dirty="0">
                <a:effectLst/>
                <a:sym typeface="Symbol"/>
              </a:rPr>
              <a:t>Threads</a:t>
            </a:r>
            <a:r>
              <a:rPr lang="en-US" dirty="0">
                <a:effectLst/>
              </a:rPr>
              <a:t> </a:t>
            </a:r>
          </a:p>
          <a:p>
            <a:r>
              <a:rPr lang="en-US" dirty="0"/>
              <a:t>Ada-95</a:t>
            </a:r>
          </a:p>
          <a:p>
            <a:pPr lvl="1"/>
            <a:r>
              <a:rPr lang="en-US" dirty="0"/>
              <a:t>Tasks</a:t>
            </a:r>
          </a:p>
          <a:p>
            <a:r>
              <a:rPr lang="en-US" dirty="0"/>
              <a:t>C++</a:t>
            </a:r>
          </a:p>
          <a:p>
            <a:pPr lvl="1"/>
            <a:r>
              <a:rPr lang="en-US" dirty="0" err="1"/>
              <a:t>Pthreads</a:t>
            </a:r>
            <a:endParaRPr lang="en-US" dirty="0"/>
          </a:p>
          <a:p>
            <a:r>
              <a:rPr lang="en-US" dirty="0"/>
              <a:t>Ruby and Python</a:t>
            </a:r>
          </a:p>
          <a:p>
            <a:pPr lvl="1"/>
            <a:r>
              <a:rPr lang="en-US" dirty="0"/>
              <a:t>Threads</a:t>
            </a:r>
          </a:p>
          <a:p>
            <a:r>
              <a:rPr lang="en-US" dirty="0" err="1"/>
              <a:t>Scala</a:t>
            </a:r>
            <a:endParaRPr lang="en-US" dirty="0"/>
          </a:p>
          <a:p>
            <a:pPr lvl="1"/>
            <a:r>
              <a:rPr lang="en-US" dirty="0"/>
              <a:t>Actors</a:t>
            </a:r>
          </a:p>
        </p:txBody>
      </p:sp>
      <p:sp>
        <p:nvSpPr>
          <p:cNvPr id="6" name="Slide Number Placeholder 5">
            <a:extLst>
              <a:ext uri="{FF2B5EF4-FFF2-40B4-BE49-F238E27FC236}">
                <a16:creationId xmlns:a16="http://schemas.microsoft.com/office/drawing/2014/main" id="{755F0435-CEA6-437C-AB76-310BE7A9CA5A}"/>
              </a:ext>
            </a:extLst>
          </p:cNvPr>
          <p:cNvSpPr>
            <a:spLocks noGrp="1"/>
          </p:cNvSpPr>
          <p:nvPr>
            <p:ph type="sldNum" sz="quarter" idx="12"/>
          </p:nvPr>
        </p:nvSpPr>
        <p:spPr/>
        <p:txBody>
          <a:bodyPr/>
          <a:lstStyle/>
          <a:p>
            <a:fld id="{26944F6C-7B8C-1F48-9BFD-FC1F35051F46}" type="slidenum">
              <a:rPr lang="en-US" smtClean="0"/>
              <a:pPr/>
              <a:t>11</a:t>
            </a:fld>
            <a:endParaRPr lang="en-US"/>
          </a:p>
        </p:txBody>
      </p:sp>
    </p:spTree>
    <p:extLst>
      <p:ext uri="{BB962C8B-B14F-4D97-AF65-F5344CB8AC3E}">
        <p14:creationId xmlns:p14="http://schemas.microsoft.com/office/powerpoint/2010/main" val="3112211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Concurrent Paradigm</a:t>
            </a:r>
          </a:p>
        </p:txBody>
      </p:sp>
      <p:sp>
        <p:nvSpPr>
          <p:cNvPr id="3" name="Content Placeholder 2"/>
          <p:cNvSpPr>
            <a:spLocks noGrp="1"/>
          </p:cNvSpPr>
          <p:nvPr>
            <p:ph idx="1"/>
          </p:nvPr>
        </p:nvSpPr>
        <p:spPr/>
        <p:txBody>
          <a:bodyPr>
            <a:normAutofit fontScale="92500" lnSpcReduction="10000"/>
          </a:bodyPr>
          <a:lstStyle/>
          <a:p>
            <a:r>
              <a:rPr lang="en-US" dirty="0"/>
              <a:t>A programming paradigm provides a methodology that allows the construction of correct, reliable programs constructed in a particular style.</a:t>
            </a:r>
          </a:p>
          <a:p>
            <a:endParaRPr lang="en-US" dirty="0"/>
          </a:p>
          <a:p>
            <a:r>
              <a:rPr lang="en-US" dirty="0"/>
              <a:t> Imperative, Object-oriented, Functional paradigms</a:t>
            </a:r>
          </a:p>
          <a:p>
            <a:endParaRPr lang="en-US" dirty="0"/>
          </a:p>
          <a:p>
            <a:r>
              <a:rPr lang="en-US" dirty="0"/>
              <a:t>Java and C</a:t>
            </a:r>
            <a:r>
              <a:rPr lang="en-US" dirty="0">
                <a:sym typeface="Symbol"/>
              </a:rPr>
              <a:t> </a:t>
            </a:r>
            <a:r>
              <a:rPr lang="en-US">
                <a:sym typeface="Symbol"/>
              </a:rPr>
              <a:t>are object-oriented</a:t>
            </a:r>
          </a:p>
          <a:p>
            <a:pPr>
              <a:buNone/>
            </a:pPr>
            <a:endParaRPr lang="en-US" dirty="0">
              <a:sym typeface="Symbol"/>
            </a:endParaRPr>
          </a:p>
          <a:p>
            <a:r>
              <a:rPr lang="en-US" b="1" dirty="0">
                <a:solidFill>
                  <a:srgbClr val="FF0000"/>
                </a:solidFill>
              </a:rPr>
              <a:t>How to integrate Object-oriented paradigm with concurrent programming style?</a:t>
            </a:r>
          </a:p>
          <a:p>
            <a:endParaRPr lang="en-US" dirty="0">
              <a:sym typeface="Symbol"/>
            </a:endParaRPr>
          </a:p>
          <a:p>
            <a:r>
              <a:rPr lang="en-US" dirty="0">
                <a:sym typeface="Symbol"/>
              </a:rPr>
              <a:t>Java 8 allows for fusion of object-oriented and functional with Streams</a:t>
            </a:r>
            <a:endParaRPr lang="en-US" dirty="0"/>
          </a:p>
          <a:p>
            <a:endParaRPr lang="en-US" dirty="0"/>
          </a:p>
        </p:txBody>
      </p:sp>
      <p:sp>
        <p:nvSpPr>
          <p:cNvPr id="6" name="Slide Number Placeholder 5">
            <a:extLst>
              <a:ext uri="{FF2B5EF4-FFF2-40B4-BE49-F238E27FC236}">
                <a16:creationId xmlns:a16="http://schemas.microsoft.com/office/drawing/2014/main" id="{B5DBDEAC-6A76-4F0A-BD41-8B99D151A354}"/>
              </a:ext>
            </a:extLst>
          </p:cNvPr>
          <p:cNvSpPr>
            <a:spLocks noGrp="1"/>
          </p:cNvSpPr>
          <p:nvPr>
            <p:ph type="sldNum" sz="quarter" idx="12"/>
          </p:nvPr>
        </p:nvSpPr>
        <p:spPr/>
        <p:txBody>
          <a:bodyPr/>
          <a:lstStyle/>
          <a:p>
            <a:fld id="{26944F6C-7B8C-1F48-9BFD-FC1F35051F46}" type="slidenum">
              <a:rPr lang="en-US" smtClean="0"/>
              <a:pPr/>
              <a:t>12</a:t>
            </a:fld>
            <a:endParaRPr lang="en-US"/>
          </a:p>
        </p:txBody>
      </p:sp>
    </p:spTree>
    <p:extLst>
      <p:ext uri="{BB962C8B-B14F-4D97-AF65-F5344CB8AC3E}">
        <p14:creationId xmlns:p14="http://schemas.microsoft.com/office/powerpoint/2010/main" val="1186669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Concurrent Paradigm</a:t>
            </a:r>
          </a:p>
        </p:txBody>
      </p:sp>
      <p:sp>
        <p:nvSpPr>
          <p:cNvPr id="3" name="Content Placeholder 2"/>
          <p:cNvSpPr>
            <a:spLocks noGrp="1"/>
          </p:cNvSpPr>
          <p:nvPr>
            <p:ph idx="1"/>
          </p:nvPr>
        </p:nvSpPr>
        <p:spPr/>
        <p:txBody>
          <a:bodyPr/>
          <a:lstStyle/>
          <a:p>
            <a:r>
              <a:rPr lang="en-US" dirty="0"/>
              <a:t>Move from single threaded universe to multi-threaded one</a:t>
            </a:r>
          </a:p>
          <a:p>
            <a:endParaRPr lang="en-US" dirty="0"/>
          </a:p>
          <a:p>
            <a:r>
              <a:rPr lang="en-US" dirty="0"/>
              <a:t>Provides possibility of using multiple workers to solve problems in parallel</a:t>
            </a:r>
          </a:p>
          <a:p>
            <a:endParaRPr lang="en-US" dirty="0"/>
          </a:p>
          <a:p>
            <a:r>
              <a:rPr lang="en-US" dirty="0"/>
              <a:t>Changes the way we think about programming forever!</a:t>
            </a:r>
          </a:p>
        </p:txBody>
      </p:sp>
      <p:sp>
        <p:nvSpPr>
          <p:cNvPr id="6" name="Slide Number Placeholder 5">
            <a:extLst>
              <a:ext uri="{FF2B5EF4-FFF2-40B4-BE49-F238E27FC236}">
                <a16:creationId xmlns:a16="http://schemas.microsoft.com/office/drawing/2014/main" id="{A48195B2-F547-44F0-BF42-A3A0F88892A3}"/>
              </a:ext>
            </a:extLst>
          </p:cNvPr>
          <p:cNvSpPr>
            <a:spLocks noGrp="1"/>
          </p:cNvSpPr>
          <p:nvPr>
            <p:ph type="sldNum" sz="quarter" idx="12"/>
          </p:nvPr>
        </p:nvSpPr>
        <p:spPr/>
        <p:txBody>
          <a:bodyPr/>
          <a:lstStyle/>
          <a:p>
            <a:fld id="{26944F6C-7B8C-1F48-9BFD-FC1F35051F46}" type="slidenum">
              <a:rPr lang="en-US" smtClean="0"/>
              <a:pPr/>
              <a:t>13</a:t>
            </a:fld>
            <a:endParaRPr lang="en-US"/>
          </a:p>
        </p:txBody>
      </p:sp>
    </p:spTree>
    <p:extLst>
      <p:ext uri="{BB962C8B-B14F-4D97-AF65-F5344CB8AC3E}">
        <p14:creationId xmlns:p14="http://schemas.microsoft.com/office/powerpoint/2010/main" val="275351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Parallel Search</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t>       class </a:t>
            </a:r>
            <a:r>
              <a:rPr lang="en-US" dirty="0" err="1"/>
              <a:t>ConcurrencyExs</a:t>
            </a:r>
            <a:r>
              <a:rPr lang="en-US" dirty="0"/>
              <a:t>{</a:t>
            </a:r>
          </a:p>
          <a:p>
            <a:pPr marL="0" indent="0">
              <a:buNone/>
            </a:pPr>
            <a:r>
              <a:rPr lang="en-US" dirty="0"/>
              <a:t>		public static void main(String </a:t>
            </a:r>
            <a:r>
              <a:rPr lang="en-US" dirty="0" err="1"/>
              <a:t>args</a:t>
            </a:r>
            <a:r>
              <a:rPr lang="en-US" dirty="0"/>
              <a:t>[]){</a:t>
            </a:r>
          </a:p>
          <a:p>
            <a:pPr marL="0" indent="0">
              <a:buNone/>
            </a:pPr>
            <a:r>
              <a:rPr lang="en-US" dirty="0"/>
              <a:t>		    </a:t>
            </a:r>
            <a:r>
              <a:rPr lang="en-US" dirty="0" err="1"/>
              <a:t>int</a:t>
            </a:r>
            <a:r>
              <a:rPr lang="en-US" dirty="0"/>
              <a:t> f = new </a:t>
            </a:r>
            <a:r>
              <a:rPr lang="en-US" dirty="0" err="1"/>
              <a:t>int</a:t>
            </a:r>
            <a:r>
              <a:rPr lang="en-US" dirty="0"/>
              <a:t>[1000];</a:t>
            </a:r>
          </a:p>
          <a:p>
            <a:pPr marL="0" indent="0">
              <a:buNone/>
            </a:pPr>
            <a:r>
              <a:rPr lang="en-US" dirty="0"/>
              <a:t>		    Boolean fnd1 = new Boolean(false);</a:t>
            </a:r>
          </a:p>
          <a:p>
            <a:pPr marL="0" indent="0">
              <a:buNone/>
            </a:pPr>
            <a:r>
              <a:rPr lang="en-US" dirty="0"/>
              <a:t>		    Boolean fnd2 = new Boolean(false);</a:t>
            </a:r>
          </a:p>
          <a:p>
            <a:pPr marL="0" indent="0">
              <a:buNone/>
            </a:pPr>
            <a:r>
              <a:rPr lang="en-US" dirty="0"/>
              <a:t>		    Thread </a:t>
            </a:r>
            <a:r>
              <a:rPr lang="en-US" dirty="0" err="1"/>
              <a:t>SearchT</a:t>
            </a:r>
            <a:r>
              <a:rPr lang="en-US" dirty="0"/>
              <a:t> = new Thread(Search(f,x,0,500,fnd1);</a:t>
            </a:r>
          </a:p>
          <a:p>
            <a:pPr marL="0" indent="0">
              <a:buNone/>
            </a:pPr>
            <a:r>
              <a:rPr lang="en-US" dirty="0"/>
              <a:t>  		    Thread SearchT1 = new Thread(Search(f,x,500,1000,fnd2);</a:t>
            </a:r>
          </a:p>
          <a:p>
            <a:pPr marL="0" indent="0">
              <a:buNone/>
            </a:pPr>
            <a:r>
              <a:rPr lang="en-US" dirty="0"/>
              <a:t>                   </a:t>
            </a:r>
            <a:r>
              <a:rPr lang="en-US" dirty="0" err="1"/>
              <a:t>SearchT.start</a:t>
            </a:r>
            <a:r>
              <a:rPr lang="en-US" dirty="0"/>
              <a:t>();</a:t>
            </a:r>
          </a:p>
          <a:p>
            <a:pPr marL="0" indent="0">
              <a:buNone/>
            </a:pPr>
            <a:r>
              <a:rPr lang="en-US" dirty="0"/>
              <a:t>		    SearchT1.start();</a:t>
            </a:r>
          </a:p>
          <a:p>
            <a:pPr marL="0" indent="0">
              <a:buNone/>
            </a:pPr>
            <a:r>
              <a:rPr lang="en-US" dirty="0"/>
              <a:t>		    // wait for search to end</a:t>
            </a:r>
          </a:p>
          <a:p>
            <a:pPr marL="0" indent="0">
              <a:buNone/>
            </a:pPr>
            <a:r>
              <a:rPr lang="en-US" dirty="0"/>
              <a:t>		    if(fnd1 || fnd2)</a:t>
            </a:r>
          </a:p>
          <a:p>
            <a:pPr marL="0" indent="0">
              <a:buNone/>
            </a:pPr>
            <a:r>
              <a:rPr lang="en-US" dirty="0"/>
              <a:t>			  	</a:t>
            </a:r>
            <a:r>
              <a:rPr lang="en-US" dirty="0" err="1"/>
              <a:t>System.out.println</a:t>
            </a:r>
            <a:r>
              <a:rPr lang="en-US" dirty="0"/>
              <a:t>("found");</a:t>
            </a:r>
          </a:p>
          <a:p>
            <a:pPr marL="0" indent="0">
              <a:buNone/>
            </a:pPr>
            <a:r>
              <a:rPr lang="en-US" dirty="0"/>
              <a:t>		    else</a:t>
            </a:r>
          </a:p>
          <a:p>
            <a:pPr marL="0" indent="0">
              <a:buNone/>
            </a:pPr>
            <a:r>
              <a:rPr lang="en-US" dirty="0"/>
              <a:t>		  		</a:t>
            </a:r>
            <a:r>
              <a:rPr lang="en-US" dirty="0" err="1"/>
              <a:t>System.out.println</a:t>
            </a:r>
            <a:r>
              <a:rPr lang="en-US" dirty="0"/>
              <a:t>("Not found");</a:t>
            </a:r>
          </a:p>
          <a:p>
            <a:pPr marL="0" indent="0">
              <a:buNone/>
            </a:pPr>
            <a:r>
              <a:rPr lang="en-US" dirty="0"/>
              <a:t>	}}</a:t>
            </a:r>
          </a:p>
          <a:p>
            <a:pPr marL="0" indent="0">
              <a:buNone/>
            </a:pPr>
            <a:endParaRPr lang="en-US" dirty="0"/>
          </a:p>
        </p:txBody>
      </p:sp>
      <p:sp>
        <p:nvSpPr>
          <p:cNvPr id="6" name="Slide Number Placeholder 5">
            <a:extLst>
              <a:ext uri="{FF2B5EF4-FFF2-40B4-BE49-F238E27FC236}">
                <a16:creationId xmlns:a16="http://schemas.microsoft.com/office/drawing/2014/main" id="{AA5B7202-6687-41ED-82D0-069EDE2EEB88}"/>
              </a:ext>
            </a:extLst>
          </p:cNvPr>
          <p:cNvSpPr>
            <a:spLocks noGrp="1"/>
          </p:cNvSpPr>
          <p:nvPr>
            <p:ph type="sldNum" sz="quarter" idx="12"/>
          </p:nvPr>
        </p:nvSpPr>
        <p:spPr/>
        <p:txBody>
          <a:bodyPr/>
          <a:lstStyle/>
          <a:p>
            <a:fld id="{26944F6C-7B8C-1F48-9BFD-FC1F35051F46}" type="slidenum">
              <a:rPr lang="en-US" smtClean="0"/>
              <a:pPr/>
              <a:t>14</a:t>
            </a:fld>
            <a:endParaRPr lang="en-US"/>
          </a:p>
        </p:txBody>
      </p:sp>
    </p:spTree>
    <p:extLst>
      <p:ext uri="{BB962C8B-B14F-4D97-AF65-F5344CB8AC3E}">
        <p14:creationId xmlns:p14="http://schemas.microsoft.com/office/powerpoint/2010/main" val="3453319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Performance</a:t>
            </a:r>
          </a:p>
        </p:txBody>
      </p:sp>
      <p:sp>
        <p:nvSpPr>
          <p:cNvPr id="3" name="Content Placeholder 2"/>
          <p:cNvSpPr>
            <a:spLocks noGrp="1"/>
          </p:cNvSpPr>
          <p:nvPr>
            <p:ph idx="1"/>
          </p:nvPr>
        </p:nvSpPr>
        <p:spPr/>
        <p:txBody>
          <a:bodyPr/>
          <a:lstStyle/>
          <a:p>
            <a:endParaRPr lang="en-US" dirty="0"/>
          </a:p>
          <a:p>
            <a:endParaRPr lang="en-US" dirty="0"/>
          </a:p>
          <a:p>
            <a:endParaRPr lang="en-US" dirty="0"/>
          </a:p>
          <a:p>
            <a:r>
              <a:rPr lang="en-US" dirty="0"/>
              <a:t>Is parallel search faster than a single threaded search?</a:t>
            </a:r>
          </a:p>
          <a:p>
            <a:endParaRPr lang="en-US" dirty="0"/>
          </a:p>
        </p:txBody>
      </p:sp>
      <p:sp>
        <p:nvSpPr>
          <p:cNvPr id="6" name="Slide Number Placeholder 5">
            <a:extLst>
              <a:ext uri="{FF2B5EF4-FFF2-40B4-BE49-F238E27FC236}">
                <a16:creationId xmlns:a16="http://schemas.microsoft.com/office/drawing/2014/main" id="{B2C679C6-C801-4F37-8028-9DA16D8FE49B}"/>
              </a:ext>
            </a:extLst>
          </p:cNvPr>
          <p:cNvSpPr>
            <a:spLocks noGrp="1"/>
          </p:cNvSpPr>
          <p:nvPr>
            <p:ph type="sldNum" sz="quarter" idx="12"/>
          </p:nvPr>
        </p:nvSpPr>
        <p:spPr/>
        <p:txBody>
          <a:bodyPr/>
          <a:lstStyle/>
          <a:p>
            <a:fld id="{26944F6C-7B8C-1F48-9BFD-FC1F35051F46}" type="slidenum">
              <a:rPr lang="en-US" smtClean="0"/>
              <a:pPr/>
              <a:t>15</a:t>
            </a:fld>
            <a:endParaRPr lang="en-US"/>
          </a:p>
        </p:txBody>
      </p:sp>
    </p:spTree>
    <p:extLst>
      <p:ext uri="{BB962C8B-B14F-4D97-AF65-F5344CB8AC3E}">
        <p14:creationId xmlns:p14="http://schemas.microsoft.com/office/powerpoint/2010/main" val="3475615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Modeling systems that involve different types of task</a:t>
            </a:r>
          </a:p>
        </p:txBody>
      </p:sp>
      <p:sp>
        <p:nvSpPr>
          <p:cNvPr id="3" name="Content Placeholder 2"/>
          <p:cNvSpPr>
            <a:spLocks noGrp="1"/>
          </p:cNvSpPr>
          <p:nvPr>
            <p:ph idx="1"/>
          </p:nvPr>
        </p:nvSpPr>
        <p:spPr/>
        <p:txBody>
          <a:bodyPr/>
          <a:lstStyle/>
          <a:p>
            <a:r>
              <a:rPr lang="en-US" dirty="0"/>
              <a:t>Each task can be encoded as a separate thread of control and execute under its own constraints</a:t>
            </a:r>
          </a:p>
          <a:p>
            <a:endParaRPr lang="en-US" dirty="0"/>
          </a:p>
          <a:p>
            <a:r>
              <a:rPr lang="en-US" dirty="0"/>
              <a:t>Servlets</a:t>
            </a:r>
          </a:p>
          <a:p>
            <a:endParaRPr lang="en-US" dirty="0"/>
          </a:p>
          <a:p>
            <a:r>
              <a:rPr lang="en-US" dirty="0"/>
              <a:t>RMI</a:t>
            </a:r>
          </a:p>
          <a:p>
            <a:endParaRPr lang="en-US" dirty="0"/>
          </a:p>
          <a:p>
            <a:r>
              <a:rPr lang="en-US" dirty="0"/>
              <a:t>Client/Server modeling</a:t>
            </a:r>
          </a:p>
          <a:p>
            <a:endParaRPr lang="en-US" dirty="0"/>
          </a:p>
        </p:txBody>
      </p:sp>
      <p:sp>
        <p:nvSpPr>
          <p:cNvPr id="6" name="Slide Number Placeholder 5">
            <a:extLst>
              <a:ext uri="{FF2B5EF4-FFF2-40B4-BE49-F238E27FC236}">
                <a16:creationId xmlns:a16="http://schemas.microsoft.com/office/drawing/2014/main" id="{EEC975C6-07B4-4635-85B6-FF498BB58AF3}"/>
              </a:ext>
            </a:extLst>
          </p:cNvPr>
          <p:cNvSpPr>
            <a:spLocks noGrp="1"/>
          </p:cNvSpPr>
          <p:nvPr>
            <p:ph type="sldNum" sz="quarter" idx="12"/>
          </p:nvPr>
        </p:nvSpPr>
        <p:spPr/>
        <p:txBody>
          <a:bodyPr/>
          <a:lstStyle/>
          <a:p>
            <a:fld id="{26944F6C-7B8C-1F48-9BFD-FC1F35051F46}" type="slidenum">
              <a:rPr lang="en-US" smtClean="0"/>
              <a:pPr/>
              <a:t>16</a:t>
            </a:fld>
            <a:endParaRPr lang="en-US"/>
          </a:p>
        </p:txBody>
      </p:sp>
    </p:spTree>
    <p:extLst>
      <p:ext uri="{BB962C8B-B14F-4D97-AF65-F5344CB8AC3E}">
        <p14:creationId xmlns:p14="http://schemas.microsoft.com/office/powerpoint/2010/main" val="2632647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Embedded System</a:t>
            </a:r>
          </a:p>
        </p:txBody>
      </p:sp>
      <p:sp>
        <p:nvSpPr>
          <p:cNvPr id="3" name="Content Placeholder 2"/>
          <p:cNvSpPr>
            <a:spLocks noGrp="1"/>
          </p:cNvSpPr>
          <p:nvPr>
            <p:ph idx="1"/>
          </p:nvPr>
        </p:nvSpPr>
        <p:spPr/>
        <p:txBody>
          <a:bodyPr/>
          <a:lstStyle/>
          <a:p>
            <a:pPr marL="0" indent="0">
              <a:buNone/>
            </a:pPr>
            <a:r>
              <a:rPr lang="en-US" dirty="0"/>
              <a:t>	// declarations and prototypes here</a:t>
            </a:r>
          </a:p>
          <a:p>
            <a:pPr marL="0" indent="0">
              <a:buNone/>
            </a:pPr>
            <a:r>
              <a:rPr lang="en-US" dirty="0"/>
              <a:t>	void main(){</a:t>
            </a:r>
          </a:p>
          <a:p>
            <a:pPr marL="0" indent="0">
              <a:buNone/>
            </a:pPr>
            <a:r>
              <a:rPr lang="en-US" dirty="0"/>
              <a:t>    		 // Create threads for both controllers</a:t>
            </a:r>
          </a:p>
          <a:p>
            <a:pPr marL="0" indent="0">
              <a:buNone/>
            </a:pPr>
            <a:r>
              <a:rPr lang="en-US" dirty="0"/>
              <a:t>        	new Thread(</a:t>
            </a:r>
            <a:r>
              <a:rPr lang="en-US" dirty="0" err="1"/>
              <a:t>ControllerA</a:t>
            </a:r>
            <a:r>
              <a:rPr lang="en-US" dirty="0"/>
              <a:t>()).start();</a:t>
            </a:r>
          </a:p>
          <a:p>
            <a:pPr marL="0" indent="0">
              <a:buNone/>
            </a:pPr>
            <a:r>
              <a:rPr lang="en-US" dirty="0"/>
              <a:t>           new Thread(</a:t>
            </a:r>
            <a:r>
              <a:rPr lang="en-US" dirty="0" err="1"/>
              <a:t>ControllerB</a:t>
            </a:r>
            <a:r>
              <a:rPr lang="en-US" dirty="0"/>
              <a:t>()).start();</a:t>
            </a:r>
          </a:p>
          <a:p>
            <a:pPr marL="0" indent="0">
              <a:buNone/>
            </a:pPr>
            <a:r>
              <a:rPr lang="en-US" dirty="0"/>
              <a:t>   	}</a:t>
            </a:r>
          </a:p>
          <a:p>
            <a:pPr marL="0" indent="0">
              <a:buNone/>
            </a:pPr>
            <a:endParaRPr lang="en-US" dirty="0"/>
          </a:p>
        </p:txBody>
      </p:sp>
      <p:sp>
        <p:nvSpPr>
          <p:cNvPr id="6" name="Slide Number Placeholder 5">
            <a:extLst>
              <a:ext uri="{FF2B5EF4-FFF2-40B4-BE49-F238E27FC236}">
                <a16:creationId xmlns:a16="http://schemas.microsoft.com/office/drawing/2014/main" id="{C49F26B9-3EF3-4652-AD8A-8C0E472063EC}"/>
              </a:ext>
            </a:extLst>
          </p:cNvPr>
          <p:cNvSpPr>
            <a:spLocks noGrp="1"/>
          </p:cNvSpPr>
          <p:nvPr>
            <p:ph type="sldNum" sz="quarter" idx="12"/>
          </p:nvPr>
        </p:nvSpPr>
        <p:spPr/>
        <p:txBody>
          <a:bodyPr/>
          <a:lstStyle/>
          <a:p>
            <a:fld id="{26944F6C-7B8C-1F48-9BFD-FC1F35051F46}" type="slidenum">
              <a:rPr lang="en-US" smtClean="0"/>
              <a:pPr/>
              <a:t>17</a:t>
            </a:fld>
            <a:endParaRPr lang="en-US"/>
          </a:p>
        </p:txBody>
      </p:sp>
    </p:spTree>
    <p:extLst>
      <p:ext uri="{BB962C8B-B14F-4D97-AF65-F5344CB8AC3E}">
        <p14:creationId xmlns:p14="http://schemas.microsoft.com/office/powerpoint/2010/main" val="4211998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0" indent="0">
              <a:buNone/>
            </a:pPr>
            <a:r>
              <a:rPr lang="en-US" dirty="0"/>
              <a:t>	//code for </a:t>
            </a:r>
            <a:r>
              <a:rPr lang="en-US" dirty="0" err="1"/>
              <a:t>controllerA</a:t>
            </a:r>
            <a:endParaRPr lang="en-US" dirty="0"/>
          </a:p>
          <a:p>
            <a:pPr marL="0" indent="0">
              <a:buNone/>
            </a:pPr>
            <a:r>
              <a:rPr lang="en-US" dirty="0"/>
              <a:t> 	</a:t>
            </a:r>
            <a:r>
              <a:rPr lang="en-US" dirty="0" err="1"/>
              <a:t>ControllerA</a:t>
            </a:r>
            <a:r>
              <a:rPr lang="en-US" dirty="0"/>
              <a:t> (){ </a:t>
            </a:r>
          </a:p>
          <a:p>
            <a:pPr marL="0" indent="0">
              <a:buNone/>
            </a:pPr>
            <a:r>
              <a:rPr lang="en-US" dirty="0"/>
              <a:t>       while ( true){</a:t>
            </a:r>
          </a:p>
          <a:p>
            <a:pPr marL="0" indent="0">
              <a:buNone/>
            </a:pPr>
            <a:r>
              <a:rPr lang="en-US" dirty="0"/>
              <a:t>          //take reading and process</a:t>
            </a:r>
          </a:p>
          <a:p>
            <a:pPr marL="0" indent="0">
              <a:buNone/>
            </a:pPr>
            <a:r>
              <a:rPr lang="en-US" dirty="0"/>
              <a:t>		sleep(20);</a:t>
            </a:r>
          </a:p>
          <a:p>
            <a:pPr marL="0" indent="0">
              <a:buNone/>
            </a:pPr>
            <a:r>
              <a:rPr lang="en-US" dirty="0"/>
              <a:t>       }</a:t>
            </a:r>
          </a:p>
          <a:p>
            <a:pPr marL="0" indent="0">
              <a:buNone/>
            </a:pPr>
            <a:r>
              <a:rPr lang="en-US" dirty="0"/>
              <a:t>	}</a:t>
            </a:r>
          </a:p>
          <a:p>
            <a:pPr marL="0" indent="0">
              <a:buNone/>
            </a:pPr>
            <a:r>
              <a:rPr lang="en-US" dirty="0"/>
              <a:t>	//code for </a:t>
            </a:r>
            <a:r>
              <a:rPr lang="en-US" dirty="0" err="1"/>
              <a:t>controllerB</a:t>
            </a:r>
            <a:endParaRPr lang="en-US" dirty="0"/>
          </a:p>
          <a:p>
            <a:pPr marL="0" indent="0">
              <a:buNone/>
            </a:pPr>
            <a:r>
              <a:rPr lang="en-US" dirty="0"/>
              <a:t>	</a:t>
            </a:r>
            <a:r>
              <a:rPr lang="en-US" dirty="0" err="1"/>
              <a:t>ControllerB</a:t>
            </a:r>
            <a:r>
              <a:rPr lang="en-US" dirty="0"/>
              <a:t> (){ </a:t>
            </a:r>
          </a:p>
          <a:p>
            <a:pPr marL="0" indent="0">
              <a:buNone/>
            </a:pPr>
            <a:r>
              <a:rPr lang="en-US" dirty="0"/>
              <a:t>       while ( true ){</a:t>
            </a:r>
          </a:p>
          <a:p>
            <a:pPr marL="0" indent="0">
              <a:buNone/>
            </a:pPr>
            <a:r>
              <a:rPr lang="en-US" dirty="0"/>
              <a:t>         //take reading and process</a:t>
            </a:r>
          </a:p>
          <a:p>
            <a:pPr marL="0" indent="0">
              <a:buNone/>
            </a:pPr>
            <a:r>
              <a:rPr lang="en-US" dirty="0"/>
              <a:t>		sleep(35)</a:t>
            </a:r>
          </a:p>
          <a:p>
            <a:pPr marL="0" indent="0">
              <a:buNone/>
            </a:pPr>
            <a:r>
              <a:rPr lang="en-US" dirty="0"/>
              <a:t>       }</a:t>
            </a:r>
          </a:p>
          <a:p>
            <a:pPr marL="0" indent="0">
              <a:buNone/>
            </a:pPr>
            <a:r>
              <a:rPr lang="en-US" dirty="0"/>
              <a:t>	}</a:t>
            </a:r>
          </a:p>
          <a:p>
            <a:endParaRPr lang="en-US" dirty="0"/>
          </a:p>
        </p:txBody>
      </p:sp>
      <p:sp>
        <p:nvSpPr>
          <p:cNvPr id="6" name="Slide Number Placeholder 5">
            <a:extLst>
              <a:ext uri="{FF2B5EF4-FFF2-40B4-BE49-F238E27FC236}">
                <a16:creationId xmlns:a16="http://schemas.microsoft.com/office/drawing/2014/main" id="{B4CFA8A4-5DF3-4F9C-B9CC-92624719B501}"/>
              </a:ext>
            </a:extLst>
          </p:cNvPr>
          <p:cNvSpPr>
            <a:spLocks noGrp="1"/>
          </p:cNvSpPr>
          <p:nvPr>
            <p:ph type="sldNum" sz="quarter" idx="12"/>
          </p:nvPr>
        </p:nvSpPr>
        <p:spPr/>
        <p:txBody>
          <a:bodyPr/>
          <a:lstStyle/>
          <a:p>
            <a:fld id="{26944F6C-7B8C-1F48-9BFD-FC1F35051F46}" type="slidenum">
              <a:rPr lang="en-US" smtClean="0"/>
              <a:pPr/>
              <a:t>18</a:t>
            </a:fld>
            <a:endParaRPr lang="en-US"/>
          </a:p>
        </p:txBody>
      </p:sp>
    </p:spTree>
    <p:extLst>
      <p:ext uri="{BB962C8B-B14F-4D97-AF65-F5344CB8AC3E}">
        <p14:creationId xmlns:p14="http://schemas.microsoft.com/office/powerpoint/2010/main" val="1779645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Aperiodic tasks</a:t>
            </a:r>
          </a:p>
        </p:txBody>
      </p:sp>
      <p:sp>
        <p:nvSpPr>
          <p:cNvPr id="3" name="Content Placeholder 2"/>
          <p:cNvSpPr>
            <a:spLocks noGrp="1"/>
          </p:cNvSpPr>
          <p:nvPr>
            <p:ph idx="1"/>
          </p:nvPr>
        </p:nvSpPr>
        <p:spPr/>
        <p:txBody>
          <a:bodyPr/>
          <a:lstStyle/>
          <a:p>
            <a:endParaRPr lang="en-US" dirty="0"/>
          </a:p>
          <a:p>
            <a:endParaRPr lang="en-US" dirty="0"/>
          </a:p>
          <a:p>
            <a:r>
              <a:rPr lang="en-US" dirty="0"/>
              <a:t>Tasks that respond asynchronously to events, can be implemented with threads. </a:t>
            </a:r>
          </a:p>
          <a:p>
            <a:pPr marL="0" indent="0">
              <a:buNone/>
            </a:pPr>
            <a:endParaRPr lang="en-US" dirty="0"/>
          </a:p>
          <a:p>
            <a:r>
              <a:rPr lang="en-US" dirty="0"/>
              <a:t>An alarm thread can be implemented so that it sleeps waiting on an event. When the alarm it is sleeping on sounds it immediately wakes up and deals with it.</a:t>
            </a:r>
          </a:p>
          <a:p>
            <a:endParaRPr lang="en-US" dirty="0"/>
          </a:p>
        </p:txBody>
      </p:sp>
      <p:sp>
        <p:nvSpPr>
          <p:cNvPr id="6" name="Slide Number Placeholder 5">
            <a:extLst>
              <a:ext uri="{FF2B5EF4-FFF2-40B4-BE49-F238E27FC236}">
                <a16:creationId xmlns:a16="http://schemas.microsoft.com/office/drawing/2014/main" id="{D499E624-78AB-4DF3-8AA5-5904908771AF}"/>
              </a:ext>
            </a:extLst>
          </p:cNvPr>
          <p:cNvSpPr>
            <a:spLocks noGrp="1"/>
          </p:cNvSpPr>
          <p:nvPr>
            <p:ph type="sldNum" sz="quarter" idx="12"/>
          </p:nvPr>
        </p:nvSpPr>
        <p:spPr/>
        <p:txBody>
          <a:bodyPr/>
          <a:lstStyle/>
          <a:p>
            <a:fld id="{26944F6C-7B8C-1F48-9BFD-FC1F35051F46}" type="slidenum">
              <a:rPr lang="en-US" smtClean="0"/>
              <a:pPr/>
              <a:t>19</a:t>
            </a:fld>
            <a:endParaRPr lang="en-US"/>
          </a:p>
        </p:txBody>
      </p:sp>
    </p:spTree>
    <p:extLst>
      <p:ext uri="{BB962C8B-B14F-4D97-AF65-F5344CB8AC3E}">
        <p14:creationId xmlns:p14="http://schemas.microsoft.com/office/powerpoint/2010/main" val="1111226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Robustness</a:t>
            </a:r>
          </a:p>
        </p:txBody>
      </p:sp>
      <p:sp>
        <p:nvSpPr>
          <p:cNvPr id="3" name="Content Placeholder 2"/>
          <p:cNvSpPr>
            <a:spLocks noGrp="1"/>
          </p:cNvSpPr>
          <p:nvPr>
            <p:ph idx="1"/>
          </p:nvPr>
        </p:nvSpPr>
        <p:spPr/>
        <p:txBody>
          <a:bodyPr/>
          <a:lstStyle/>
          <a:p>
            <a:endParaRPr lang="en-US" dirty="0"/>
          </a:p>
          <a:p>
            <a:r>
              <a:rPr lang="en-US" dirty="0"/>
              <a:t>In a situation where multiple threads are monitoring an environment if one fails then the other threads don’t necessarily fail with it. </a:t>
            </a:r>
          </a:p>
          <a:p>
            <a:endParaRPr lang="en-US" dirty="0"/>
          </a:p>
          <a:p>
            <a:r>
              <a:rPr lang="en-US" dirty="0"/>
              <a:t>Particularly relevant in situations where the software system is maintaining the environment.</a:t>
            </a:r>
            <a:r>
              <a:rPr lang="en-US" dirty="0">
                <a:effectLst/>
              </a:rPr>
              <a:t> </a:t>
            </a:r>
            <a:endParaRPr lang="en-US" dirty="0"/>
          </a:p>
        </p:txBody>
      </p:sp>
      <p:sp>
        <p:nvSpPr>
          <p:cNvPr id="6" name="Slide Number Placeholder 5">
            <a:extLst>
              <a:ext uri="{FF2B5EF4-FFF2-40B4-BE49-F238E27FC236}">
                <a16:creationId xmlns:a16="http://schemas.microsoft.com/office/drawing/2014/main" id="{E51A6BFA-DA9A-4635-82AD-AD4DDFA75996}"/>
              </a:ext>
            </a:extLst>
          </p:cNvPr>
          <p:cNvSpPr>
            <a:spLocks noGrp="1"/>
          </p:cNvSpPr>
          <p:nvPr>
            <p:ph type="sldNum" sz="quarter" idx="12"/>
          </p:nvPr>
        </p:nvSpPr>
        <p:spPr/>
        <p:txBody>
          <a:bodyPr/>
          <a:lstStyle/>
          <a:p>
            <a:fld id="{26944F6C-7B8C-1F48-9BFD-FC1F35051F46}" type="slidenum">
              <a:rPr lang="en-US" smtClean="0"/>
              <a:pPr/>
              <a:t>20</a:t>
            </a:fld>
            <a:endParaRPr lang="en-US"/>
          </a:p>
        </p:txBody>
      </p:sp>
    </p:spTree>
    <p:extLst>
      <p:ext uri="{BB962C8B-B14F-4D97-AF65-F5344CB8AC3E}">
        <p14:creationId xmlns:p14="http://schemas.microsoft.com/office/powerpoint/2010/main" val="2938694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Problems with Concurrency</a:t>
            </a:r>
          </a:p>
        </p:txBody>
      </p:sp>
      <p:sp>
        <p:nvSpPr>
          <p:cNvPr id="3" name="Content Placeholder 2"/>
          <p:cNvSpPr>
            <a:spLocks noGrp="1"/>
          </p:cNvSpPr>
          <p:nvPr>
            <p:ph idx="1"/>
          </p:nvPr>
        </p:nvSpPr>
        <p:spPr/>
        <p:txBody>
          <a:bodyPr/>
          <a:lstStyle/>
          <a:p>
            <a:r>
              <a:rPr lang="en-US" dirty="0"/>
              <a:t>Software Testing</a:t>
            </a:r>
          </a:p>
          <a:p>
            <a:endParaRPr lang="en-US" dirty="0"/>
          </a:p>
          <a:p>
            <a:pPr lvl="1"/>
            <a:r>
              <a:rPr lang="en-US" dirty="0"/>
              <a:t>Single threaded programs are </a:t>
            </a:r>
            <a:r>
              <a:rPr lang="en-US" i="1" dirty="0"/>
              <a:t>deterministic</a:t>
            </a:r>
          </a:p>
          <a:p>
            <a:pPr lvl="1"/>
            <a:endParaRPr lang="en-US" i="1" dirty="0"/>
          </a:p>
          <a:p>
            <a:pPr lvl="1"/>
            <a:r>
              <a:rPr lang="en-US" dirty="0"/>
              <a:t>Multi threaded programs are </a:t>
            </a:r>
            <a:r>
              <a:rPr lang="en-US" i="1" dirty="0"/>
              <a:t>non deterministic</a:t>
            </a:r>
          </a:p>
          <a:p>
            <a:endParaRPr lang="en-US" dirty="0"/>
          </a:p>
          <a:p>
            <a:r>
              <a:rPr lang="en-US" dirty="0"/>
              <a:t>Sharing Resources and Race conditions</a:t>
            </a:r>
          </a:p>
        </p:txBody>
      </p:sp>
      <p:sp>
        <p:nvSpPr>
          <p:cNvPr id="6" name="Slide Number Placeholder 5">
            <a:extLst>
              <a:ext uri="{FF2B5EF4-FFF2-40B4-BE49-F238E27FC236}">
                <a16:creationId xmlns:a16="http://schemas.microsoft.com/office/drawing/2014/main" id="{5CA4FF26-C3BF-4A38-8C9E-0A7E033BDC2F}"/>
              </a:ext>
            </a:extLst>
          </p:cNvPr>
          <p:cNvSpPr>
            <a:spLocks noGrp="1"/>
          </p:cNvSpPr>
          <p:nvPr>
            <p:ph type="sldNum" sz="quarter" idx="12"/>
          </p:nvPr>
        </p:nvSpPr>
        <p:spPr/>
        <p:txBody>
          <a:bodyPr/>
          <a:lstStyle/>
          <a:p>
            <a:fld id="{26944F6C-7B8C-1F48-9BFD-FC1F35051F46}" type="slidenum">
              <a:rPr lang="en-US" smtClean="0"/>
              <a:pPr/>
              <a:t>21</a:t>
            </a:fld>
            <a:endParaRPr lang="en-US"/>
          </a:p>
        </p:txBody>
      </p:sp>
    </p:spTree>
    <p:extLst>
      <p:ext uri="{BB962C8B-B14F-4D97-AF65-F5344CB8AC3E}">
        <p14:creationId xmlns:p14="http://schemas.microsoft.com/office/powerpoint/2010/main" val="17327837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Sharing a Resource</a:t>
            </a:r>
          </a:p>
        </p:txBody>
      </p:sp>
      <p:sp>
        <p:nvSpPr>
          <p:cNvPr id="3" name="Content Placeholder 2"/>
          <p:cNvSpPr>
            <a:spLocks noGrp="1"/>
          </p:cNvSpPr>
          <p:nvPr>
            <p:ph idx="1"/>
          </p:nvPr>
        </p:nvSpPr>
        <p:spPr/>
        <p:txBody>
          <a:bodyPr/>
          <a:lstStyle/>
          <a:p>
            <a:pPr marL="0" indent="0">
              <a:buNone/>
            </a:pPr>
            <a:r>
              <a:rPr lang="en-US" b="1" dirty="0"/>
              <a:t>Thread A:</a:t>
            </a:r>
            <a:endParaRPr lang="en-US" dirty="0"/>
          </a:p>
          <a:p>
            <a:pPr marL="0" indent="0">
              <a:buNone/>
            </a:pPr>
            <a:r>
              <a:rPr lang="en-US" dirty="0"/>
              <a:t>  while (true){</a:t>
            </a:r>
          </a:p>
          <a:p>
            <a:pPr marL="0" indent="0">
              <a:buNone/>
            </a:pPr>
            <a:r>
              <a:rPr lang="en-US" dirty="0"/>
              <a:t>      </a:t>
            </a:r>
            <a:r>
              <a:rPr lang="en-US" sz="2400" i="1" dirty="0"/>
              <a:t>wait until the screen is free and then signal that I have it</a:t>
            </a:r>
            <a:r>
              <a:rPr lang="en-US" sz="2400" dirty="0"/>
              <a:t>  </a:t>
            </a:r>
          </a:p>
          <a:p>
            <a:pPr marL="0" indent="0">
              <a:buNone/>
            </a:pPr>
            <a:r>
              <a:rPr lang="en-US" dirty="0"/>
              <a:t>      // entry protocol</a:t>
            </a:r>
          </a:p>
          <a:p>
            <a:pPr marL="0" indent="0">
              <a:buNone/>
            </a:pPr>
            <a:r>
              <a:rPr lang="en-US" dirty="0"/>
              <a:t>        </a:t>
            </a:r>
            <a:r>
              <a:rPr lang="en-US" dirty="0" err="1"/>
              <a:t>System.out.print</a:t>
            </a:r>
            <a:r>
              <a:rPr lang="en-US" dirty="0"/>
              <a:t>("  …..");</a:t>
            </a:r>
          </a:p>
          <a:p>
            <a:pPr marL="0" indent="0">
              <a:buNone/>
            </a:pPr>
            <a:r>
              <a:rPr lang="en-US" dirty="0"/>
              <a:t>        </a:t>
            </a:r>
            <a:r>
              <a:rPr lang="en-US" i="1" dirty="0"/>
              <a:t>signal that I have finished with the screen</a:t>
            </a:r>
            <a:r>
              <a:rPr lang="en-US" dirty="0"/>
              <a:t>   </a:t>
            </a:r>
          </a:p>
          <a:p>
            <a:pPr marL="0" indent="0">
              <a:buNone/>
            </a:pPr>
            <a:r>
              <a:rPr lang="en-US" dirty="0"/>
              <a:t>        // exit protocol</a:t>
            </a:r>
          </a:p>
          <a:p>
            <a:pPr marL="0" indent="0">
              <a:buNone/>
            </a:pPr>
            <a:r>
              <a:rPr lang="en-US" dirty="0"/>
              <a:t>      }</a:t>
            </a:r>
          </a:p>
          <a:p>
            <a:pPr marL="0" indent="0">
              <a:buNone/>
            </a:pPr>
            <a:r>
              <a:rPr lang="en-US" dirty="0"/>
              <a:t>}</a:t>
            </a:r>
          </a:p>
        </p:txBody>
      </p:sp>
      <p:sp>
        <p:nvSpPr>
          <p:cNvPr id="6" name="Slide Number Placeholder 5">
            <a:extLst>
              <a:ext uri="{FF2B5EF4-FFF2-40B4-BE49-F238E27FC236}">
                <a16:creationId xmlns:a16="http://schemas.microsoft.com/office/drawing/2014/main" id="{309A203B-3216-4531-B967-BC1ADED742A6}"/>
              </a:ext>
            </a:extLst>
          </p:cNvPr>
          <p:cNvSpPr>
            <a:spLocks noGrp="1"/>
          </p:cNvSpPr>
          <p:nvPr>
            <p:ph type="sldNum" sz="quarter" idx="12"/>
          </p:nvPr>
        </p:nvSpPr>
        <p:spPr/>
        <p:txBody>
          <a:bodyPr/>
          <a:lstStyle/>
          <a:p>
            <a:fld id="{26944F6C-7B8C-1F48-9BFD-FC1F35051F46}" type="slidenum">
              <a:rPr lang="en-US" smtClean="0"/>
              <a:pPr/>
              <a:t>22</a:t>
            </a:fld>
            <a:endParaRPr lang="en-US"/>
          </a:p>
        </p:txBody>
      </p:sp>
    </p:spTree>
    <p:extLst>
      <p:ext uri="{BB962C8B-B14F-4D97-AF65-F5344CB8AC3E}">
        <p14:creationId xmlns:p14="http://schemas.microsoft.com/office/powerpoint/2010/main" val="1555166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Thread B:</a:t>
            </a:r>
            <a:endParaRPr lang="en-US" dirty="0"/>
          </a:p>
          <a:p>
            <a:pPr marL="0" indent="0">
              <a:buNone/>
            </a:pPr>
            <a:r>
              <a:rPr lang="en-US" dirty="0"/>
              <a:t>  while</a:t>
            </a:r>
            <a:r>
              <a:rPr lang="en-US" b="1" dirty="0"/>
              <a:t> </a:t>
            </a:r>
            <a:r>
              <a:rPr lang="en-US" dirty="0"/>
              <a:t>(true){</a:t>
            </a:r>
          </a:p>
          <a:p>
            <a:pPr marL="0" indent="0">
              <a:buNone/>
            </a:pPr>
            <a:r>
              <a:rPr lang="en-US" dirty="0"/>
              <a:t>      </a:t>
            </a:r>
            <a:r>
              <a:rPr lang="en-US" sz="2400" i="1" dirty="0"/>
              <a:t>wait until the screen is free and then signal that I have it</a:t>
            </a:r>
            <a:r>
              <a:rPr lang="en-US" sz="2400" dirty="0"/>
              <a:t>  </a:t>
            </a:r>
          </a:p>
          <a:p>
            <a:pPr marL="0" indent="0">
              <a:buNone/>
            </a:pPr>
            <a:r>
              <a:rPr lang="en-US" dirty="0"/>
              <a:t>       // entry protocol</a:t>
            </a:r>
          </a:p>
          <a:p>
            <a:pPr marL="0" indent="0">
              <a:buNone/>
            </a:pPr>
            <a:r>
              <a:rPr lang="en-US" dirty="0"/>
              <a:t>        </a:t>
            </a:r>
            <a:r>
              <a:rPr lang="en-US" dirty="0" err="1"/>
              <a:t>System.out.print</a:t>
            </a:r>
            <a:r>
              <a:rPr lang="en-US" dirty="0"/>
              <a:t>("  …..");</a:t>
            </a:r>
          </a:p>
          <a:p>
            <a:pPr marL="0" indent="0">
              <a:buNone/>
            </a:pPr>
            <a:r>
              <a:rPr lang="en-US" dirty="0"/>
              <a:t>        </a:t>
            </a:r>
            <a:r>
              <a:rPr lang="en-US" i="1" dirty="0"/>
              <a:t>signal that I have finished with the screen</a:t>
            </a:r>
            <a:r>
              <a:rPr lang="en-US" dirty="0"/>
              <a:t>   </a:t>
            </a:r>
          </a:p>
          <a:p>
            <a:pPr marL="0" indent="0">
              <a:buNone/>
            </a:pPr>
            <a:r>
              <a:rPr lang="en-US" dirty="0"/>
              <a:t>        // exit protocol</a:t>
            </a:r>
          </a:p>
          <a:p>
            <a:pPr marL="0" indent="0">
              <a:buNone/>
            </a:pPr>
            <a:r>
              <a:rPr lang="en-US" dirty="0"/>
              <a:t>      }</a:t>
            </a:r>
          </a:p>
          <a:p>
            <a:pPr marL="0" indent="0">
              <a:buNone/>
            </a:pPr>
            <a:r>
              <a:rPr lang="en-US" dirty="0"/>
              <a:t>}</a:t>
            </a:r>
          </a:p>
          <a:p>
            <a:endParaRPr lang="en-US" dirty="0"/>
          </a:p>
        </p:txBody>
      </p:sp>
      <p:sp>
        <p:nvSpPr>
          <p:cNvPr id="6" name="Slide Number Placeholder 5">
            <a:extLst>
              <a:ext uri="{FF2B5EF4-FFF2-40B4-BE49-F238E27FC236}">
                <a16:creationId xmlns:a16="http://schemas.microsoft.com/office/drawing/2014/main" id="{A3BDAD75-C9AD-4250-82B3-D86ECE2B7200}"/>
              </a:ext>
            </a:extLst>
          </p:cNvPr>
          <p:cNvSpPr>
            <a:spLocks noGrp="1"/>
          </p:cNvSpPr>
          <p:nvPr>
            <p:ph type="sldNum" sz="quarter" idx="12"/>
          </p:nvPr>
        </p:nvSpPr>
        <p:spPr/>
        <p:txBody>
          <a:bodyPr/>
          <a:lstStyle/>
          <a:p>
            <a:fld id="{26944F6C-7B8C-1F48-9BFD-FC1F35051F46}" type="slidenum">
              <a:rPr lang="en-US" smtClean="0"/>
              <a:pPr/>
              <a:t>23</a:t>
            </a:fld>
            <a:endParaRPr lang="en-US"/>
          </a:p>
        </p:txBody>
      </p:sp>
    </p:spTree>
    <p:extLst>
      <p:ext uri="{BB962C8B-B14F-4D97-AF65-F5344CB8AC3E}">
        <p14:creationId xmlns:p14="http://schemas.microsoft.com/office/powerpoint/2010/main" val="8012833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For parallel processes to co-operate correctly and efficiently using shared data we need four conditions to hold:</a:t>
            </a:r>
          </a:p>
          <a:p>
            <a:pPr lvl="1"/>
            <a:r>
              <a:rPr lang="en-US" dirty="0"/>
              <a:t>no two processes may be simultaneously inside their critical sections;</a:t>
            </a:r>
          </a:p>
          <a:p>
            <a:pPr lvl="1"/>
            <a:r>
              <a:rPr lang="en-US" dirty="0"/>
              <a:t>no assumptions may be made about the speeds or number of CPUs;</a:t>
            </a:r>
          </a:p>
          <a:p>
            <a:pPr lvl="1"/>
            <a:r>
              <a:rPr lang="en-US" dirty="0"/>
              <a:t>no process running outside its critical section may block other processes;</a:t>
            </a:r>
          </a:p>
          <a:p>
            <a:pPr lvl="1"/>
            <a:r>
              <a:rPr lang="en-US" dirty="0"/>
              <a:t>no process should have to wait forever to enter its critical section.</a:t>
            </a:r>
          </a:p>
          <a:p>
            <a:endParaRPr lang="en-US" dirty="0"/>
          </a:p>
        </p:txBody>
      </p:sp>
      <p:sp>
        <p:nvSpPr>
          <p:cNvPr id="6" name="Slide Number Placeholder 5">
            <a:extLst>
              <a:ext uri="{FF2B5EF4-FFF2-40B4-BE49-F238E27FC236}">
                <a16:creationId xmlns:a16="http://schemas.microsoft.com/office/drawing/2014/main" id="{C641E97D-EC88-405A-91CE-96C0FC9C2846}"/>
              </a:ext>
            </a:extLst>
          </p:cNvPr>
          <p:cNvSpPr>
            <a:spLocks noGrp="1"/>
          </p:cNvSpPr>
          <p:nvPr>
            <p:ph type="sldNum" sz="quarter" idx="12"/>
          </p:nvPr>
        </p:nvSpPr>
        <p:spPr/>
        <p:txBody>
          <a:bodyPr/>
          <a:lstStyle/>
          <a:p>
            <a:fld id="{26944F6C-7B8C-1F48-9BFD-FC1F35051F46}" type="slidenum">
              <a:rPr lang="en-US" smtClean="0"/>
              <a:pPr/>
              <a:t>24</a:t>
            </a:fld>
            <a:endParaRPr lang="en-US"/>
          </a:p>
        </p:txBody>
      </p:sp>
    </p:spTree>
    <p:extLst>
      <p:ext uri="{BB962C8B-B14F-4D97-AF65-F5344CB8AC3E}">
        <p14:creationId xmlns:p14="http://schemas.microsoft.com/office/powerpoint/2010/main" val="12205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Deadlock and Starvation</a:t>
            </a:r>
            <a:br>
              <a:rPr lang="en-US" dirty="0"/>
            </a:br>
            <a:endParaRPr lang="en-US" dirty="0"/>
          </a:p>
        </p:txBody>
      </p:sp>
      <p:sp>
        <p:nvSpPr>
          <p:cNvPr id="3" name="Content Placeholder 2"/>
          <p:cNvSpPr>
            <a:spLocks noGrp="1"/>
          </p:cNvSpPr>
          <p:nvPr>
            <p:ph idx="1"/>
          </p:nvPr>
        </p:nvSpPr>
        <p:spPr/>
        <p:txBody>
          <a:bodyPr/>
          <a:lstStyle/>
          <a:p>
            <a:pPr marL="0" indent="0">
              <a:buNone/>
            </a:pPr>
            <a:endParaRPr lang="en-US" b="1" dirty="0"/>
          </a:p>
          <a:p>
            <a:pPr marL="0" indent="0">
              <a:buNone/>
            </a:pPr>
            <a:r>
              <a:rPr lang="en-US" b="1" dirty="0" err="1"/>
              <a:t>Def</a:t>
            </a:r>
            <a:r>
              <a:rPr lang="en-US" b="1" dirty="0"/>
              <a:t>:</a:t>
            </a:r>
            <a:r>
              <a:rPr lang="en-US" dirty="0"/>
              <a:t>  Deadlock</a:t>
            </a:r>
          </a:p>
          <a:p>
            <a:pPr marL="0" indent="0">
              <a:buNone/>
            </a:pPr>
            <a:endParaRPr lang="en-US" dirty="0"/>
          </a:p>
          <a:p>
            <a:pPr marL="400050" lvl="1" indent="0">
              <a:buNone/>
            </a:pPr>
            <a:r>
              <a:rPr lang="en-US" i="1" dirty="0"/>
              <a:t> A set of processes is deadlocked if each process in the set is waiting for an event that only another process in the set can cause.</a:t>
            </a:r>
            <a:r>
              <a:rPr lang="en-US" dirty="0"/>
              <a:t> (</a:t>
            </a:r>
            <a:r>
              <a:rPr lang="en-US" dirty="0" err="1"/>
              <a:t>Tanenbaum</a:t>
            </a:r>
            <a:r>
              <a:rPr lang="en-US" dirty="0"/>
              <a:t>)</a:t>
            </a:r>
          </a:p>
          <a:p>
            <a:endParaRPr lang="en-US" dirty="0"/>
          </a:p>
        </p:txBody>
      </p:sp>
      <p:sp>
        <p:nvSpPr>
          <p:cNvPr id="6" name="Slide Number Placeholder 5">
            <a:extLst>
              <a:ext uri="{FF2B5EF4-FFF2-40B4-BE49-F238E27FC236}">
                <a16:creationId xmlns:a16="http://schemas.microsoft.com/office/drawing/2014/main" id="{99320569-8762-49B3-B73D-8F4BB26718F9}"/>
              </a:ext>
            </a:extLst>
          </p:cNvPr>
          <p:cNvSpPr>
            <a:spLocks noGrp="1"/>
          </p:cNvSpPr>
          <p:nvPr>
            <p:ph type="sldNum" sz="quarter" idx="12"/>
          </p:nvPr>
        </p:nvSpPr>
        <p:spPr/>
        <p:txBody>
          <a:bodyPr/>
          <a:lstStyle/>
          <a:p>
            <a:fld id="{26944F6C-7B8C-1F48-9BFD-FC1F35051F46}" type="slidenum">
              <a:rPr lang="en-US" smtClean="0"/>
              <a:pPr/>
              <a:t>25</a:t>
            </a:fld>
            <a:endParaRPr lang="en-US"/>
          </a:p>
        </p:txBody>
      </p:sp>
    </p:spTree>
    <p:extLst>
      <p:ext uri="{BB962C8B-B14F-4D97-AF65-F5344CB8AC3E}">
        <p14:creationId xmlns:p14="http://schemas.microsoft.com/office/powerpoint/2010/main" val="655456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Deadlock avoidance</a:t>
            </a:r>
          </a:p>
        </p:txBody>
      </p:sp>
      <p:sp>
        <p:nvSpPr>
          <p:cNvPr id="3" name="Content Placeholder 2"/>
          <p:cNvSpPr>
            <a:spLocks noGrp="1"/>
          </p:cNvSpPr>
          <p:nvPr>
            <p:ph idx="1"/>
          </p:nvPr>
        </p:nvSpPr>
        <p:spPr/>
        <p:txBody>
          <a:bodyPr>
            <a:normAutofit/>
          </a:bodyPr>
          <a:lstStyle/>
          <a:p>
            <a:pPr marL="0" indent="0">
              <a:buNone/>
            </a:pPr>
            <a:r>
              <a:rPr lang="en-US" dirty="0"/>
              <a:t>It has been shown (Coffman et al) that four conditions must hold for deadlock to take place: </a:t>
            </a:r>
          </a:p>
          <a:p>
            <a:pPr lvl="1"/>
            <a:r>
              <a:rPr lang="en-US" dirty="0"/>
              <a:t>Mutual exclusion condition: each resource is assigned to exactly one process or is available</a:t>
            </a:r>
          </a:p>
          <a:p>
            <a:pPr lvl="1"/>
            <a:r>
              <a:rPr lang="en-US" dirty="0"/>
              <a:t>Hold and wait condition: processes currently holding resources granted earlier can request new resources;</a:t>
            </a:r>
          </a:p>
          <a:p>
            <a:pPr lvl="1"/>
            <a:r>
              <a:rPr lang="en-US" dirty="0"/>
              <a:t>No pre-emption condition: resources previously granted cannot be taken away from a process - only the process holding them can release them;</a:t>
            </a:r>
          </a:p>
          <a:p>
            <a:pPr lvl="1"/>
            <a:r>
              <a:rPr lang="en-US" dirty="0"/>
              <a:t>Circular wait condition: there must be a circular chain of two or more processes, each of which is waiting for a resource held by the next member of the chain.</a:t>
            </a:r>
          </a:p>
          <a:p>
            <a:endParaRPr lang="en-US" dirty="0"/>
          </a:p>
        </p:txBody>
      </p:sp>
      <p:sp>
        <p:nvSpPr>
          <p:cNvPr id="6" name="Slide Number Placeholder 5">
            <a:extLst>
              <a:ext uri="{FF2B5EF4-FFF2-40B4-BE49-F238E27FC236}">
                <a16:creationId xmlns:a16="http://schemas.microsoft.com/office/drawing/2014/main" id="{D00D7547-F8E0-4416-B373-605355F380FA}"/>
              </a:ext>
            </a:extLst>
          </p:cNvPr>
          <p:cNvSpPr>
            <a:spLocks noGrp="1"/>
          </p:cNvSpPr>
          <p:nvPr>
            <p:ph type="sldNum" sz="quarter" idx="12"/>
          </p:nvPr>
        </p:nvSpPr>
        <p:spPr/>
        <p:txBody>
          <a:bodyPr/>
          <a:lstStyle/>
          <a:p>
            <a:fld id="{26944F6C-7B8C-1F48-9BFD-FC1F35051F46}" type="slidenum">
              <a:rPr lang="en-US" smtClean="0"/>
              <a:pPr/>
              <a:t>26</a:t>
            </a:fld>
            <a:endParaRPr lang="en-US"/>
          </a:p>
        </p:txBody>
      </p:sp>
    </p:spTree>
    <p:extLst>
      <p:ext uri="{BB962C8B-B14F-4D97-AF65-F5344CB8AC3E}">
        <p14:creationId xmlns:p14="http://schemas.microsoft.com/office/powerpoint/2010/main" val="40121403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Four strategies are used for dealing with deadlocks:</a:t>
            </a:r>
          </a:p>
          <a:p>
            <a:pPr marL="0" indent="0">
              <a:buNone/>
            </a:pPr>
            <a:r>
              <a:rPr lang="en-US" dirty="0"/>
              <a:t> </a:t>
            </a:r>
          </a:p>
          <a:p>
            <a:pPr lvl="0"/>
            <a:r>
              <a:rPr lang="en-US" dirty="0"/>
              <a:t>Just ignore them altogether;</a:t>
            </a:r>
          </a:p>
          <a:p>
            <a:pPr lvl="0"/>
            <a:endParaRPr lang="en-US" dirty="0"/>
          </a:p>
          <a:p>
            <a:pPr lvl="0"/>
            <a:r>
              <a:rPr lang="en-US" dirty="0"/>
              <a:t>Detection and recovery;</a:t>
            </a:r>
          </a:p>
          <a:p>
            <a:pPr lvl="0"/>
            <a:endParaRPr lang="en-US" dirty="0"/>
          </a:p>
          <a:p>
            <a:pPr lvl="0"/>
            <a:r>
              <a:rPr lang="en-US" dirty="0"/>
              <a:t>Dynamic avoidance by careful resource allocation;</a:t>
            </a:r>
          </a:p>
          <a:p>
            <a:pPr lvl="0"/>
            <a:endParaRPr lang="en-US" dirty="0"/>
          </a:p>
          <a:p>
            <a:pPr lvl="0"/>
            <a:r>
              <a:rPr lang="en-US" dirty="0"/>
              <a:t>Prevention, by structurally negating one of the four necessary conditions.</a:t>
            </a:r>
          </a:p>
          <a:p>
            <a:endParaRPr lang="en-US" dirty="0"/>
          </a:p>
        </p:txBody>
      </p:sp>
      <p:sp>
        <p:nvSpPr>
          <p:cNvPr id="6" name="Slide Number Placeholder 5">
            <a:extLst>
              <a:ext uri="{FF2B5EF4-FFF2-40B4-BE49-F238E27FC236}">
                <a16:creationId xmlns:a16="http://schemas.microsoft.com/office/drawing/2014/main" id="{30E1424C-C9CB-45AF-88FC-F97EA943B40A}"/>
              </a:ext>
            </a:extLst>
          </p:cNvPr>
          <p:cNvSpPr>
            <a:spLocks noGrp="1"/>
          </p:cNvSpPr>
          <p:nvPr>
            <p:ph type="sldNum" sz="quarter" idx="12"/>
          </p:nvPr>
        </p:nvSpPr>
        <p:spPr/>
        <p:txBody>
          <a:bodyPr/>
          <a:lstStyle/>
          <a:p>
            <a:fld id="{26944F6C-7B8C-1F48-9BFD-FC1F35051F46}" type="slidenum">
              <a:rPr lang="en-US" smtClean="0"/>
              <a:pPr/>
              <a:t>27</a:t>
            </a:fld>
            <a:endParaRPr lang="en-US"/>
          </a:p>
        </p:txBody>
      </p:sp>
    </p:spTree>
    <p:extLst>
      <p:ext uri="{BB962C8B-B14F-4D97-AF65-F5344CB8AC3E}">
        <p14:creationId xmlns:p14="http://schemas.microsoft.com/office/powerpoint/2010/main" val="35661138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Consequences for Programmers</a:t>
            </a:r>
          </a:p>
        </p:txBody>
      </p:sp>
      <p:sp>
        <p:nvSpPr>
          <p:cNvPr id="3" name="Content Placeholder 2"/>
          <p:cNvSpPr>
            <a:spLocks noGrp="1"/>
          </p:cNvSpPr>
          <p:nvPr>
            <p:ph idx="1"/>
          </p:nvPr>
        </p:nvSpPr>
        <p:spPr/>
        <p:txBody>
          <a:bodyPr>
            <a:normAutofit fontScale="92500" lnSpcReduction="20000"/>
          </a:bodyPr>
          <a:lstStyle/>
          <a:p>
            <a:r>
              <a:rPr lang="en-US" dirty="0">
                <a:latin typeface="Arial" charset="0"/>
                <a:ea typeface="ＭＳ Ｐゴシック" charset="0"/>
              </a:rPr>
              <a:t>Need to be aware of non-determinism</a:t>
            </a:r>
          </a:p>
          <a:p>
            <a:endParaRPr lang="en-US" dirty="0">
              <a:latin typeface="Arial" charset="0"/>
              <a:ea typeface="ＭＳ Ｐゴシック" charset="0"/>
            </a:endParaRPr>
          </a:p>
          <a:p>
            <a:r>
              <a:rPr lang="en-US" dirty="0">
                <a:latin typeface="Arial" charset="0"/>
                <a:ea typeface="ＭＳ Ｐゴシック" charset="0"/>
              </a:rPr>
              <a:t>Sharing violations</a:t>
            </a:r>
          </a:p>
          <a:p>
            <a:endParaRPr lang="en-US" dirty="0">
              <a:latin typeface="Arial" charset="0"/>
              <a:ea typeface="ＭＳ Ｐゴシック" charset="0"/>
            </a:endParaRPr>
          </a:p>
          <a:p>
            <a:r>
              <a:rPr lang="en-US" dirty="0">
                <a:latin typeface="Arial" charset="0"/>
                <a:ea typeface="ＭＳ Ｐゴシック" charset="0"/>
              </a:rPr>
              <a:t>Over use of threads may slow down applications</a:t>
            </a:r>
          </a:p>
          <a:p>
            <a:endParaRPr lang="en-US" dirty="0">
              <a:latin typeface="Arial" charset="0"/>
              <a:ea typeface="ＭＳ Ｐゴシック" charset="0"/>
            </a:endParaRPr>
          </a:p>
          <a:p>
            <a:r>
              <a:rPr lang="en-US" dirty="0">
                <a:latin typeface="Arial" charset="0"/>
                <a:ea typeface="ＭＳ Ｐゴシック" charset="0"/>
              </a:rPr>
              <a:t>What is atomic and what is not?</a:t>
            </a:r>
          </a:p>
          <a:p>
            <a:endParaRPr lang="en-US" dirty="0">
              <a:latin typeface="Arial" charset="0"/>
              <a:ea typeface="ＭＳ Ｐゴシック" charset="0"/>
            </a:endParaRPr>
          </a:p>
          <a:p>
            <a:r>
              <a:rPr lang="en-US" dirty="0">
                <a:latin typeface="Arial" charset="0"/>
                <a:ea typeface="ＭＳ Ｐゴシック" charset="0"/>
              </a:rPr>
              <a:t>Mutable versus immutable state</a:t>
            </a:r>
          </a:p>
          <a:p>
            <a:endParaRPr lang="en-US" dirty="0">
              <a:latin typeface="Arial" charset="0"/>
              <a:ea typeface="ＭＳ Ｐゴシック" charset="0"/>
            </a:endParaRPr>
          </a:p>
          <a:p>
            <a:r>
              <a:rPr lang="en-US" dirty="0">
                <a:latin typeface="Arial" charset="0"/>
                <a:ea typeface="ＭＳ Ｐゴシック" charset="0"/>
              </a:rPr>
              <a:t>Being overly zealous about locking</a:t>
            </a:r>
          </a:p>
          <a:p>
            <a:endParaRPr lang="en-US" dirty="0">
              <a:latin typeface="Arial" charset="0"/>
              <a:ea typeface="ＭＳ Ｐゴシック" charset="0"/>
            </a:endParaRPr>
          </a:p>
          <a:p>
            <a:r>
              <a:rPr lang="en-US" dirty="0">
                <a:latin typeface="Arial" charset="0"/>
                <a:ea typeface="ＭＳ Ｐゴシック" charset="0"/>
              </a:rPr>
              <a:t>Problem of testing</a:t>
            </a:r>
          </a:p>
          <a:p>
            <a:endParaRPr lang="en-US" dirty="0"/>
          </a:p>
        </p:txBody>
      </p:sp>
      <p:sp>
        <p:nvSpPr>
          <p:cNvPr id="6" name="Slide Number Placeholder 5">
            <a:extLst>
              <a:ext uri="{FF2B5EF4-FFF2-40B4-BE49-F238E27FC236}">
                <a16:creationId xmlns:a16="http://schemas.microsoft.com/office/drawing/2014/main" id="{43B84A64-7D94-47CD-8455-149F70412F36}"/>
              </a:ext>
            </a:extLst>
          </p:cNvPr>
          <p:cNvSpPr>
            <a:spLocks noGrp="1"/>
          </p:cNvSpPr>
          <p:nvPr>
            <p:ph type="sldNum" sz="quarter" idx="12"/>
          </p:nvPr>
        </p:nvSpPr>
        <p:spPr/>
        <p:txBody>
          <a:bodyPr/>
          <a:lstStyle/>
          <a:p>
            <a:fld id="{26944F6C-7B8C-1F48-9BFD-FC1F35051F46}" type="slidenum">
              <a:rPr lang="en-US" smtClean="0"/>
              <a:pPr/>
              <a:t>28</a:t>
            </a:fld>
            <a:endParaRPr lang="en-US"/>
          </a:p>
        </p:txBody>
      </p:sp>
    </p:spTree>
    <p:extLst>
      <p:ext uri="{BB962C8B-B14F-4D97-AF65-F5344CB8AC3E}">
        <p14:creationId xmlns:p14="http://schemas.microsoft.com/office/powerpoint/2010/main" val="10449192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History of Concurrent Programming</a:t>
            </a:r>
          </a:p>
        </p:txBody>
      </p:sp>
      <p:sp>
        <p:nvSpPr>
          <p:cNvPr id="3" name="Content Placeholder 2"/>
          <p:cNvSpPr>
            <a:spLocks noGrp="1"/>
          </p:cNvSpPr>
          <p:nvPr>
            <p:ph idx="1"/>
          </p:nvPr>
        </p:nvSpPr>
        <p:spPr/>
        <p:txBody>
          <a:bodyPr/>
          <a:lstStyle/>
          <a:p>
            <a:r>
              <a:rPr lang="en-US" dirty="0"/>
              <a:t>Around since early 1960’s</a:t>
            </a:r>
          </a:p>
          <a:p>
            <a:r>
              <a:rPr lang="en-US" dirty="0"/>
              <a:t>Separation of peripheral devices from </a:t>
            </a:r>
            <a:r>
              <a:rPr lang="en-US" dirty="0" err="1"/>
              <a:t>cpu</a:t>
            </a:r>
            <a:endParaRPr lang="en-US" dirty="0"/>
          </a:p>
          <a:p>
            <a:pPr lvl="1"/>
            <a:r>
              <a:rPr lang="en-US" dirty="0"/>
              <a:t>Huge differences in speed</a:t>
            </a:r>
          </a:p>
          <a:p>
            <a:pPr lvl="1"/>
            <a:r>
              <a:rPr lang="en-US" dirty="0"/>
              <a:t>Allow CPU to work while devices reading/writing</a:t>
            </a:r>
          </a:p>
          <a:p>
            <a:r>
              <a:rPr lang="en-US" dirty="0"/>
              <a:t>Development of multi-tasking reliable operating systems (Hansen)</a:t>
            </a:r>
          </a:p>
          <a:p>
            <a:r>
              <a:rPr lang="en-US" dirty="0"/>
              <a:t>Cooperating Sequential Processes (Dijkstra,1965)</a:t>
            </a:r>
          </a:p>
          <a:p>
            <a:pPr lvl="1"/>
            <a:r>
              <a:rPr lang="en-US" dirty="0"/>
              <a:t>Semaphore</a:t>
            </a:r>
          </a:p>
          <a:p>
            <a:pPr lvl="1"/>
            <a:r>
              <a:rPr lang="en-US" dirty="0"/>
              <a:t>Mutual exclusion</a:t>
            </a:r>
          </a:p>
          <a:p>
            <a:pPr lvl="1"/>
            <a:r>
              <a:rPr lang="en-US" dirty="0" err="1">
                <a:latin typeface="Comic Sans MS"/>
                <a:cs typeface="Comic Sans MS"/>
              </a:rPr>
              <a:t>parbegin</a:t>
            </a:r>
            <a:r>
              <a:rPr lang="en-US" dirty="0">
                <a:latin typeface="Comic Sans MS"/>
                <a:cs typeface="Comic Sans MS"/>
              </a:rPr>
              <a:t> s1;s2;.. </a:t>
            </a:r>
            <a:r>
              <a:rPr lang="en-US" dirty="0" err="1">
                <a:latin typeface="Comic Sans MS"/>
                <a:cs typeface="Comic Sans MS"/>
              </a:rPr>
              <a:t>parend</a:t>
            </a:r>
            <a:endParaRPr lang="en-US" dirty="0">
              <a:latin typeface="Comic Sans MS"/>
              <a:cs typeface="Comic Sans MS"/>
            </a:endParaRPr>
          </a:p>
          <a:p>
            <a:endParaRPr lang="en-US" dirty="0"/>
          </a:p>
        </p:txBody>
      </p:sp>
      <p:sp>
        <p:nvSpPr>
          <p:cNvPr id="6" name="Slide Number Placeholder 5">
            <a:extLst>
              <a:ext uri="{FF2B5EF4-FFF2-40B4-BE49-F238E27FC236}">
                <a16:creationId xmlns:a16="http://schemas.microsoft.com/office/drawing/2014/main" id="{8CC64B6A-BAC2-4E7B-BFAD-D890DA2A7297}"/>
              </a:ext>
            </a:extLst>
          </p:cNvPr>
          <p:cNvSpPr>
            <a:spLocks noGrp="1"/>
          </p:cNvSpPr>
          <p:nvPr>
            <p:ph type="sldNum" sz="quarter" idx="12"/>
          </p:nvPr>
        </p:nvSpPr>
        <p:spPr/>
        <p:txBody>
          <a:bodyPr/>
          <a:lstStyle/>
          <a:p>
            <a:fld id="{26944F6C-7B8C-1F48-9BFD-FC1F35051F46}" type="slidenum">
              <a:rPr lang="en-US" smtClean="0"/>
              <a:pPr/>
              <a:t>29</a:t>
            </a:fld>
            <a:endParaRPr lang="en-US"/>
          </a:p>
        </p:txBody>
      </p:sp>
    </p:spTree>
    <p:extLst>
      <p:ext uri="{BB962C8B-B14F-4D97-AF65-F5344CB8AC3E}">
        <p14:creationId xmlns:p14="http://schemas.microsoft.com/office/powerpoint/2010/main" val="3303332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History of Concurrent Programming</a:t>
            </a:r>
          </a:p>
        </p:txBody>
      </p:sp>
      <p:sp>
        <p:nvSpPr>
          <p:cNvPr id="3" name="Content Placeholder 2"/>
          <p:cNvSpPr>
            <a:spLocks noGrp="1"/>
          </p:cNvSpPr>
          <p:nvPr>
            <p:ph idx="1"/>
          </p:nvPr>
        </p:nvSpPr>
        <p:spPr/>
        <p:txBody>
          <a:bodyPr/>
          <a:lstStyle/>
          <a:p>
            <a:r>
              <a:rPr lang="en-US" dirty="0"/>
              <a:t>Towards a Theory of Parallel Programming (Hoare, 1971)</a:t>
            </a:r>
          </a:p>
          <a:p>
            <a:pPr lvl="1"/>
            <a:r>
              <a:rPr lang="en-US" dirty="0"/>
              <a:t>Proposed abstract features for parallel programming languages</a:t>
            </a:r>
          </a:p>
          <a:p>
            <a:pPr marL="514350" indent="-457200"/>
            <a:r>
              <a:rPr lang="en-US" dirty="0"/>
              <a:t>Shared classes and monitors (Hansen &amp; Hoare, 1973)</a:t>
            </a:r>
          </a:p>
          <a:p>
            <a:pPr marL="514350" indent="-457200"/>
            <a:r>
              <a:rPr lang="en-US" dirty="0"/>
              <a:t>Concurrent Pascal (Hansen &amp; Hartman, 1975)</a:t>
            </a:r>
          </a:p>
        </p:txBody>
      </p:sp>
      <p:sp>
        <p:nvSpPr>
          <p:cNvPr id="6" name="Slide Number Placeholder 5">
            <a:extLst>
              <a:ext uri="{FF2B5EF4-FFF2-40B4-BE49-F238E27FC236}">
                <a16:creationId xmlns:a16="http://schemas.microsoft.com/office/drawing/2014/main" id="{2393466D-DF99-4AF8-B9BE-1222680238EB}"/>
              </a:ext>
            </a:extLst>
          </p:cNvPr>
          <p:cNvSpPr>
            <a:spLocks noGrp="1"/>
          </p:cNvSpPr>
          <p:nvPr>
            <p:ph type="sldNum" sz="quarter" idx="12"/>
          </p:nvPr>
        </p:nvSpPr>
        <p:spPr/>
        <p:txBody>
          <a:bodyPr/>
          <a:lstStyle/>
          <a:p>
            <a:fld id="{26944F6C-7B8C-1F48-9BFD-FC1F35051F46}" type="slidenum">
              <a:rPr lang="en-US" smtClean="0"/>
              <a:pPr/>
              <a:t>30</a:t>
            </a:fld>
            <a:endParaRPr lang="en-US"/>
          </a:p>
        </p:txBody>
      </p:sp>
    </p:spTree>
    <p:extLst>
      <p:ext uri="{BB962C8B-B14F-4D97-AF65-F5344CB8AC3E}">
        <p14:creationId xmlns:p14="http://schemas.microsoft.com/office/powerpoint/2010/main" val="1492413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Reading List</a:t>
            </a:r>
          </a:p>
        </p:txBody>
      </p:sp>
      <p:sp>
        <p:nvSpPr>
          <p:cNvPr id="3" name="Content Placeholder 2"/>
          <p:cNvSpPr>
            <a:spLocks noGrp="1"/>
          </p:cNvSpPr>
          <p:nvPr>
            <p:ph idx="1"/>
          </p:nvPr>
        </p:nvSpPr>
        <p:spPr/>
        <p:txBody>
          <a:bodyPr>
            <a:normAutofit fontScale="85000" lnSpcReduction="20000"/>
          </a:bodyPr>
          <a:lstStyle/>
          <a:p>
            <a:r>
              <a:rPr lang="en-US" dirty="0"/>
              <a:t>Doug Lea.   </a:t>
            </a:r>
            <a:r>
              <a:rPr lang="en-US" i="1" dirty="0"/>
              <a:t>Concurrent Programming in Java</a:t>
            </a:r>
            <a:r>
              <a:rPr lang="en-US" dirty="0"/>
              <a:t>, Second Edition. Addison-Wesley, 2000</a:t>
            </a:r>
          </a:p>
          <a:p>
            <a:r>
              <a:rPr lang="en-US" dirty="0"/>
              <a:t>Andrew </a:t>
            </a:r>
            <a:r>
              <a:rPr lang="en-US" dirty="0" err="1"/>
              <a:t>Wellings</a:t>
            </a:r>
            <a:r>
              <a:rPr lang="en-US" dirty="0"/>
              <a:t>. </a:t>
            </a:r>
            <a:r>
              <a:rPr lang="en-US" i="1" dirty="0"/>
              <a:t>Concurrent and Real-Time Programming in Java</a:t>
            </a:r>
            <a:r>
              <a:rPr lang="en-US" dirty="0"/>
              <a:t>. John Wiley &amp; Sons, 2004.</a:t>
            </a:r>
          </a:p>
          <a:p>
            <a:r>
              <a:rPr lang="en-US" dirty="0"/>
              <a:t>Brian Goetz. </a:t>
            </a:r>
            <a:r>
              <a:rPr lang="en-US" i="1" dirty="0"/>
              <a:t>Java Concurrency in Practice</a:t>
            </a:r>
            <a:r>
              <a:rPr lang="en-US" dirty="0"/>
              <a:t>. Addison-Wesley, 2006. </a:t>
            </a:r>
          </a:p>
          <a:p>
            <a:r>
              <a:rPr lang="en-IE" dirty="0"/>
              <a:t>Akhter, S., 2006, Multi-core Programming: Increasing Performance Through Software Multi-Threading, Intel Press</a:t>
            </a:r>
            <a:endParaRPr lang="en-GB" dirty="0"/>
          </a:p>
          <a:p>
            <a:r>
              <a:rPr lang="en-IE" dirty="0"/>
              <a:t>McCool, M., Reinders, J., Robison, A.D., 2012, Structured Parallel Programming: Patterns for Efficient Computation</a:t>
            </a:r>
            <a:endParaRPr lang="en-GB" dirty="0"/>
          </a:p>
          <a:p>
            <a:r>
              <a:rPr lang="en-IE" dirty="0" err="1"/>
              <a:t>Gropp</a:t>
            </a:r>
            <a:r>
              <a:rPr lang="en-IE" dirty="0"/>
              <a:t>, W., Lusk, E., </a:t>
            </a:r>
            <a:r>
              <a:rPr lang="en-IE" dirty="0" err="1"/>
              <a:t>Skjellum</a:t>
            </a:r>
            <a:r>
              <a:rPr lang="en-IE" dirty="0"/>
              <a:t>, A., 2015, Using MPI: Portable Parallel Programming with the Message-Passing Interface, MIT Press, 3</a:t>
            </a:r>
            <a:r>
              <a:rPr lang="en-IE" baseline="30000" dirty="0"/>
              <a:t>rd</a:t>
            </a:r>
            <a:r>
              <a:rPr lang="en-IE" dirty="0"/>
              <a:t> Edition</a:t>
            </a:r>
            <a:endParaRPr lang="en-GB" dirty="0"/>
          </a:p>
          <a:p>
            <a:r>
              <a:rPr lang="en-IE" dirty="0" err="1"/>
              <a:t>Gropp</a:t>
            </a:r>
            <a:r>
              <a:rPr lang="en-IE" dirty="0"/>
              <a:t>, W., </a:t>
            </a:r>
            <a:r>
              <a:rPr lang="en-IE" dirty="0" err="1"/>
              <a:t>Hoefler</a:t>
            </a:r>
            <a:r>
              <a:rPr lang="en-IE" dirty="0"/>
              <a:t>, T., Thakur, R., Lusk, E., 2015, Using Advanced MPI: Modern Features of the Message Passing Interface, MIT Press</a:t>
            </a:r>
            <a:endParaRPr lang="en-GB" dirty="0"/>
          </a:p>
          <a:p>
            <a:endParaRPr lang="en-US" dirty="0"/>
          </a:p>
          <a:p>
            <a:endParaRPr lang="en-US" dirty="0"/>
          </a:p>
          <a:p>
            <a:endParaRPr lang="en-US" dirty="0"/>
          </a:p>
          <a:p>
            <a:endParaRPr lang="en-US" dirty="0"/>
          </a:p>
        </p:txBody>
      </p:sp>
      <p:sp>
        <p:nvSpPr>
          <p:cNvPr id="6" name="Slide Number Placeholder 5">
            <a:extLst>
              <a:ext uri="{FF2B5EF4-FFF2-40B4-BE49-F238E27FC236}">
                <a16:creationId xmlns:a16="http://schemas.microsoft.com/office/drawing/2014/main" id="{8F4321EB-E7C9-46CF-BCB0-1CD6E0AFA400}"/>
              </a:ext>
            </a:extLst>
          </p:cNvPr>
          <p:cNvSpPr>
            <a:spLocks noGrp="1"/>
          </p:cNvSpPr>
          <p:nvPr>
            <p:ph type="sldNum" sz="quarter" idx="12"/>
          </p:nvPr>
        </p:nvSpPr>
        <p:spPr/>
        <p:txBody>
          <a:bodyPr/>
          <a:lstStyle/>
          <a:p>
            <a:fld id="{26944F6C-7B8C-1F48-9BFD-FC1F35051F46}" type="slidenum">
              <a:rPr lang="en-US" smtClean="0"/>
              <a:pPr/>
              <a:t>31</a:t>
            </a:fld>
            <a:endParaRPr lang="en-US"/>
          </a:p>
        </p:txBody>
      </p:sp>
    </p:spTree>
    <p:extLst>
      <p:ext uri="{BB962C8B-B14F-4D97-AF65-F5344CB8AC3E}">
        <p14:creationId xmlns:p14="http://schemas.microsoft.com/office/powerpoint/2010/main" val="14863995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normAutofit fontScale="90000"/>
          </a:bodyPr>
          <a:lstStyle/>
          <a:p>
            <a:pPr eaLnBrk="1" hangingPunct="1"/>
            <a:r>
              <a:rPr lang="en-US">
                <a:latin typeface="Arial" charset="0"/>
                <a:ea typeface="ＭＳ Ｐゴシック" charset="0"/>
              </a:rPr>
              <a:t>Course Content</a:t>
            </a:r>
          </a:p>
        </p:txBody>
      </p:sp>
      <p:sp>
        <p:nvSpPr>
          <p:cNvPr id="52227" name="Content Placeholder 2"/>
          <p:cNvSpPr>
            <a:spLocks noGrp="1"/>
          </p:cNvSpPr>
          <p:nvPr>
            <p:ph idx="1"/>
          </p:nvPr>
        </p:nvSpPr>
        <p:spPr>
          <a:xfrm>
            <a:off x="457200" y="686444"/>
            <a:ext cx="8229600" cy="5439719"/>
          </a:xfrm>
        </p:spPr>
        <p:txBody>
          <a:bodyPr>
            <a:normAutofit lnSpcReduction="10000"/>
          </a:bodyPr>
          <a:lstStyle/>
          <a:p>
            <a:pPr marL="0" indent="0" eaLnBrk="1" hangingPunct="1">
              <a:buNone/>
            </a:pPr>
            <a:r>
              <a:rPr lang="en-US" b="1" dirty="0">
                <a:latin typeface="Arial" panose="020B0604020202020204" pitchFamily="34" charset="0"/>
                <a:ea typeface="ＭＳ Ｐゴシック" charset="0"/>
                <a:cs typeface="Arial" panose="020B0604020202020204" pitchFamily="34" charset="0"/>
              </a:rPr>
              <a:t>Java Language</a:t>
            </a:r>
          </a:p>
          <a:p>
            <a:pPr eaLnBrk="1" hangingPunct="1"/>
            <a:r>
              <a:rPr lang="en-US" dirty="0">
                <a:latin typeface="Arial" panose="020B0604020202020204" pitchFamily="34" charset="0"/>
                <a:ea typeface="ＭＳ Ｐゴシック" charset="0"/>
                <a:cs typeface="Arial" panose="020B0604020202020204" pitchFamily="34" charset="0"/>
              </a:rPr>
              <a:t>Threads and Simple parallel processing</a:t>
            </a:r>
          </a:p>
          <a:p>
            <a:pPr eaLnBrk="1" hangingPunct="1"/>
            <a:r>
              <a:rPr lang="en-US" dirty="0">
                <a:latin typeface="Arial" panose="020B0604020202020204" pitchFamily="34" charset="0"/>
                <a:ea typeface="ＭＳ Ｐゴシック" charset="0"/>
                <a:cs typeface="Arial" panose="020B0604020202020204" pitchFamily="34" charset="0"/>
              </a:rPr>
              <a:t>Sharing resources using synchronization and locking</a:t>
            </a:r>
          </a:p>
          <a:p>
            <a:pPr eaLnBrk="1" hangingPunct="1"/>
            <a:r>
              <a:rPr lang="en-US" dirty="0">
                <a:latin typeface="Arial" panose="020B0604020202020204" pitchFamily="34" charset="0"/>
                <a:ea typeface="ＭＳ Ｐゴシック" charset="0"/>
                <a:cs typeface="Arial" panose="020B0604020202020204" pitchFamily="34" charset="0"/>
              </a:rPr>
              <a:t>Condition variables and working with limited resources</a:t>
            </a:r>
          </a:p>
          <a:p>
            <a:pPr eaLnBrk="1" hangingPunct="1"/>
            <a:r>
              <a:rPr lang="en-US" dirty="0">
                <a:latin typeface="Arial" panose="020B0604020202020204" pitchFamily="34" charset="0"/>
                <a:ea typeface="ＭＳ Ｐゴシック" charset="0"/>
                <a:cs typeface="Arial" panose="020B0604020202020204" pitchFamily="34" charset="0"/>
              </a:rPr>
              <a:t>Semaphores, Latches and Barriers</a:t>
            </a:r>
          </a:p>
          <a:p>
            <a:pPr marL="0" indent="0" eaLnBrk="1" hangingPunct="1">
              <a:buNone/>
            </a:pPr>
            <a:r>
              <a:rPr lang="en-US" b="1" dirty="0">
                <a:latin typeface="Arial" panose="020B0604020202020204" pitchFamily="34" charset="0"/>
                <a:ea typeface="ＭＳ Ｐゴシック" charset="0"/>
                <a:cs typeface="Arial" panose="020B0604020202020204" pitchFamily="34" charset="0"/>
              </a:rPr>
              <a:t>C- Language</a:t>
            </a:r>
          </a:p>
          <a:p>
            <a:r>
              <a:rPr lang="en-GB" dirty="0">
                <a:latin typeface="Arial" panose="020B0604020202020204" pitchFamily="34" charset="0"/>
                <a:cs typeface="Arial" panose="020B0604020202020204" pitchFamily="34" charset="0"/>
              </a:rPr>
              <a:t>Parallel Programming Models.</a:t>
            </a:r>
          </a:p>
          <a:p>
            <a:r>
              <a:rPr lang="en-GB" dirty="0">
                <a:latin typeface="Arial" panose="020B0604020202020204" pitchFamily="34" charset="0"/>
                <a:ea typeface="ＭＳ Ｐゴシック" charset="0"/>
                <a:cs typeface="Arial" panose="020B0604020202020204" pitchFamily="34" charset="0"/>
              </a:rPr>
              <a:t>OpenMP </a:t>
            </a:r>
          </a:p>
          <a:p>
            <a:r>
              <a:rPr lang="en-GB" dirty="0">
                <a:latin typeface="Arial" panose="020B0604020202020204" pitchFamily="34" charset="0"/>
                <a:ea typeface="ＭＳ Ｐゴシック" charset="0"/>
                <a:cs typeface="Arial" panose="020B0604020202020204" pitchFamily="34" charset="0"/>
              </a:rPr>
              <a:t>MPI</a:t>
            </a:r>
            <a:endParaRPr lang="en-US" dirty="0">
              <a:latin typeface="Arial" panose="020B0604020202020204" pitchFamily="34" charset="0"/>
              <a:ea typeface="ＭＳ Ｐゴシック" charset="0"/>
              <a:cs typeface="Arial" panose="020B0604020202020204" pitchFamily="34" charset="0"/>
            </a:endParaRPr>
          </a:p>
          <a:p>
            <a:pPr eaLnBrk="1" hangingPunct="1"/>
            <a:endParaRPr lang="en-US" dirty="0">
              <a:latin typeface="Arial" charset="0"/>
              <a:ea typeface="ＭＳ Ｐゴシック" charset="0"/>
            </a:endParaRPr>
          </a:p>
          <a:p>
            <a:pPr eaLnBrk="1" hangingPunct="1"/>
            <a:endParaRPr lang="en-US" dirty="0">
              <a:latin typeface="Arial" charset="0"/>
              <a:ea typeface="ＭＳ Ｐゴシック" charset="0"/>
            </a:endParaRPr>
          </a:p>
        </p:txBody>
      </p:sp>
      <p:sp>
        <p:nvSpPr>
          <p:cNvPr id="52230" name="Slide Number Placeholder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28F1F2A7-FCAF-474F-88A1-070164425DD4}" type="slidenum">
              <a:rPr lang="en-US"/>
              <a:pPr eaLnBrk="1" hangingPunct="1"/>
              <a:t>32</a:t>
            </a:fld>
            <a:endParaRPr lang="en-US"/>
          </a:p>
        </p:txBody>
      </p:sp>
    </p:spTree>
    <p:extLst>
      <p:ext uri="{BB962C8B-B14F-4D97-AF65-F5344CB8AC3E}">
        <p14:creationId xmlns:p14="http://schemas.microsoft.com/office/powerpoint/2010/main" val="3427944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normAutofit fontScale="90000"/>
          </a:bodyPr>
          <a:lstStyle/>
          <a:p>
            <a:pPr eaLnBrk="1" hangingPunct="1"/>
            <a:r>
              <a:rPr lang="en-US">
                <a:latin typeface="Arial" charset="0"/>
                <a:ea typeface="ＭＳ Ｐゴシック" charset="0"/>
              </a:rPr>
              <a:t>Assessment</a:t>
            </a:r>
          </a:p>
        </p:txBody>
      </p:sp>
      <p:sp>
        <p:nvSpPr>
          <p:cNvPr id="54275" name="Content Placeholder 2"/>
          <p:cNvSpPr>
            <a:spLocks noGrp="1"/>
          </p:cNvSpPr>
          <p:nvPr>
            <p:ph idx="1"/>
          </p:nvPr>
        </p:nvSpPr>
        <p:spPr/>
        <p:txBody>
          <a:bodyPr/>
          <a:lstStyle/>
          <a:p>
            <a:pPr eaLnBrk="1" hangingPunct="1"/>
            <a:endParaRPr lang="en-US" dirty="0">
              <a:latin typeface="Arial" charset="0"/>
              <a:ea typeface="ＭＳ Ｐゴシック" charset="0"/>
            </a:endParaRPr>
          </a:p>
          <a:p>
            <a:pPr eaLnBrk="1" hangingPunct="1"/>
            <a:r>
              <a:rPr lang="en-US" dirty="0">
                <a:latin typeface="Arial" charset="0"/>
                <a:ea typeface="ＭＳ Ｐゴシック" charset="0"/>
              </a:rPr>
              <a:t>Assignment work &amp; Lab 50%</a:t>
            </a:r>
          </a:p>
          <a:p>
            <a:pPr marL="0" indent="0" eaLnBrk="1" hangingPunct="1">
              <a:buNone/>
            </a:pPr>
            <a:r>
              <a:rPr lang="en-US" dirty="0">
                <a:latin typeface="Arial" charset="0"/>
                <a:ea typeface="ＭＳ Ｐゴシック" charset="0"/>
              </a:rPr>
              <a:t>Two assignments ( Java and C )</a:t>
            </a:r>
          </a:p>
          <a:p>
            <a:pPr eaLnBrk="1" hangingPunct="1"/>
            <a:r>
              <a:rPr lang="en-US" dirty="0">
                <a:latin typeface="Arial" charset="0"/>
                <a:ea typeface="ＭＳ Ｐゴシック" charset="0"/>
              </a:rPr>
              <a:t>Examination 50%</a:t>
            </a:r>
          </a:p>
          <a:p>
            <a:pPr marL="0" indent="0" eaLnBrk="1" hangingPunct="1">
              <a:buNone/>
            </a:pPr>
            <a:r>
              <a:rPr lang="en-US" dirty="0">
                <a:latin typeface="Arial" charset="0"/>
                <a:ea typeface="ＭＳ Ｐゴシック" charset="0"/>
              </a:rPr>
              <a:t>Theory </a:t>
            </a:r>
            <a:r>
              <a:rPr lang="en-US">
                <a:latin typeface="Arial" charset="0"/>
                <a:ea typeface="ＭＳ Ｐゴシック" charset="0"/>
              </a:rPr>
              <a:t>and coding</a:t>
            </a:r>
            <a:endParaRPr lang="en-US" dirty="0">
              <a:latin typeface="Arial" charset="0"/>
              <a:ea typeface="ＭＳ Ｐゴシック" charset="0"/>
            </a:endParaRPr>
          </a:p>
        </p:txBody>
      </p:sp>
      <p:sp>
        <p:nvSpPr>
          <p:cNvPr id="54278" name="Slide Number Placeholder 5"/>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34C78A00-1A78-9F4E-A4B1-8C16A737552A}" type="slidenum">
              <a:rPr lang="en-US"/>
              <a:pPr eaLnBrk="1" hangingPunct="1"/>
              <a:t>33</a:t>
            </a:fld>
            <a:endParaRPr lang="en-US"/>
          </a:p>
        </p:txBody>
      </p:sp>
    </p:spTree>
    <p:extLst>
      <p:ext uri="{BB962C8B-B14F-4D97-AF65-F5344CB8AC3E}">
        <p14:creationId xmlns:p14="http://schemas.microsoft.com/office/powerpoint/2010/main" val="9705896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endParaRPr lang="en-US" dirty="0"/>
          </a:p>
          <a:p>
            <a:pPr marL="0" indent="0" algn="ctr">
              <a:buNone/>
            </a:pPr>
            <a:r>
              <a:rPr lang="en-US" dirty="0">
                <a:solidFill>
                  <a:srgbClr val="FF0000"/>
                </a:solidFill>
              </a:rPr>
              <a:t>Programming with Threads</a:t>
            </a:r>
          </a:p>
        </p:txBody>
      </p:sp>
      <p:sp>
        <p:nvSpPr>
          <p:cNvPr id="6" name="Slide Number Placeholder 5">
            <a:extLst>
              <a:ext uri="{FF2B5EF4-FFF2-40B4-BE49-F238E27FC236}">
                <a16:creationId xmlns:a16="http://schemas.microsoft.com/office/drawing/2014/main" id="{F870ECA7-F58E-46B1-87F8-AEF71B5A2D44}"/>
              </a:ext>
            </a:extLst>
          </p:cNvPr>
          <p:cNvSpPr>
            <a:spLocks noGrp="1"/>
          </p:cNvSpPr>
          <p:nvPr>
            <p:ph type="sldNum" sz="quarter" idx="12"/>
          </p:nvPr>
        </p:nvSpPr>
        <p:spPr/>
        <p:txBody>
          <a:bodyPr/>
          <a:lstStyle/>
          <a:p>
            <a:fld id="{26944F6C-7B8C-1F48-9BFD-FC1F35051F46}" type="slidenum">
              <a:rPr lang="en-US" smtClean="0"/>
              <a:pPr/>
              <a:t>34</a:t>
            </a:fld>
            <a:endParaRPr lang="en-US"/>
          </a:p>
        </p:txBody>
      </p:sp>
    </p:spTree>
    <p:extLst>
      <p:ext uri="{BB962C8B-B14F-4D97-AF65-F5344CB8AC3E}">
        <p14:creationId xmlns:p14="http://schemas.microsoft.com/office/powerpoint/2010/main" val="14477557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9C91D8AA-BEBD-BC46-8F33-8A5012D2EF34}" type="slidenum">
              <a:rPr lang="en-US"/>
              <a:pPr>
                <a:defRPr/>
              </a:pPr>
              <a:t>35</a:t>
            </a:fld>
            <a:endParaRPr lang="en-US"/>
          </a:p>
        </p:txBody>
      </p:sp>
      <p:sp>
        <p:nvSpPr>
          <p:cNvPr id="9218" name="Rectangle 2"/>
          <p:cNvSpPr>
            <a:spLocks noGrp="1" noChangeArrowheads="1"/>
          </p:cNvSpPr>
          <p:nvPr>
            <p:ph type="title"/>
          </p:nvPr>
        </p:nvSpPr>
        <p:spPr>
          <a:xfrm>
            <a:off x="457200" y="274638"/>
            <a:ext cx="8229600" cy="481012"/>
          </a:xfrm>
        </p:spPr>
        <p:txBody>
          <a:bodyPr/>
          <a:lstStyle/>
          <a:p>
            <a:pPr eaLnBrk="1" hangingPunct="1">
              <a:defRPr/>
            </a:pPr>
            <a:r>
              <a:rPr lang="en-GB" sz="2400" b="1">
                <a:cs typeface="+mj-cs"/>
              </a:rPr>
              <a:t>Processes and Win32</a:t>
            </a:r>
            <a:endParaRPr lang="en-US" sz="2400" b="1">
              <a:cs typeface="+mj-cs"/>
            </a:endParaRPr>
          </a:p>
        </p:txBody>
      </p:sp>
      <p:sp>
        <p:nvSpPr>
          <p:cNvPr id="9219" name="Rectangle 3"/>
          <p:cNvSpPr>
            <a:spLocks noGrp="1" noChangeArrowheads="1"/>
          </p:cNvSpPr>
          <p:nvPr>
            <p:ph type="body" idx="1"/>
          </p:nvPr>
        </p:nvSpPr>
        <p:spPr/>
        <p:txBody>
          <a:bodyPr/>
          <a:lstStyle/>
          <a:p>
            <a:pPr eaLnBrk="1" hangingPunct="1">
              <a:buFontTx/>
              <a:buNone/>
              <a:defRPr/>
            </a:pPr>
            <a:r>
              <a:rPr lang="en-GB" sz="2800" b="1" dirty="0">
                <a:cs typeface="+mn-cs"/>
              </a:rPr>
              <a:t>Definition</a:t>
            </a:r>
            <a:endParaRPr lang="en-GB" sz="2800" i="1" dirty="0">
              <a:cs typeface="+mn-cs"/>
            </a:endParaRPr>
          </a:p>
          <a:p>
            <a:pPr eaLnBrk="1" hangingPunct="1">
              <a:buFontTx/>
              <a:buNone/>
              <a:defRPr/>
            </a:pPr>
            <a:r>
              <a:rPr lang="en-GB" sz="2800" i="1" dirty="0">
                <a:cs typeface="+mn-cs"/>
              </a:rPr>
              <a:t>	A process is a kernel object that characterizes a 4 giga byte address space within which threads execute.</a:t>
            </a:r>
          </a:p>
          <a:p>
            <a:pPr eaLnBrk="1" hangingPunct="1">
              <a:buFontTx/>
              <a:buNone/>
              <a:defRPr/>
            </a:pPr>
            <a:endParaRPr lang="en-GB" sz="2800" i="1" dirty="0">
              <a:cs typeface="+mn-cs"/>
            </a:endParaRPr>
          </a:p>
          <a:p>
            <a:pPr eaLnBrk="1" hangingPunct="1">
              <a:buFontTx/>
              <a:buNone/>
              <a:defRPr/>
            </a:pPr>
            <a:r>
              <a:rPr lang="en-AU" i="1" dirty="0">
                <a:cs typeface="+mn-cs"/>
              </a:rPr>
              <a:t>	</a:t>
            </a:r>
            <a:r>
              <a:rPr lang="en-AU" sz="2800" i="1" dirty="0">
                <a:cs typeface="+mn-cs"/>
              </a:rPr>
              <a:t>A process is inert. </a:t>
            </a:r>
          </a:p>
          <a:p>
            <a:pPr eaLnBrk="1" hangingPunct="1">
              <a:buFontTx/>
              <a:buNone/>
              <a:defRPr/>
            </a:pPr>
            <a:endParaRPr lang="en-AU" sz="2800" i="1" dirty="0">
              <a:cs typeface="+mn-cs"/>
            </a:endParaRPr>
          </a:p>
          <a:p>
            <a:pPr eaLnBrk="1" hangingPunct="1">
              <a:buFontTx/>
              <a:buNone/>
              <a:defRPr/>
            </a:pPr>
            <a:r>
              <a:rPr lang="en-AU" sz="2800" i="1" dirty="0">
                <a:cs typeface="+mn-cs"/>
              </a:rPr>
              <a:t>	To work it must have a primary thread.</a:t>
            </a:r>
            <a:r>
              <a:rPr lang="en-AU" dirty="0">
                <a:cs typeface="+mn-cs"/>
              </a:rPr>
              <a:t> This thread is called main(...)</a:t>
            </a:r>
            <a:endParaRPr lang="en-US" dirty="0">
              <a:cs typeface="+mn-cs"/>
            </a:endParaRPr>
          </a:p>
        </p:txBody>
      </p:sp>
    </p:spTree>
    <p:extLst>
      <p:ext uri="{BB962C8B-B14F-4D97-AF65-F5344CB8AC3E}">
        <p14:creationId xmlns:p14="http://schemas.microsoft.com/office/powerpoint/2010/main" val="10768168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hangingPunct="1">
              <a:defRPr/>
            </a:pPr>
            <a:r>
              <a:rPr lang="en-US" sz="2800" dirty="0">
                <a:cs typeface="+mj-cs"/>
              </a:rPr>
              <a:t>Shared Memory Model</a:t>
            </a:r>
          </a:p>
        </p:txBody>
      </p:sp>
      <p:pic>
        <p:nvPicPr>
          <p:cNvPr id="7" name="Content Placeholder 6"/>
          <p:cNvPicPr>
            <a:picLocks noGrp="1" noChangeAspect="1"/>
          </p:cNvPicPr>
          <p:nvPr>
            <p:ph idx="1"/>
          </p:nvPr>
        </p:nvPicPr>
        <p:blipFill>
          <a:blip r:embed="rId2"/>
          <a:srcRect l="-19231" r="-19231"/>
          <a:stretch>
            <a:fillRect/>
          </a:stretch>
        </p:blipFill>
        <p:spPr>
          <a:xfrm>
            <a:off x="457200" y="836613"/>
            <a:ext cx="8229600" cy="5289550"/>
          </a:xfrm>
        </p:spPr>
      </p:pic>
      <p:sp>
        <p:nvSpPr>
          <p:cNvPr id="6" name="Slide Number Placeholder 5"/>
          <p:cNvSpPr>
            <a:spLocks noGrp="1"/>
          </p:cNvSpPr>
          <p:nvPr>
            <p:ph type="sldNum" sz="quarter" idx="12"/>
          </p:nvPr>
        </p:nvSpPr>
        <p:spPr/>
        <p:txBody>
          <a:bodyPr/>
          <a:lstStyle/>
          <a:p>
            <a:pPr>
              <a:defRPr/>
            </a:pPr>
            <a:fld id="{803A4AE1-8C4E-E040-8C25-37945303D53A}" type="slidenum">
              <a:rPr lang="en-US"/>
              <a:pPr>
                <a:defRPr/>
              </a:pPr>
              <a:t>36</a:t>
            </a:fld>
            <a:endParaRPr lang="en-US"/>
          </a:p>
        </p:txBody>
      </p:sp>
    </p:spTree>
    <p:extLst>
      <p:ext uri="{BB962C8B-B14F-4D97-AF65-F5344CB8AC3E}">
        <p14:creationId xmlns:p14="http://schemas.microsoft.com/office/powerpoint/2010/main" val="26228970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rcRect l="-7662" r="-7662"/>
          <a:stretch>
            <a:fillRect/>
          </a:stretch>
        </p:blipFill>
        <p:spPr>
          <a:xfrm>
            <a:off x="457200" y="692150"/>
            <a:ext cx="8229600" cy="5434013"/>
          </a:xfrm>
        </p:spPr>
      </p:pic>
      <p:sp>
        <p:nvSpPr>
          <p:cNvPr id="6" name="Slide Number Placeholder 5"/>
          <p:cNvSpPr>
            <a:spLocks noGrp="1"/>
          </p:cNvSpPr>
          <p:nvPr>
            <p:ph type="sldNum" sz="quarter" idx="12"/>
          </p:nvPr>
        </p:nvSpPr>
        <p:spPr/>
        <p:txBody>
          <a:bodyPr/>
          <a:lstStyle/>
          <a:p>
            <a:pPr>
              <a:defRPr/>
            </a:pPr>
            <a:fld id="{9214863B-BA78-B84C-8DB7-F0A22EE362EF}" type="slidenum">
              <a:rPr lang="en-US"/>
              <a:pPr>
                <a:defRPr/>
              </a:pPr>
              <a:t>37</a:t>
            </a:fld>
            <a:endParaRPr lang="en-US"/>
          </a:p>
        </p:txBody>
      </p:sp>
    </p:spTree>
    <p:extLst>
      <p:ext uri="{BB962C8B-B14F-4D97-AF65-F5344CB8AC3E}">
        <p14:creationId xmlns:p14="http://schemas.microsoft.com/office/powerpoint/2010/main" val="21626163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73377859-108A-0C4E-9788-2E92ABA7FBAC}" type="slidenum">
              <a:rPr lang="en-US"/>
              <a:pPr>
                <a:defRPr/>
              </a:pPr>
              <a:t>38</a:t>
            </a:fld>
            <a:endParaRPr lang="en-US"/>
          </a:p>
        </p:txBody>
      </p:sp>
      <p:sp>
        <p:nvSpPr>
          <p:cNvPr id="12290" name="Rectangle 2"/>
          <p:cNvSpPr>
            <a:spLocks noGrp="1" noChangeArrowheads="1"/>
          </p:cNvSpPr>
          <p:nvPr>
            <p:ph type="title"/>
          </p:nvPr>
        </p:nvSpPr>
        <p:spPr>
          <a:xfrm>
            <a:off x="468313" y="188913"/>
            <a:ext cx="8229600" cy="954087"/>
          </a:xfrm>
        </p:spPr>
        <p:txBody>
          <a:bodyPr/>
          <a:lstStyle/>
          <a:p>
            <a:pPr eaLnBrk="1" hangingPunct="1">
              <a:defRPr/>
            </a:pPr>
            <a:r>
              <a:rPr lang="en-GB" sz="2800" dirty="0">
                <a:cs typeface="+mj-cs"/>
              </a:rPr>
              <a:t>Thread</a:t>
            </a:r>
            <a:endParaRPr lang="en-US" sz="2800" dirty="0">
              <a:cs typeface="+mj-cs"/>
            </a:endParaRPr>
          </a:p>
        </p:txBody>
      </p:sp>
      <p:sp>
        <p:nvSpPr>
          <p:cNvPr id="12291" name="Rectangle 3"/>
          <p:cNvSpPr>
            <a:spLocks noGrp="1" noChangeArrowheads="1"/>
          </p:cNvSpPr>
          <p:nvPr>
            <p:ph type="body" idx="1"/>
          </p:nvPr>
        </p:nvSpPr>
        <p:spPr>
          <a:xfrm>
            <a:off x="457200" y="1321404"/>
            <a:ext cx="8229600" cy="4804759"/>
          </a:xfrm>
        </p:spPr>
        <p:txBody>
          <a:bodyPr/>
          <a:lstStyle/>
          <a:p>
            <a:pPr eaLnBrk="1" hangingPunct="1">
              <a:defRPr/>
            </a:pPr>
            <a:r>
              <a:rPr lang="en-AU" dirty="0">
                <a:cs typeface="+mn-cs"/>
              </a:rPr>
              <a:t>A </a:t>
            </a:r>
            <a:r>
              <a:rPr lang="en-AU" i="1" dirty="0">
                <a:cs typeface="+mn-cs"/>
              </a:rPr>
              <a:t>thread</a:t>
            </a:r>
            <a:r>
              <a:rPr lang="en-AU" dirty="0">
                <a:cs typeface="+mn-cs"/>
              </a:rPr>
              <a:t> is  defined as a path of code execution, it is a </a:t>
            </a:r>
            <a:r>
              <a:rPr lang="en-AU" i="1" dirty="0">
                <a:cs typeface="+mn-cs"/>
              </a:rPr>
              <a:t>lightweight process</a:t>
            </a:r>
            <a:r>
              <a:rPr lang="en-AU" dirty="0">
                <a:cs typeface="+mn-cs"/>
              </a:rPr>
              <a:t>.</a:t>
            </a:r>
          </a:p>
          <a:p>
            <a:pPr eaLnBrk="1" hangingPunct="1">
              <a:buFontTx/>
              <a:buNone/>
              <a:defRPr/>
            </a:pPr>
            <a:r>
              <a:rPr lang="en-AU" dirty="0">
                <a:cs typeface="+mn-cs"/>
              </a:rPr>
              <a:t>  </a:t>
            </a:r>
          </a:p>
          <a:p>
            <a:pPr eaLnBrk="1" hangingPunct="1">
              <a:defRPr/>
            </a:pPr>
            <a:r>
              <a:rPr lang="en-AU" dirty="0">
                <a:cs typeface="+mn-cs"/>
              </a:rPr>
              <a:t>Each thread includes</a:t>
            </a:r>
          </a:p>
          <a:p>
            <a:pPr lvl="1" eaLnBrk="1" hangingPunct="1">
              <a:defRPr/>
            </a:pPr>
            <a:r>
              <a:rPr lang="en-AU" dirty="0"/>
              <a:t> a set of instructions, </a:t>
            </a:r>
          </a:p>
          <a:p>
            <a:pPr lvl="1" eaLnBrk="1" hangingPunct="1">
              <a:defRPr/>
            </a:pPr>
            <a:r>
              <a:rPr lang="en-AU" dirty="0"/>
              <a:t>related CPU register values,</a:t>
            </a:r>
          </a:p>
          <a:p>
            <a:pPr lvl="1" eaLnBrk="1" hangingPunct="1">
              <a:defRPr/>
            </a:pPr>
            <a:r>
              <a:rPr lang="en-AU" dirty="0"/>
              <a:t>a stack.  </a:t>
            </a:r>
            <a:endParaRPr lang="en-US" dirty="0"/>
          </a:p>
        </p:txBody>
      </p:sp>
    </p:spTree>
    <p:extLst>
      <p:ext uri="{BB962C8B-B14F-4D97-AF65-F5344CB8AC3E}">
        <p14:creationId xmlns:p14="http://schemas.microsoft.com/office/powerpoint/2010/main" val="24523837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4A34D684-4247-C348-AB7E-3504602A24F8}" type="slidenum">
              <a:rPr lang="en-US"/>
              <a:pPr>
                <a:defRPr/>
              </a:pPr>
              <a:t>39</a:t>
            </a:fld>
            <a:endParaRPr lang="en-US"/>
          </a:p>
        </p:txBody>
      </p:sp>
      <p:sp>
        <p:nvSpPr>
          <p:cNvPr id="13314" name="Rectangle 2"/>
          <p:cNvSpPr>
            <a:spLocks noGrp="1" noChangeArrowheads="1"/>
          </p:cNvSpPr>
          <p:nvPr>
            <p:ph type="title"/>
          </p:nvPr>
        </p:nvSpPr>
        <p:spPr>
          <a:xfrm>
            <a:off x="457200" y="274638"/>
            <a:ext cx="8229600" cy="525462"/>
          </a:xfrm>
        </p:spPr>
        <p:txBody>
          <a:bodyPr/>
          <a:lstStyle/>
          <a:p>
            <a:pPr eaLnBrk="1" hangingPunct="1">
              <a:defRPr/>
            </a:pPr>
            <a:r>
              <a:rPr lang="en-GB" sz="2800">
                <a:cs typeface="+mj-cs"/>
              </a:rPr>
              <a:t>Threads</a:t>
            </a:r>
            <a:endParaRPr lang="en-US" sz="2800">
              <a:cs typeface="+mj-cs"/>
            </a:endParaRPr>
          </a:p>
        </p:txBody>
      </p:sp>
      <p:sp>
        <p:nvSpPr>
          <p:cNvPr id="13315" name="Rectangle 3"/>
          <p:cNvSpPr>
            <a:spLocks noGrp="1" noChangeArrowheads="1"/>
          </p:cNvSpPr>
          <p:nvPr>
            <p:ph type="body" idx="1"/>
          </p:nvPr>
        </p:nvSpPr>
        <p:spPr>
          <a:xfrm>
            <a:off x="468313" y="1125538"/>
            <a:ext cx="8229600" cy="4525962"/>
          </a:xfrm>
        </p:spPr>
        <p:txBody>
          <a:bodyPr/>
          <a:lstStyle/>
          <a:p>
            <a:pPr eaLnBrk="1" hangingPunct="1">
              <a:defRPr/>
            </a:pPr>
            <a:r>
              <a:rPr lang="en-AU" sz="2400">
                <a:cs typeface="+mn-cs"/>
              </a:rPr>
              <a:t>A thread runs in the address space of its process and uses the resources allocated to its process. </a:t>
            </a:r>
          </a:p>
          <a:p>
            <a:pPr eaLnBrk="1" hangingPunct="1">
              <a:defRPr/>
            </a:pPr>
            <a:endParaRPr lang="en-AU" sz="2400">
              <a:cs typeface="+mn-cs"/>
            </a:endParaRPr>
          </a:p>
          <a:p>
            <a:pPr eaLnBrk="1" hangingPunct="1">
              <a:defRPr/>
            </a:pPr>
            <a:r>
              <a:rPr lang="en-AU" sz="2400">
                <a:cs typeface="+mn-cs"/>
              </a:rPr>
              <a:t>The context of a thread consists of only a stack, a register set and a priority. </a:t>
            </a:r>
          </a:p>
          <a:p>
            <a:pPr eaLnBrk="1" hangingPunct="1">
              <a:defRPr/>
            </a:pPr>
            <a:endParaRPr lang="en-AU" sz="2400">
              <a:cs typeface="+mn-cs"/>
            </a:endParaRPr>
          </a:p>
          <a:p>
            <a:pPr eaLnBrk="1" hangingPunct="1">
              <a:defRPr/>
            </a:pPr>
            <a:r>
              <a:rPr lang="en-AU" sz="2400">
                <a:cs typeface="+mn-cs"/>
              </a:rPr>
              <a:t>It does not have an address space. </a:t>
            </a:r>
          </a:p>
          <a:p>
            <a:pPr eaLnBrk="1" hangingPunct="1">
              <a:defRPr/>
            </a:pPr>
            <a:endParaRPr lang="en-AU" sz="2400">
              <a:cs typeface="+mn-cs"/>
            </a:endParaRPr>
          </a:p>
          <a:p>
            <a:pPr eaLnBrk="1" hangingPunct="1">
              <a:defRPr/>
            </a:pPr>
            <a:r>
              <a:rPr lang="en-AU" sz="2400">
                <a:cs typeface="+mn-cs"/>
              </a:rPr>
              <a:t>The text of a thread is contained in the text segment of its process.</a:t>
            </a:r>
            <a:r>
              <a:rPr lang="en-AU" sz="2800">
                <a:cs typeface="+mn-cs"/>
              </a:rPr>
              <a:t> </a:t>
            </a:r>
            <a:endParaRPr lang="en-US" sz="2800">
              <a:cs typeface="+mn-cs"/>
            </a:endParaRPr>
          </a:p>
          <a:p>
            <a:pPr eaLnBrk="1" hangingPunct="1">
              <a:defRPr/>
            </a:pPr>
            <a:endParaRPr lang="en-US" sz="2800">
              <a:cs typeface="+mn-cs"/>
            </a:endParaRPr>
          </a:p>
        </p:txBody>
      </p:sp>
    </p:spTree>
    <p:extLst>
      <p:ext uri="{BB962C8B-B14F-4D97-AF65-F5344CB8AC3E}">
        <p14:creationId xmlns:p14="http://schemas.microsoft.com/office/powerpoint/2010/main" val="586573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17C2EE97-F891-8B42-86A4-D5663080C06D}" type="slidenum">
              <a:rPr lang="en-US"/>
              <a:pPr>
                <a:defRPr/>
              </a:pPr>
              <a:t>40</a:t>
            </a:fld>
            <a:endParaRPr lang="en-US"/>
          </a:p>
        </p:txBody>
      </p:sp>
      <p:sp>
        <p:nvSpPr>
          <p:cNvPr id="14338" name="Rectangle 2"/>
          <p:cNvSpPr>
            <a:spLocks noGrp="1" noChangeArrowheads="1"/>
          </p:cNvSpPr>
          <p:nvPr>
            <p:ph type="title"/>
          </p:nvPr>
        </p:nvSpPr>
        <p:spPr>
          <a:xfrm>
            <a:off x="457200" y="274638"/>
            <a:ext cx="8229600" cy="481012"/>
          </a:xfrm>
        </p:spPr>
        <p:txBody>
          <a:bodyPr/>
          <a:lstStyle/>
          <a:p>
            <a:pPr eaLnBrk="1" hangingPunct="1">
              <a:defRPr/>
            </a:pPr>
            <a:r>
              <a:rPr lang="en-GB" sz="2400">
                <a:cs typeface="+mj-cs"/>
              </a:rPr>
              <a:t>Threads</a:t>
            </a:r>
            <a:endParaRPr lang="en-US" sz="2400">
              <a:cs typeface="+mj-cs"/>
            </a:endParaRPr>
          </a:p>
        </p:txBody>
      </p:sp>
      <p:sp>
        <p:nvSpPr>
          <p:cNvPr id="14339" name="Rectangle 3"/>
          <p:cNvSpPr>
            <a:spLocks noGrp="1" noChangeArrowheads="1"/>
          </p:cNvSpPr>
          <p:nvPr>
            <p:ph type="body" idx="1"/>
          </p:nvPr>
        </p:nvSpPr>
        <p:spPr>
          <a:xfrm>
            <a:off x="468313" y="981075"/>
            <a:ext cx="8229600" cy="5111750"/>
          </a:xfrm>
        </p:spPr>
        <p:txBody>
          <a:bodyPr/>
          <a:lstStyle/>
          <a:p>
            <a:pPr eaLnBrk="1" hangingPunct="1">
              <a:defRPr/>
            </a:pPr>
            <a:r>
              <a:rPr lang="en-US" dirty="0">
                <a:cs typeface="+mn-cs"/>
              </a:rPr>
              <a:t>In Java multiple threads have the following properties:</a:t>
            </a:r>
          </a:p>
          <a:p>
            <a:pPr eaLnBrk="1" hangingPunct="1">
              <a:defRPr/>
            </a:pPr>
            <a:endParaRPr lang="en-US" dirty="0">
              <a:cs typeface="+mn-cs"/>
            </a:endParaRPr>
          </a:p>
          <a:p>
            <a:pPr lvl="1" eaLnBrk="1" hangingPunct="1">
              <a:defRPr/>
            </a:pPr>
            <a:r>
              <a:rPr lang="en-US" dirty="0"/>
              <a:t>Each thread begins at a pre-defined location. For one of the threads that location is main()</a:t>
            </a:r>
          </a:p>
          <a:p>
            <a:pPr lvl="1" eaLnBrk="1" hangingPunct="1">
              <a:defRPr/>
            </a:pPr>
            <a:endParaRPr lang="en-US" dirty="0"/>
          </a:p>
          <a:p>
            <a:pPr lvl="1" eaLnBrk="1" hangingPunct="1">
              <a:defRPr/>
            </a:pPr>
            <a:r>
              <a:rPr lang="en-US" dirty="0"/>
              <a:t>Each thread executes its code independently of any other thread</a:t>
            </a:r>
          </a:p>
          <a:p>
            <a:pPr lvl="1" eaLnBrk="1" hangingPunct="1">
              <a:defRPr/>
            </a:pPr>
            <a:endParaRPr lang="en-US" dirty="0"/>
          </a:p>
          <a:p>
            <a:pPr lvl="1" eaLnBrk="1" hangingPunct="1">
              <a:defRPr/>
            </a:pPr>
            <a:r>
              <a:rPr lang="en-US" dirty="0"/>
              <a:t>Co-operation between threads is possible using pre-defined mechanisms</a:t>
            </a:r>
          </a:p>
        </p:txBody>
      </p:sp>
    </p:spTree>
    <p:extLst>
      <p:ext uri="{BB962C8B-B14F-4D97-AF65-F5344CB8AC3E}">
        <p14:creationId xmlns:p14="http://schemas.microsoft.com/office/powerpoint/2010/main" val="19252523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A6B87E51-069C-DC48-9A8D-F8D0E2F1B294}" type="slidenum">
              <a:rPr lang="en-US"/>
              <a:pPr>
                <a:defRPr/>
              </a:pPr>
              <a:t>41</a:t>
            </a:fld>
            <a:endParaRPr lang="en-US"/>
          </a:p>
        </p:txBody>
      </p:sp>
      <p:sp>
        <p:nvSpPr>
          <p:cNvPr id="15362" name="Rectangle 2"/>
          <p:cNvSpPr>
            <a:spLocks noGrp="1" noChangeArrowheads="1"/>
          </p:cNvSpPr>
          <p:nvPr>
            <p:ph type="title"/>
          </p:nvPr>
        </p:nvSpPr>
        <p:spPr>
          <a:xfrm>
            <a:off x="457200" y="274638"/>
            <a:ext cx="8229600" cy="481012"/>
          </a:xfrm>
        </p:spPr>
        <p:txBody>
          <a:bodyPr/>
          <a:lstStyle/>
          <a:p>
            <a:pPr eaLnBrk="1" hangingPunct="1">
              <a:defRPr/>
            </a:pPr>
            <a:r>
              <a:rPr lang="en-GB" sz="2400">
                <a:cs typeface="+mj-cs"/>
              </a:rPr>
              <a:t>Threads</a:t>
            </a:r>
            <a:endParaRPr lang="en-US" sz="2400">
              <a:cs typeface="+mj-cs"/>
            </a:endParaRPr>
          </a:p>
        </p:txBody>
      </p:sp>
      <p:sp>
        <p:nvSpPr>
          <p:cNvPr id="15363" name="Rectangle 3"/>
          <p:cNvSpPr>
            <a:spLocks noGrp="1" noChangeArrowheads="1"/>
          </p:cNvSpPr>
          <p:nvPr>
            <p:ph type="body" idx="1"/>
          </p:nvPr>
        </p:nvSpPr>
        <p:spPr>
          <a:xfrm>
            <a:off x="468313" y="908050"/>
            <a:ext cx="8229600" cy="5184775"/>
          </a:xfrm>
        </p:spPr>
        <p:txBody>
          <a:bodyPr/>
          <a:lstStyle/>
          <a:p>
            <a:pPr lvl="1" eaLnBrk="1" hangingPunct="1">
              <a:defRPr/>
            </a:pPr>
            <a:r>
              <a:rPr lang="en-US" sz="2400"/>
              <a:t>Threads run concurrently - the order of execution is determined by the scheduler</a:t>
            </a:r>
          </a:p>
          <a:p>
            <a:pPr lvl="1" eaLnBrk="1" hangingPunct="1">
              <a:defRPr/>
            </a:pPr>
            <a:endParaRPr lang="en-AU" sz="2400"/>
          </a:p>
          <a:p>
            <a:pPr lvl="1" eaLnBrk="1" hangingPunct="1">
              <a:defRPr/>
            </a:pPr>
            <a:r>
              <a:rPr lang="en-AU" sz="2400"/>
              <a:t>Each thread has its own local variables that are private - if they happen to execute the same method then each thread gets a separate copy of the local variables of that method;</a:t>
            </a:r>
          </a:p>
          <a:p>
            <a:pPr lvl="1" eaLnBrk="1" hangingPunct="1">
              <a:defRPr/>
            </a:pPr>
            <a:endParaRPr lang="en-AU" sz="2400"/>
          </a:p>
          <a:p>
            <a:pPr lvl="1" eaLnBrk="1" hangingPunct="1">
              <a:defRPr/>
            </a:pPr>
            <a:r>
              <a:rPr lang="en-AU" sz="2400"/>
              <a:t>Objects and their instance variables can be shared between threads - static variables are automatically shared between all threads in a process.</a:t>
            </a:r>
            <a:endParaRPr lang="en-US" sz="2400"/>
          </a:p>
          <a:p>
            <a:pPr eaLnBrk="1" hangingPunct="1">
              <a:defRPr/>
            </a:pPr>
            <a:endParaRPr lang="en-US" sz="2800">
              <a:cs typeface="+mn-cs"/>
            </a:endParaRPr>
          </a:p>
        </p:txBody>
      </p:sp>
    </p:spTree>
    <p:extLst>
      <p:ext uri="{BB962C8B-B14F-4D97-AF65-F5344CB8AC3E}">
        <p14:creationId xmlns:p14="http://schemas.microsoft.com/office/powerpoint/2010/main" val="15027689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54389F1D-C55D-F24E-8694-8A6190BD6EE9}" type="slidenum">
              <a:rPr lang="en-US"/>
              <a:pPr>
                <a:defRPr/>
              </a:pPr>
              <a:t>42</a:t>
            </a:fld>
            <a:endParaRPr lang="en-US"/>
          </a:p>
        </p:txBody>
      </p:sp>
      <p:sp>
        <p:nvSpPr>
          <p:cNvPr id="16386"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16387" name="Rectangle 3"/>
          <p:cNvSpPr>
            <a:spLocks noGrp="1" noChangeArrowheads="1"/>
          </p:cNvSpPr>
          <p:nvPr>
            <p:ph type="body" idx="1"/>
          </p:nvPr>
        </p:nvSpPr>
        <p:spPr>
          <a:xfrm>
            <a:off x="457200" y="908050"/>
            <a:ext cx="8229600" cy="5218113"/>
          </a:xfrm>
        </p:spPr>
        <p:txBody>
          <a:bodyPr/>
          <a:lstStyle/>
          <a:p>
            <a:pPr eaLnBrk="1" hangingPunct="1">
              <a:defRPr/>
            </a:pPr>
            <a:r>
              <a:rPr lang="en-GB">
                <a:cs typeface="+mn-cs"/>
              </a:rPr>
              <a:t>Two ways to create a thread:</a:t>
            </a:r>
          </a:p>
          <a:p>
            <a:pPr eaLnBrk="1" hangingPunct="1">
              <a:buFontTx/>
              <a:buNone/>
              <a:defRPr/>
            </a:pPr>
            <a:endParaRPr lang="en-GB">
              <a:cs typeface="+mn-cs"/>
            </a:endParaRPr>
          </a:p>
          <a:p>
            <a:pPr lvl="1" eaLnBrk="1" hangingPunct="1">
              <a:defRPr/>
            </a:pPr>
            <a:r>
              <a:rPr lang="en-GB"/>
              <a:t>Implement the </a:t>
            </a:r>
            <a:r>
              <a:rPr lang="en-GB">
                <a:latin typeface="Comic Sans MS" charset="0"/>
              </a:rPr>
              <a:t>Runnable</a:t>
            </a:r>
            <a:r>
              <a:rPr lang="en-GB"/>
              <a:t> interface</a:t>
            </a:r>
          </a:p>
          <a:p>
            <a:pPr lvl="1" eaLnBrk="1" hangingPunct="1">
              <a:defRPr/>
            </a:pPr>
            <a:r>
              <a:rPr lang="en-GB">
                <a:latin typeface="Comic Sans MS" charset="0"/>
              </a:rPr>
              <a:t>extend</a:t>
            </a:r>
            <a:r>
              <a:rPr lang="en-GB"/>
              <a:t> the Thread class</a:t>
            </a:r>
          </a:p>
          <a:p>
            <a:pPr eaLnBrk="1" hangingPunct="1">
              <a:defRPr/>
            </a:pPr>
            <a:endParaRPr lang="en-GB">
              <a:cs typeface="+mn-cs"/>
            </a:endParaRPr>
          </a:p>
          <a:p>
            <a:pPr eaLnBrk="1" hangingPunct="1">
              <a:defRPr/>
            </a:pPr>
            <a:r>
              <a:rPr lang="en-GB">
                <a:cs typeface="+mn-cs"/>
              </a:rPr>
              <a:t>Both use the method:</a:t>
            </a:r>
          </a:p>
          <a:p>
            <a:pPr eaLnBrk="1" hangingPunct="1">
              <a:buFontTx/>
              <a:buNone/>
              <a:defRPr/>
            </a:pPr>
            <a:endParaRPr lang="en-GB">
              <a:cs typeface="+mn-cs"/>
            </a:endParaRPr>
          </a:p>
          <a:p>
            <a:pPr lvl="1" eaLnBrk="1" hangingPunct="1">
              <a:defRPr/>
            </a:pPr>
            <a:r>
              <a:rPr lang="en-GB">
                <a:latin typeface="Comic Sans MS" charset="0"/>
              </a:rPr>
              <a:t>public void run(){..}</a:t>
            </a:r>
            <a:endParaRPr lang="en-US">
              <a:latin typeface="Comic Sans MS" charset="0"/>
            </a:endParaRPr>
          </a:p>
        </p:txBody>
      </p:sp>
    </p:spTree>
    <p:extLst>
      <p:ext uri="{BB962C8B-B14F-4D97-AF65-F5344CB8AC3E}">
        <p14:creationId xmlns:p14="http://schemas.microsoft.com/office/powerpoint/2010/main" val="29624090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latin typeface="Comic Sans MS"/>
                <a:cs typeface="Comic Sans MS"/>
              </a:rPr>
              <a:t>class &lt;</a:t>
            </a:r>
            <a:r>
              <a:rPr lang="en-US" dirty="0" err="1">
                <a:latin typeface="Comic Sans MS"/>
                <a:cs typeface="Comic Sans MS"/>
              </a:rPr>
              <a:t>TName</a:t>
            </a:r>
            <a:r>
              <a:rPr lang="en-US" dirty="0">
                <a:latin typeface="Comic Sans MS"/>
                <a:cs typeface="Comic Sans MS"/>
              </a:rPr>
              <a:t>&gt; extends Thread{</a:t>
            </a:r>
          </a:p>
          <a:p>
            <a:pPr marL="0" indent="0">
              <a:buNone/>
            </a:pPr>
            <a:r>
              <a:rPr lang="en-US" dirty="0">
                <a:latin typeface="Comic Sans MS"/>
                <a:cs typeface="Comic Sans MS"/>
              </a:rPr>
              <a:t>	// local variables declared here</a:t>
            </a:r>
          </a:p>
          <a:p>
            <a:pPr marL="0" indent="0">
              <a:buNone/>
            </a:pPr>
            <a:r>
              <a:rPr lang="en-US" dirty="0">
                <a:latin typeface="Comic Sans MS"/>
                <a:cs typeface="Comic Sans MS"/>
              </a:rPr>
              <a:t>	public &lt;</a:t>
            </a:r>
            <a:r>
              <a:rPr lang="en-US" dirty="0" err="1">
                <a:latin typeface="Comic Sans MS"/>
                <a:cs typeface="Comic Sans MS"/>
              </a:rPr>
              <a:t>TName</a:t>
            </a:r>
            <a:r>
              <a:rPr lang="en-US" dirty="0">
                <a:latin typeface="Comic Sans MS"/>
                <a:cs typeface="Comic Sans MS"/>
              </a:rPr>
              <a:t>&gt;(</a:t>
            </a:r>
            <a:r>
              <a:rPr lang="en-US" dirty="0" err="1">
                <a:latin typeface="Comic Sans MS"/>
                <a:cs typeface="Comic Sans MS"/>
              </a:rPr>
              <a:t>param</a:t>
            </a:r>
            <a:r>
              <a:rPr lang="en-US" dirty="0">
                <a:latin typeface="Comic Sans MS"/>
                <a:cs typeface="Comic Sans MS"/>
              </a:rPr>
              <a:t> list){</a:t>
            </a:r>
          </a:p>
          <a:p>
            <a:pPr marL="0" indent="0">
              <a:buNone/>
            </a:pPr>
            <a:r>
              <a:rPr lang="en-US" dirty="0">
                <a:latin typeface="Comic Sans MS"/>
                <a:cs typeface="Comic Sans MS"/>
              </a:rPr>
              <a:t>		//initialization code here</a:t>
            </a:r>
          </a:p>
          <a:p>
            <a:pPr marL="0" indent="0">
              <a:buNone/>
            </a:pPr>
            <a:r>
              <a:rPr lang="en-US" dirty="0">
                <a:latin typeface="Comic Sans MS"/>
                <a:cs typeface="Comic Sans MS"/>
              </a:rPr>
              <a:t>	}</a:t>
            </a:r>
          </a:p>
          <a:p>
            <a:pPr marL="0" indent="0">
              <a:buNone/>
            </a:pPr>
            <a:r>
              <a:rPr lang="en-US" dirty="0">
                <a:latin typeface="Comic Sans MS"/>
                <a:cs typeface="Comic Sans MS"/>
              </a:rPr>
              <a:t>	public void run(){</a:t>
            </a:r>
          </a:p>
          <a:p>
            <a:pPr marL="0" indent="0">
              <a:buNone/>
            </a:pPr>
            <a:r>
              <a:rPr lang="en-US" dirty="0">
                <a:latin typeface="Comic Sans MS"/>
                <a:cs typeface="Comic Sans MS"/>
              </a:rPr>
              <a:t>		//code for thread here</a:t>
            </a:r>
          </a:p>
          <a:p>
            <a:pPr marL="0" indent="0">
              <a:buNone/>
            </a:pPr>
            <a:r>
              <a:rPr lang="en-US" dirty="0">
                <a:latin typeface="Comic Sans MS"/>
                <a:cs typeface="Comic Sans MS"/>
              </a:rPr>
              <a:t>	}</a:t>
            </a:r>
          </a:p>
          <a:p>
            <a:pPr marL="0" indent="0">
              <a:buNone/>
            </a:pPr>
            <a:r>
              <a:rPr lang="en-US" dirty="0">
                <a:latin typeface="Comic Sans MS"/>
                <a:cs typeface="Comic Sans MS"/>
              </a:rPr>
              <a:t>}</a:t>
            </a:r>
          </a:p>
          <a:p>
            <a:pPr marL="0" indent="0">
              <a:buNone/>
            </a:pPr>
            <a:endParaRPr lang="en-US" dirty="0"/>
          </a:p>
        </p:txBody>
      </p:sp>
      <p:sp>
        <p:nvSpPr>
          <p:cNvPr id="6" name="Slide Number Placeholder 5">
            <a:extLst>
              <a:ext uri="{FF2B5EF4-FFF2-40B4-BE49-F238E27FC236}">
                <a16:creationId xmlns:a16="http://schemas.microsoft.com/office/drawing/2014/main" id="{7FC3EA0E-A53D-42BB-AD46-F9B280A77C3D}"/>
              </a:ext>
            </a:extLst>
          </p:cNvPr>
          <p:cNvSpPr>
            <a:spLocks noGrp="1"/>
          </p:cNvSpPr>
          <p:nvPr>
            <p:ph type="sldNum" sz="quarter" idx="12"/>
          </p:nvPr>
        </p:nvSpPr>
        <p:spPr/>
        <p:txBody>
          <a:bodyPr/>
          <a:lstStyle/>
          <a:p>
            <a:fld id="{26944F6C-7B8C-1F48-9BFD-FC1F35051F46}" type="slidenum">
              <a:rPr lang="en-US" smtClean="0"/>
              <a:pPr/>
              <a:t>43</a:t>
            </a:fld>
            <a:endParaRPr lang="en-US"/>
          </a:p>
        </p:txBody>
      </p:sp>
    </p:spTree>
    <p:extLst>
      <p:ext uri="{BB962C8B-B14F-4D97-AF65-F5344CB8AC3E}">
        <p14:creationId xmlns:p14="http://schemas.microsoft.com/office/powerpoint/2010/main" val="3087319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buNone/>
            </a:pPr>
            <a:r>
              <a:rPr lang="en-US" dirty="0">
                <a:latin typeface="Comic Sans MS"/>
                <a:cs typeface="Comic Sans MS"/>
              </a:rPr>
              <a:t>class </a:t>
            </a:r>
            <a:r>
              <a:rPr lang="en-US" dirty="0" err="1">
                <a:latin typeface="Comic Sans MS"/>
                <a:cs typeface="Comic Sans MS"/>
              </a:rPr>
              <a:t>MessagePrinter</a:t>
            </a:r>
            <a:r>
              <a:rPr lang="en-US" dirty="0">
                <a:latin typeface="Comic Sans MS"/>
                <a:cs typeface="Comic Sans MS"/>
              </a:rPr>
              <a:t> extends Thread{</a:t>
            </a:r>
          </a:p>
          <a:p>
            <a:pPr marL="0" indent="0">
              <a:buNone/>
            </a:pPr>
            <a:r>
              <a:rPr lang="en-US" dirty="0">
                <a:latin typeface="Comic Sans MS"/>
                <a:cs typeface="Comic Sans MS"/>
              </a:rPr>
              <a:t>    private String message; </a:t>
            </a:r>
          </a:p>
          <a:p>
            <a:pPr marL="0" indent="0">
              <a:buNone/>
            </a:pPr>
            <a:r>
              <a:rPr lang="en-US" dirty="0">
                <a:latin typeface="Comic Sans MS"/>
                <a:cs typeface="Comic Sans MS"/>
              </a:rPr>
              <a:t>    private </a:t>
            </a:r>
            <a:r>
              <a:rPr lang="en-US" dirty="0" err="1">
                <a:latin typeface="Comic Sans MS"/>
                <a:cs typeface="Comic Sans MS"/>
              </a:rPr>
              <a:t>int</a:t>
            </a:r>
            <a:r>
              <a:rPr lang="en-US" dirty="0">
                <a:latin typeface="Comic Sans MS"/>
                <a:cs typeface="Comic Sans MS"/>
              </a:rPr>
              <a:t> n;</a:t>
            </a:r>
          </a:p>
          <a:p>
            <a:pPr marL="0" indent="0">
              <a:buNone/>
            </a:pPr>
            <a:r>
              <a:rPr lang="en-US" dirty="0">
                <a:latin typeface="Comic Sans MS"/>
                <a:cs typeface="Comic Sans MS"/>
              </a:rPr>
              <a:t>    </a:t>
            </a:r>
            <a:r>
              <a:rPr lang="en-US" dirty="0" err="1">
                <a:latin typeface="Comic Sans MS"/>
                <a:cs typeface="Comic Sans MS"/>
              </a:rPr>
              <a:t>MessagePrinter</a:t>
            </a:r>
            <a:r>
              <a:rPr lang="en-US" dirty="0">
                <a:latin typeface="Comic Sans MS"/>
                <a:cs typeface="Comic Sans MS"/>
              </a:rPr>
              <a:t>(String m, </a:t>
            </a:r>
            <a:r>
              <a:rPr lang="en-US" dirty="0" err="1">
                <a:latin typeface="Comic Sans MS"/>
                <a:cs typeface="Comic Sans MS"/>
              </a:rPr>
              <a:t>int</a:t>
            </a:r>
            <a:r>
              <a:rPr lang="en-US" dirty="0">
                <a:latin typeface="Comic Sans MS"/>
                <a:cs typeface="Comic Sans MS"/>
              </a:rPr>
              <a:t> p){</a:t>
            </a:r>
          </a:p>
          <a:p>
            <a:pPr marL="0" indent="0">
              <a:buNone/>
            </a:pPr>
            <a:r>
              <a:rPr lang="en-US" dirty="0">
                <a:latin typeface="Comic Sans MS"/>
                <a:cs typeface="Comic Sans MS"/>
              </a:rPr>
              <a:t>        message = m; n = p;</a:t>
            </a:r>
          </a:p>
          <a:p>
            <a:pPr marL="0" indent="0">
              <a:buNone/>
            </a:pPr>
            <a:r>
              <a:rPr lang="en-US" dirty="0">
                <a:latin typeface="Comic Sans MS"/>
                <a:cs typeface="Comic Sans MS"/>
              </a:rPr>
              <a:t>    }</a:t>
            </a:r>
          </a:p>
          <a:p>
            <a:pPr marL="0" indent="0">
              <a:buNone/>
            </a:pPr>
            <a:r>
              <a:rPr lang="en-US" dirty="0">
                <a:latin typeface="Comic Sans MS"/>
                <a:cs typeface="Comic Sans MS"/>
              </a:rPr>
              <a:t>    public void run() {</a:t>
            </a:r>
          </a:p>
          <a:p>
            <a:pPr marL="0" indent="0">
              <a:buNone/>
            </a:pPr>
            <a:r>
              <a:rPr lang="en-US" dirty="0">
                <a:latin typeface="Comic Sans MS"/>
                <a:cs typeface="Comic Sans MS"/>
              </a:rPr>
              <a:t>		for(</a:t>
            </a:r>
            <a:r>
              <a:rPr lang="en-US" dirty="0" err="1">
                <a:latin typeface="Comic Sans MS"/>
                <a:cs typeface="Comic Sans MS"/>
              </a:rPr>
              <a:t>int</a:t>
            </a:r>
            <a:r>
              <a:rPr lang="en-US" dirty="0">
                <a:latin typeface="Comic Sans MS"/>
                <a:cs typeface="Comic Sans MS"/>
              </a:rPr>
              <a:t> k = 0; k &lt; n; k++) </a:t>
            </a:r>
          </a:p>
          <a:p>
            <a:pPr marL="0" indent="0">
              <a:buNone/>
            </a:pPr>
            <a:r>
              <a:rPr lang="en-US" dirty="0">
                <a:latin typeface="Comic Sans MS"/>
                <a:cs typeface="Comic Sans MS"/>
              </a:rPr>
              <a:t>            </a:t>
            </a:r>
            <a:r>
              <a:rPr lang="en-US" dirty="0" err="1">
                <a:latin typeface="Comic Sans MS"/>
                <a:cs typeface="Comic Sans MS"/>
              </a:rPr>
              <a:t>System.out.println</a:t>
            </a:r>
            <a:r>
              <a:rPr lang="en-US" dirty="0">
                <a:latin typeface="Comic Sans MS"/>
                <a:cs typeface="Comic Sans MS"/>
              </a:rPr>
              <a:t>(message);</a:t>
            </a:r>
          </a:p>
          <a:p>
            <a:pPr marL="0" indent="0">
              <a:buNone/>
            </a:pPr>
            <a:r>
              <a:rPr lang="en-US" dirty="0">
                <a:latin typeface="Comic Sans MS"/>
                <a:cs typeface="Comic Sans MS"/>
              </a:rPr>
              <a:t>     }</a:t>
            </a:r>
          </a:p>
          <a:p>
            <a:pPr marL="0" indent="0">
              <a:buNone/>
            </a:pPr>
            <a:r>
              <a:rPr lang="en-US" dirty="0">
                <a:latin typeface="Comic Sans MS"/>
                <a:cs typeface="Comic Sans MS"/>
              </a:rPr>
              <a:t>  }</a:t>
            </a:r>
          </a:p>
          <a:p>
            <a:pPr marL="0" indent="0">
              <a:buNone/>
            </a:pPr>
            <a:endParaRPr lang="en-US" dirty="0"/>
          </a:p>
        </p:txBody>
      </p:sp>
      <p:sp>
        <p:nvSpPr>
          <p:cNvPr id="6" name="Slide Number Placeholder 5">
            <a:extLst>
              <a:ext uri="{FF2B5EF4-FFF2-40B4-BE49-F238E27FC236}">
                <a16:creationId xmlns:a16="http://schemas.microsoft.com/office/drawing/2014/main" id="{4F36A75F-D896-4FD1-BA9C-C2D2F4112985}"/>
              </a:ext>
            </a:extLst>
          </p:cNvPr>
          <p:cNvSpPr>
            <a:spLocks noGrp="1"/>
          </p:cNvSpPr>
          <p:nvPr>
            <p:ph type="sldNum" sz="quarter" idx="12"/>
          </p:nvPr>
        </p:nvSpPr>
        <p:spPr/>
        <p:txBody>
          <a:bodyPr/>
          <a:lstStyle/>
          <a:p>
            <a:fld id="{26944F6C-7B8C-1F48-9BFD-FC1F35051F46}" type="slidenum">
              <a:rPr lang="en-US" smtClean="0"/>
              <a:pPr/>
              <a:t>44</a:t>
            </a:fld>
            <a:endParaRPr lang="en-US"/>
          </a:p>
        </p:txBody>
      </p:sp>
    </p:spTree>
    <p:extLst>
      <p:ext uri="{BB962C8B-B14F-4D97-AF65-F5344CB8AC3E}">
        <p14:creationId xmlns:p14="http://schemas.microsoft.com/office/powerpoint/2010/main" val="11660569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pPr marL="0" indent="0">
              <a:buNone/>
            </a:pPr>
            <a:endParaRPr lang="en-US" dirty="0">
              <a:latin typeface="Comic Sans MS"/>
              <a:cs typeface="Comic Sans MS"/>
            </a:endParaRPr>
          </a:p>
          <a:p>
            <a:pPr marL="0" indent="0">
              <a:buNone/>
            </a:pPr>
            <a:endParaRPr lang="en-US" dirty="0">
              <a:latin typeface="Comic Sans MS"/>
              <a:cs typeface="Comic Sans MS"/>
            </a:endParaRPr>
          </a:p>
          <a:p>
            <a:pPr marL="0" indent="0">
              <a:buNone/>
            </a:pPr>
            <a:endParaRPr lang="en-US" dirty="0">
              <a:latin typeface="Comic Sans MS"/>
              <a:cs typeface="Comic Sans MS"/>
            </a:endParaRPr>
          </a:p>
          <a:p>
            <a:pPr marL="0" indent="0">
              <a:buNone/>
            </a:pPr>
            <a:r>
              <a:rPr lang="en-US" dirty="0">
                <a:latin typeface="Comic Sans MS"/>
                <a:cs typeface="Comic Sans MS"/>
              </a:rPr>
              <a:t>public static void main(String[] </a:t>
            </a:r>
            <a:r>
              <a:rPr lang="en-US" dirty="0" err="1">
                <a:latin typeface="Comic Sans MS"/>
                <a:cs typeface="Comic Sans MS"/>
              </a:rPr>
              <a:t>args</a:t>
            </a:r>
            <a:r>
              <a:rPr lang="en-US" dirty="0">
                <a:latin typeface="Comic Sans MS"/>
                <a:cs typeface="Comic Sans MS"/>
              </a:rPr>
              <a:t>) {</a:t>
            </a:r>
          </a:p>
          <a:p>
            <a:pPr marL="0" indent="0">
              <a:buNone/>
            </a:pPr>
            <a:r>
              <a:rPr lang="en-US" dirty="0">
                <a:latin typeface="Comic Sans MS"/>
                <a:cs typeface="Comic Sans MS"/>
              </a:rPr>
              <a:t>     Thread p =  new </a:t>
            </a:r>
            <a:r>
              <a:rPr lang="en-US" dirty="0" err="1">
                <a:latin typeface="Comic Sans MS"/>
                <a:cs typeface="Comic Sans MS"/>
              </a:rPr>
              <a:t>MessagePrinter</a:t>
            </a:r>
            <a:r>
              <a:rPr lang="en-US" dirty="0">
                <a:latin typeface="Comic Sans MS"/>
                <a:cs typeface="Comic Sans MS"/>
              </a:rPr>
              <a:t>("Happy days</a:t>
            </a:r>
          </a:p>
          <a:p>
            <a:pPr marL="0" indent="0">
              <a:buNone/>
            </a:pPr>
            <a:r>
              <a:rPr lang="en-US" dirty="0">
                <a:latin typeface="Comic Sans MS"/>
                <a:cs typeface="Comic Sans MS"/>
              </a:rPr>
              <a:t>                                           are here again", 10);</a:t>
            </a:r>
          </a:p>
          <a:p>
            <a:pPr marL="0" indent="0">
              <a:buNone/>
            </a:pPr>
            <a:r>
              <a:rPr lang="en-US" dirty="0">
                <a:latin typeface="Comic Sans MS"/>
                <a:cs typeface="Comic Sans MS"/>
              </a:rPr>
              <a:t>      </a:t>
            </a:r>
            <a:r>
              <a:rPr lang="en-US" dirty="0" err="1">
                <a:latin typeface="Comic Sans MS"/>
                <a:cs typeface="Comic Sans MS"/>
              </a:rPr>
              <a:t>p.start</a:t>
            </a:r>
            <a:r>
              <a:rPr lang="en-US" dirty="0">
                <a:latin typeface="Comic Sans MS"/>
                <a:cs typeface="Comic Sans MS"/>
              </a:rPr>
              <a:t>();     </a:t>
            </a:r>
          </a:p>
          <a:p>
            <a:pPr marL="0" indent="0">
              <a:buNone/>
            </a:pPr>
            <a:r>
              <a:rPr lang="en-US" dirty="0">
                <a:latin typeface="Comic Sans MS"/>
                <a:cs typeface="Comic Sans MS"/>
              </a:rPr>
              <a:t>}</a:t>
            </a:r>
          </a:p>
          <a:p>
            <a:endParaRPr lang="en-US" dirty="0"/>
          </a:p>
        </p:txBody>
      </p:sp>
      <p:sp>
        <p:nvSpPr>
          <p:cNvPr id="6" name="Slide Number Placeholder 5">
            <a:extLst>
              <a:ext uri="{FF2B5EF4-FFF2-40B4-BE49-F238E27FC236}">
                <a16:creationId xmlns:a16="http://schemas.microsoft.com/office/drawing/2014/main" id="{E5BD7F2C-9A33-4C49-AA63-80F33FF931E6}"/>
              </a:ext>
            </a:extLst>
          </p:cNvPr>
          <p:cNvSpPr>
            <a:spLocks noGrp="1"/>
          </p:cNvSpPr>
          <p:nvPr>
            <p:ph type="sldNum" sz="quarter" idx="12"/>
          </p:nvPr>
        </p:nvSpPr>
        <p:spPr/>
        <p:txBody>
          <a:bodyPr/>
          <a:lstStyle/>
          <a:p>
            <a:fld id="{26944F6C-7B8C-1F48-9BFD-FC1F35051F46}" type="slidenum">
              <a:rPr lang="en-US" smtClean="0"/>
              <a:pPr/>
              <a:t>45</a:t>
            </a:fld>
            <a:endParaRPr lang="en-US"/>
          </a:p>
        </p:txBody>
      </p:sp>
    </p:spTree>
    <p:extLst>
      <p:ext uri="{BB962C8B-B14F-4D97-AF65-F5344CB8AC3E}">
        <p14:creationId xmlns:p14="http://schemas.microsoft.com/office/powerpoint/2010/main" val="12664695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BF7A118A-1296-1946-83B6-109D3C60B76E}" type="slidenum">
              <a:rPr lang="en-US"/>
              <a:pPr>
                <a:defRPr/>
              </a:pPr>
              <a:t>46</a:t>
            </a:fld>
            <a:endParaRPr lang="en-US"/>
          </a:p>
        </p:txBody>
      </p:sp>
      <p:sp>
        <p:nvSpPr>
          <p:cNvPr id="17410"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17411" name="Rectangle 3"/>
          <p:cNvSpPr>
            <a:spLocks noGrp="1" noChangeArrowheads="1"/>
          </p:cNvSpPr>
          <p:nvPr>
            <p:ph type="body" idx="1"/>
          </p:nvPr>
        </p:nvSpPr>
        <p:spPr>
          <a:xfrm>
            <a:off x="468313" y="981075"/>
            <a:ext cx="8229600" cy="5184775"/>
          </a:xfrm>
        </p:spPr>
        <p:txBody>
          <a:bodyPr/>
          <a:lstStyle/>
          <a:p>
            <a:pPr eaLnBrk="1" hangingPunct="1">
              <a:lnSpc>
                <a:spcPct val="80000"/>
              </a:lnSpc>
              <a:buFontTx/>
              <a:buNone/>
              <a:defRPr/>
            </a:pPr>
            <a:r>
              <a:rPr lang="en-US" sz="2400" dirty="0">
                <a:latin typeface="Comic Sans MS" charset="0"/>
                <a:cs typeface="+mn-cs"/>
              </a:rPr>
              <a:t>class </a:t>
            </a:r>
            <a:r>
              <a:rPr lang="en-US" sz="2400" dirty="0" err="1">
                <a:latin typeface="Comic Sans MS" charset="0"/>
                <a:cs typeface="+mn-cs"/>
              </a:rPr>
              <a:t>MessagePrinter</a:t>
            </a:r>
            <a:r>
              <a:rPr lang="en-US" sz="2400" dirty="0">
                <a:latin typeface="Comic Sans MS" charset="0"/>
                <a:cs typeface="+mn-cs"/>
              </a:rPr>
              <a:t> implements Runnable {</a:t>
            </a:r>
          </a:p>
          <a:p>
            <a:pPr eaLnBrk="1" hangingPunct="1">
              <a:lnSpc>
                <a:spcPct val="80000"/>
              </a:lnSpc>
              <a:buFontTx/>
              <a:buNone/>
              <a:defRPr/>
            </a:pPr>
            <a:r>
              <a:rPr lang="en-US" sz="2400" dirty="0">
                <a:latin typeface="Comic Sans MS" charset="0"/>
                <a:cs typeface="+mn-cs"/>
              </a:rPr>
              <a:t>    private String message; </a:t>
            </a:r>
          </a:p>
          <a:p>
            <a:pPr eaLnBrk="1" hangingPunct="1">
              <a:lnSpc>
                <a:spcPct val="80000"/>
              </a:lnSpc>
              <a:buFontTx/>
              <a:buNone/>
              <a:defRPr/>
            </a:pPr>
            <a:r>
              <a:rPr lang="en-US" sz="2400" dirty="0">
                <a:latin typeface="Comic Sans MS" charset="0"/>
                <a:cs typeface="+mn-cs"/>
              </a:rPr>
              <a:t>    </a:t>
            </a:r>
            <a:r>
              <a:rPr lang="en-US" sz="2400" dirty="0" err="1">
                <a:latin typeface="Comic Sans MS" charset="0"/>
                <a:cs typeface="+mn-cs"/>
              </a:rPr>
              <a:t>int</a:t>
            </a:r>
            <a:r>
              <a:rPr lang="en-US" sz="2400" dirty="0">
                <a:latin typeface="Comic Sans MS" charset="0"/>
                <a:cs typeface="+mn-cs"/>
              </a:rPr>
              <a:t> n;</a:t>
            </a:r>
          </a:p>
          <a:p>
            <a:pPr eaLnBrk="1" hangingPunct="1">
              <a:lnSpc>
                <a:spcPct val="80000"/>
              </a:lnSpc>
              <a:buFontTx/>
              <a:buNone/>
              <a:defRPr/>
            </a:pPr>
            <a:r>
              <a:rPr lang="en-US" sz="2400" dirty="0">
                <a:latin typeface="Comic Sans MS" charset="0"/>
                <a:cs typeface="+mn-cs"/>
              </a:rPr>
              <a:t>    </a:t>
            </a:r>
            <a:r>
              <a:rPr lang="en-US" sz="2400" dirty="0" err="1">
                <a:latin typeface="Comic Sans MS" charset="0"/>
                <a:cs typeface="+mn-cs"/>
              </a:rPr>
              <a:t>MessagePrinter</a:t>
            </a:r>
            <a:r>
              <a:rPr lang="en-US" sz="2400" dirty="0">
                <a:latin typeface="Comic Sans MS" charset="0"/>
                <a:cs typeface="+mn-cs"/>
              </a:rPr>
              <a:t>(String m, </a:t>
            </a:r>
            <a:r>
              <a:rPr lang="en-US" sz="2400" dirty="0" err="1">
                <a:latin typeface="Comic Sans MS" charset="0"/>
                <a:cs typeface="+mn-cs"/>
              </a:rPr>
              <a:t>int</a:t>
            </a:r>
            <a:r>
              <a:rPr lang="en-US" sz="2400" dirty="0">
                <a:latin typeface="Comic Sans MS" charset="0"/>
                <a:cs typeface="+mn-cs"/>
              </a:rPr>
              <a:t> p){</a:t>
            </a:r>
          </a:p>
          <a:p>
            <a:pPr eaLnBrk="1" hangingPunct="1">
              <a:lnSpc>
                <a:spcPct val="80000"/>
              </a:lnSpc>
              <a:buFontTx/>
              <a:buNone/>
              <a:defRPr/>
            </a:pPr>
            <a:r>
              <a:rPr lang="en-US" sz="2400" dirty="0">
                <a:latin typeface="Comic Sans MS" charset="0"/>
                <a:cs typeface="+mn-cs"/>
              </a:rPr>
              <a:t>        message = m; n = p;</a:t>
            </a:r>
          </a:p>
          <a:p>
            <a:pPr eaLnBrk="1" hangingPunct="1">
              <a:lnSpc>
                <a:spcPct val="80000"/>
              </a:lnSpc>
              <a:buFontTx/>
              <a:buNone/>
              <a:defRPr/>
            </a:pPr>
            <a:r>
              <a:rPr lang="en-US" sz="2400" dirty="0">
                <a:latin typeface="Comic Sans MS" charset="0"/>
                <a:cs typeface="+mn-cs"/>
              </a:rPr>
              <a:t>    } </a:t>
            </a:r>
          </a:p>
          <a:p>
            <a:pPr eaLnBrk="1" hangingPunct="1">
              <a:lnSpc>
                <a:spcPct val="80000"/>
              </a:lnSpc>
              <a:buFontTx/>
              <a:buNone/>
              <a:defRPr/>
            </a:pPr>
            <a:r>
              <a:rPr lang="en-US" sz="2400" dirty="0">
                <a:latin typeface="Comic Sans MS" charset="0"/>
                <a:cs typeface="+mn-cs"/>
              </a:rPr>
              <a:t>    public void run() {</a:t>
            </a:r>
          </a:p>
          <a:p>
            <a:pPr eaLnBrk="1" hangingPunct="1">
              <a:lnSpc>
                <a:spcPct val="80000"/>
              </a:lnSpc>
              <a:buFontTx/>
              <a:buNone/>
              <a:defRPr/>
            </a:pPr>
            <a:r>
              <a:rPr lang="en-US" sz="2400" dirty="0">
                <a:latin typeface="Comic Sans MS" charset="0"/>
                <a:cs typeface="+mn-cs"/>
              </a:rPr>
              <a:t>        </a:t>
            </a:r>
            <a:r>
              <a:rPr lang="en-US" sz="2400" dirty="0" err="1">
                <a:latin typeface="Comic Sans MS" charset="0"/>
                <a:cs typeface="+mn-cs"/>
              </a:rPr>
              <a:t>int</a:t>
            </a:r>
            <a:r>
              <a:rPr lang="en-US" sz="2400" dirty="0">
                <a:latin typeface="Comic Sans MS" charset="0"/>
                <a:cs typeface="+mn-cs"/>
              </a:rPr>
              <a:t> k = 0;</a:t>
            </a:r>
          </a:p>
          <a:p>
            <a:pPr eaLnBrk="1" hangingPunct="1">
              <a:lnSpc>
                <a:spcPct val="80000"/>
              </a:lnSpc>
              <a:buFontTx/>
              <a:buNone/>
              <a:defRPr/>
            </a:pPr>
            <a:r>
              <a:rPr lang="en-US" sz="2400" dirty="0">
                <a:latin typeface="Comic Sans MS" charset="0"/>
                <a:cs typeface="+mn-cs"/>
              </a:rPr>
              <a:t>        while (k &lt; n) {</a:t>
            </a:r>
          </a:p>
          <a:p>
            <a:pPr eaLnBrk="1" hangingPunct="1">
              <a:lnSpc>
                <a:spcPct val="80000"/>
              </a:lnSpc>
              <a:buFontTx/>
              <a:buNone/>
              <a:defRPr/>
            </a:pPr>
            <a:r>
              <a:rPr lang="en-US" sz="2400" dirty="0">
                <a:latin typeface="Comic Sans MS" charset="0"/>
                <a:cs typeface="+mn-cs"/>
              </a:rPr>
              <a:t>            </a:t>
            </a:r>
            <a:r>
              <a:rPr lang="en-US" sz="2400" dirty="0" err="1">
                <a:latin typeface="Comic Sans MS" charset="0"/>
                <a:cs typeface="+mn-cs"/>
              </a:rPr>
              <a:t>System.out.println</a:t>
            </a:r>
            <a:r>
              <a:rPr lang="en-US" sz="2400" dirty="0">
                <a:latin typeface="Comic Sans MS" charset="0"/>
                <a:cs typeface="+mn-cs"/>
              </a:rPr>
              <a:t>(message);</a:t>
            </a:r>
          </a:p>
          <a:p>
            <a:pPr eaLnBrk="1" hangingPunct="1">
              <a:lnSpc>
                <a:spcPct val="80000"/>
              </a:lnSpc>
              <a:buFontTx/>
              <a:buNone/>
              <a:defRPr/>
            </a:pPr>
            <a:r>
              <a:rPr lang="en-US" sz="2400" dirty="0">
                <a:latin typeface="Comic Sans MS" charset="0"/>
                <a:cs typeface="+mn-cs"/>
              </a:rPr>
              <a:t>            k++</a:t>
            </a:r>
          </a:p>
          <a:p>
            <a:pPr eaLnBrk="1" hangingPunct="1">
              <a:lnSpc>
                <a:spcPct val="80000"/>
              </a:lnSpc>
              <a:buFontTx/>
              <a:buNone/>
              <a:defRPr/>
            </a:pPr>
            <a:r>
              <a:rPr lang="en-US" sz="2400" dirty="0">
                <a:latin typeface="Comic Sans MS" charset="0"/>
                <a:cs typeface="+mn-cs"/>
              </a:rPr>
              <a:t>        }</a:t>
            </a:r>
          </a:p>
          <a:p>
            <a:pPr eaLnBrk="1" hangingPunct="1">
              <a:lnSpc>
                <a:spcPct val="80000"/>
              </a:lnSpc>
              <a:buFontTx/>
              <a:buNone/>
              <a:defRPr/>
            </a:pPr>
            <a:r>
              <a:rPr lang="en-US" sz="2400" dirty="0">
                <a:latin typeface="Comic Sans MS" charset="0"/>
              </a:rPr>
              <a:t>  </a:t>
            </a:r>
            <a:r>
              <a:rPr lang="en-US" sz="2400" dirty="0">
                <a:latin typeface="Comic Sans MS" charset="0"/>
                <a:cs typeface="+mn-cs"/>
              </a:rPr>
              <a:t>}}</a:t>
            </a:r>
          </a:p>
        </p:txBody>
      </p:sp>
    </p:spTree>
    <p:extLst>
      <p:ext uri="{BB962C8B-B14F-4D97-AF65-F5344CB8AC3E}">
        <p14:creationId xmlns:p14="http://schemas.microsoft.com/office/powerpoint/2010/main" val="34565268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59A347F5-4EFC-6847-869D-EB6E30B97DBD}" type="slidenum">
              <a:rPr lang="en-US"/>
              <a:pPr>
                <a:defRPr/>
              </a:pPr>
              <a:t>47</a:t>
            </a:fld>
            <a:endParaRPr lang="en-US"/>
          </a:p>
        </p:txBody>
      </p:sp>
      <p:sp>
        <p:nvSpPr>
          <p:cNvPr id="18434"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18435" name="Rectangle 3"/>
          <p:cNvSpPr>
            <a:spLocks noGrp="1" noChangeArrowheads="1"/>
          </p:cNvSpPr>
          <p:nvPr>
            <p:ph type="body" idx="1"/>
          </p:nvPr>
        </p:nvSpPr>
        <p:spPr>
          <a:xfrm>
            <a:off x="468313" y="981075"/>
            <a:ext cx="8229600" cy="5111750"/>
          </a:xfrm>
        </p:spPr>
        <p:txBody>
          <a:bodyPr/>
          <a:lstStyle/>
          <a:p>
            <a:pPr eaLnBrk="1" hangingPunct="1">
              <a:buFontTx/>
              <a:buNone/>
              <a:defRPr/>
            </a:pPr>
            <a:r>
              <a:rPr lang="en-AU" sz="2400" dirty="0">
                <a:latin typeface="Comic Sans MS"/>
                <a:cs typeface="Comic Sans MS"/>
              </a:rPr>
              <a:t>class </a:t>
            </a:r>
            <a:r>
              <a:rPr lang="en-AU" sz="2400" dirty="0" err="1">
                <a:latin typeface="Comic Sans MS"/>
                <a:cs typeface="Comic Sans MS"/>
              </a:rPr>
              <a:t>MessagePrinterTest</a:t>
            </a:r>
            <a:r>
              <a:rPr lang="en-AU" sz="2400" dirty="0">
                <a:latin typeface="Comic Sans MS"/>
                <a:cs typeface="Comic Sans MS"/>
              </a:rPr>
              <a:t>{</a:t>
            </a:r>
          </a:p>
          <a:p>
            <a:pPr eaLnBrk="1" hangingPunct="1">
              <a:buFontTx/>
              <a:buNone/>
              <a:defRPr/>
            </a:pPr>
            <a:r>
              <a:rPr lang="en-AU" sz="2400" dirty="0">
                <a:latin typeface="Comic Sans MS"/>
                <a:cs typeface="Comic Sans MS"/>
              </a:rPr>
              <a:t>    public static void main(String[] </a:t>
            </a:r>
            <a:r>
              <a:rPr lang="en-AU" sz="2400" dirty="0" err="1">
                <a:latin typeface="Comic Sans MS"/>
                <a:cs typeface="Comic Sans MS"/>
              </a:rPr>
              <a:t>args</a:t>
            </a:r>
            <a:r>
              <a:rPr lang="en-AU" sz="2400" dirty="0">
                <a:latin typeface="Comic Sans MS"/>
                <a:cs typeface="Comic Sans MS"/>
              </a:rPr>
              <a:t>) {</a:t>
            </a:r>
          </a:p>
          <a:p>
            <a:pPr eaLnBrk="1" hangingPunct="1">
              <a:buFontTx/>
              <a:buNone/>
              <a:defRPr/>
            </a:pPr>
            <a:r>
              <a:rPr lang="en-AU" sz="2400" dirty="0">
                <a:latin typeface="Comic Sans MS"/>
                <a:cs typeface="Comic Sans MS"/>
              </a:rPr>
              <a:t>        Runnable p =  new </a:t>
            </a:r>
            <a:r>
              <a:rPr lang="en-AU" sz="2400" dirty="0" err="1">
                <a:latin typeface="Comic Sans MS"/>
                <a:cs typeface="Comic Sans MS"/>
              </a:rPr>
              <a:t>MessagePrinter</a:t>
            </a:r>
            <a:r>
              <a:rPr lang="en-AU" sz="2400" dirty="0">
                <a:latin typeface="Comic Sans MS"/>
                <a:cs typeface="Comic Sans MS"/>
              </a:rPr>
              <a:t>(”Happy days </a:t>
            </a:r>
          </a:p>
          <a:p>
            <a:pPr eaLnBrk="1" hangingPunct="1">
              <a:buFontTx/>
              <a:buNone/>
              <a:defRPr/>
            </a:pPr>
            <a:r>
              <a:rPr lang="en-AU" sz="2400" dirty="0">
                <a:latin typeface="Comic Sans MS"/>
                <a:cs typeface="Comic Sans MS"/>
              </a:rPr>
              <a:t>                                                       are here again", 10);</a:t>
            </a:r>
          </a:p>
          <a:p>
            <a:pPr eaLnBrk="1" hangingPunct="1">
              <a:buFontTx/>
              <a:buNone/>
              <a:defRPr/>
            </a:pPr>
            <a:r>
              <a:rPr lang="en-AU" sz="2400" dirty="0">
                <a:latin typeface="Comic Sans MS"/>
                <a:cs typeface="Comic Sans MS"/>
              </a:rPr>
              <a:t>        Thread t = new Thread(p).</a:t>
            </a:r>
          </a:p>
          <a:p>
            <a:pPr eaLnBrk="1" hangingPunct="1">
              <a:buFontTx/>
              <a:buNone/>
              <a:defRPr/>
            </a:pPr>
            <a:r>
              <a:rPr lang="en-AU" sz="2400" dirty="0">
                <a:latin typeface="Comic Sans MS"/>
                <a:cs typeface="Comic Sans MS"/>
              </a:rPr>
              <a:t>        </a:t>
            </a:r>
            <a:r>
              <a:rPr lang="en-AU" sz="2400" dirty="0" err="1">
                <a:latin typeface="Comic Sans MS"/>
                <a:cs typeface="Comic Sans MS"/>
              </a:rPr>
              <a:t>t.start</a:t>
            </a:r>
            <a:r>
              <a:rPr lang="en-AU" sz="2400" dirty="0">
                <a:latin typeface="Comic Sans MS"/>
                <a:cs typeface="Comic Sans MS"/>
              </a:rPr>
              <a:t>();</a:t>
            </a:r>
          </a:p>
          <a:p>
            <a:pPr eaLnBrk="1" hangingPunct="1">
              <a:buFontTx/>
              <a:buNone/>
              <a:defRPr/>
            </a:pPr>
            <a:r>
              <a:rPr lang="en-AU" sz="2400" dirty="0">
                <a:latin typeface="Comic Sans MS"/>
                <a:cs typeface="Comic Sans MS"/>
              </a:rPr>
              <a:t>    }</a:t>
            </a:r>
          </a:p>
          <a:p>
            <a:pPr eaLnBrk="1" hangingPunct="1">
              <a:buFontTx/>
              <a:buNone/>
              <a:defRPr/>
            </a:pPr>
            <a:r>
              <a:rPr lang="en-AU" sz="2400" dirty="0">
                <a:latin typeface="Comic Sans MS"/>
                <a:cs typeface="Comic Sans MS"/>
              </a:rPr>
              <a:t>}</a:t>
            </a:r>
          </a:p>
          <a:p>
            <a:pPr eaLnBrk="1" hangingPunct="1">
              <a:buFontTx/>
              <a:buNone/>
              <a:defRPr/>
            </a:pPr>
            <a:endParaRPr lang="en-AU" sz="2400" dirty="0">
              <a:latin typeface="Comic Sans MS"/>
              <a:cs typeface="Comic Sans MS"/>
            </a:endParaRPr>
          </a:p>
          <a:p>
            <a:pPr eaLnBrk="1" hangingPunct="1">
              <a:buFontTx/>
              <a:buNone/>
              <a:defRPr/>
            </a:pPr>
            <a:endParaRPr lang="en-US" sz="2400" dirty="0">
              <a:latin typeface="Comic Sans MS"/>
              <a:cs typeface="Comic Sans MS"/>
            </a:endParaRPr>
          </a:p>
        </p:txBody>
      </p:sp>
    </p:spTree>
    <p:extLst>
      <p:ext uri="{BB962C8B-B14F-4D97-AF65-F5344CB8AC3E}">
        <p14:creationId xmlns:p14="http://schemas.microsoft.com/office/powerpoint/2010/main" val="12629660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endParaRPr lang="en-US" dirty="0"/>
          </a:p>
          <a:p>
            <a:r>
              <a:rPr lang="en-US" dirty="0"/>
              <a:t>Could use this as an alternative:</a:t>
            </a:r>
          </a:p>
          <a:p>
            <a:pPr marL="0" indent="0">
              <a:buNone/>
            </a:pPr>
            <a:endParaRPr lang="en-US" dirty="0"/>
          </a:p>
          <a:p>
            <a:pPr marL="0" indent="0">
              <a:buNone/>
            </a:pPr>
            <a:r>
              <a:rPr lang="en-US" dirty="0">
                <a:latin typeface="Comic Sans MS"/>
                <a:cs typeface="Comic Sans MS"/>
              </a:rPr>
              <a:t>new Thread(new </a:t>
            </a:r>
            <a:r>
              <a:rPr lang="en-US" dirty="0" err="1">
                <a:latin typeface="Comic Sans MS"/>
                <a:cs typeface="Comic Sans MS"/>
              </a:rPr>
              <a:t>MessagePrinter</a:t>
            </a:r>
            <a:r>
              <a:rPr lang="en-US" dirty="0">
                <a:latin typeface="Comic Sans MS"/>
                <a:cs typeface="Comic Sans MS"/>
              </a:rPr>
              <a:t>("Happy days</a:t>
            </a:r>
          </a:p>
          <a:p>
            <a:pPr marL="0" indent="0">
              <a:buNone/>
            </a:pPr>
            <a:r>
              <a:rPr lang="en-US" dirty="0">
                <a:latin typeface="Comic Sans MS"/>
                <a:cs typeface="Comic Sans MS"/>
              </a:rPr>
              <a:t>                               are here again", 10)).start();</a:t>
            </a:r>
          </a:p>
          <a:p>
            <a:endParaRPr lang="en-US" dirty="0"/>
          </a:p>
        </p:txBody>
      </p:sp>
      <p:sp>
        <p:nvSpPr>
          <p:cNvPr id="6" name="Slide Number Placeholder 5">
            <a:extLst>
              <a:ext uri="{FF2B5EF4-FFF2-40B4-BE49-F238E27FC236}">
                <a16:creationId xmlns:a16="http://schemas.microsoft.com/office/drawing/2014/main" id="{0DE868A0-B8B3-4C2A-90B7-56F7AC3D426D}"/>
              </a:ext>
            </a:extLst>
          </p:cNvPr>
          <p:cNvSpPr>
            <a:spLocks noGrp="1"/>
          </p:cNvSpPr>
          <p:nvPr>
            <p:ph type="sldNum" sz="quarter" idx="12"/>
          </p:nvPr>
        </p:nvSpPr>
        <p:spPr/>
        <p:txBody>
          <a:bodyPr/>
          <a:lstStyle/>
          <a:p>
            <a:fld id="{26944F6C-7B8C-1F48-9BFD-FC1F35051F46}" type="slidenum">
              <a:rPr lang="en-US" smtClean="0"/>
              <a:pPr/>
              <a:t>48</a:t>
            </a:fld>
            <a:endParaRPr lang="en-US"/>
          </a:p>
        </p:txBody>
      </p:sp>
    </p:spTree>
    <p:extLst>
      <p:ext uri="{BB962C8B-B14F-4D97-AF65-F5344CB8AC3E}">
        <p14:creationId xmlns:p14="http://schemas.microsoft.com/office/powerpoint/2010/main" val="12639052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Thread Methods</a:t>
            </a:r>
          </a:p>
        </p:txBody>
      </p:sp>
      <p:sp>
        <p:nvSpPr>
          <p:cNvPr id="3" name="Content Placeholder 2"/>
          <p:cNvSpPr>
            <a:spLocks noGrp="1"/>
          </p:cNvSpPr>
          <p:nvPr>
            <p:ph idx="1"/>
          </p:nvPr>
        </p:nvSpPr>
        <p:spPr/>
        <p:txBody>
          <a:bodyPr/>
          <a:lstStyle/>
          <a:p>
            <a:r>
              <a:rPr lang="en-US" dirty="0"/>
              <a:t>Putting a thread to sleep</a:t>
            </a:r>
          </a:p>
          <a:p>
            <a:r>
              <a:rPr lang="en-US" dirty="0"/>
              <a:t>Waiting for threads to finish</a:t>
            </a:r>
          </a:p>
          <a:p>
            <a:r>
              <a:rPr lang="en-US" dirty="0"/>
              <a:t>Naming threads</a:t>
            </a:r>
          </a:p>
          <a:p>
            <a:r>
              <a:rPr lang="en-US" dirty="0"/>
              <a:t>Thread identity</a:t>
            </a:r>
          </a:p>
          <a:p>
            <a:r>
              <a:rPr lang="en-US" dirty="0"/>
              <a:t>Current thread</a:t>
            </a:r>
          </a:p>
          <a:p>
            <a:r>
              <a:rPr lang="en-US" dirty="0"/>
              <a:t>Voluntarily giving up the processor</a:t>
            </a:r>
          </a:p>
          <a:p>
            <a:r>
              <a:rPr lang="en-US" dirty="0"/>
              <a:t>Thread states</a:t>
            </a:r>
          </a:p>
          <a:p>
            <a:r>
              <a:rPr lang="en-US" dirty="0"/>
              <a:t>Thread priority and scheduling</a:t>
            </a:r>
          </a:p>
          <a:p>
            <a:r>
              <a:rPr lang="en-US" dirty="0"/>
              <a:t>Daemon threads</a:t>
            </a:r>
          </a:p>
          <a:p>
            <a:r>
              <a:rPr lang="en-US" dirty="0"/>
              <a:t>Stopping threads</a:t>
            </a:r>
          </a:p>
        </p:txBody>
      </p:sp>
      <p:sp>
        <p:nvSpPr>
          <p:cNvPr id="6" name="Slide Number Placeholder 5">
            <a:extLst>
              <a:ext uri="{FF2B5EF4-FFF2-40B4-BE49-F238E27FC236}">
                <a16:creationId xmlns:a16="http://schemas.microsoft.com/office/drawing/2014/main" id="{1ED0291E-8D74-4C01-986B-893FED7AD219}"/>
              </a:ext>
            </a:extLst>
          </p:cNvPr>
          <p:cNvSpPr>
            <a:spLocks noGrp="1"/>
          </p:cNvSpPr>
          <p:nvPr>
            <p:ph type="sldNum" sz="quarter" idx="12"/>
          </p:nvPr>
        </p:nvSpPr>
        <p:spPr/>
        <p:txBody>
          <a:bodyPr/>
          <a:lstStyle/>
          <a:p>
            <a:fld id="{26944F6C-7B8C-1F48-9BFD-FC1F35051F46}" type="slidenum">
              <a:rPr lang="en-US" smtClean="0"/>
              <a:pPr/>
              <a:t>49</a:t>
            </a:fld>
            <a:endParaRPr lang="en-US"/>
          </a:p>
        </p:txBody>
      </p:sp>
    </p:spTree>
    <p:extLst>
      <p:ext uri="{BB962C8B-B14F-4D97-AF65-F5344CB8AC3E}">
        <p14:creationId xmlns:p14="http://schemas.microsoft.com/office/powerpoint/2010/main" val="1555413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sleep()</a:t>
            </a:r>
          </a:p>
        </p:txBody>
      </p:sp>
      <p:sp>
        <p:nvSpPr>
          <p:cNvPr id="3" name="Content Placeholder 2"/>
          <p:cNvSpPr>
            <a:spLocks noGrp="1"/>
          </p:cNvSpPr>
          <p:nvPr>
            <p:ph idx="1"/>
          </p:nvPr>
        </p:nvSpPr>
        <p:spPr/>
        <p:txBody>
          <a:bodyPr/>
          <a:lstStyle/>
          <a:p>
            <a:pPr>
              <a:buNone/>
            </a:pPr>
            <a:endParaRPr lang="en-US" dirty="0">
              <a:latin typeface="Comic Sans MS" pitchFamily="66" charset="0"/>
            </a:endParaRPr>
          </a:p>
          <a:p>
            <a:pPr>
              <a:buNone/>
            </a:pPr>
            <a:r>
              <a:rPr lang="en-US" dirty="0">
                <a:latin typeface="Comic Sans MS" pitchFamily="66" charset="0"/>
              </a:rPr>
              <a:t>try{</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this.sleep</a:t>
            </a:r>
            <a:r>
              <a:rPr lang="en-US" dirty="0">
                <a:latin typeface="Comic Sans MS" pitchFamily="66" charset="0"/>
              </a:rPr>
              <a:t>(&lt;period&gt;);</a:t>
            </a:r>
            <a:endParaRPr lang="en-IE" dirty="0">
              <a:latin typeface="Comic Sans MS" pitchFamily="66" charset="0"/>
            </a:endParaRPr>
          </a:p>
          <a:p>
            <a:pPr>
              <a:buNone/>
            </a:pPr>
            <a:r>
              <a:rPr lang="en-US" dirty="0">
                <a:latin typeface="Comic Sans MS" pitchFamily="66" charset="0"/>
              </a:rPr>
              <a:t>}catch(</a:t>
            </a:r>
            <a:r>
              <a:rPr lang="en-US" dirty="0" err="1">
                <a:latin typeface="Comic Sans MS" pitchFamily="66" charset="0"/>
              </a:rPr>
              <a:t>InterruptedException</a:t>
            </a:r>
            <a:r>
              <a:rPr lang="en-US" dirty="0">
                <a:latin typeface="Comic Sans MS" pitchFamily="66" charset="0"/>
              </a:rPr>
              <a:t> </a:t>
            </a:r>
            <a:r>
              <a:rPr lang="en-US" dirty="0"/>
              <a:t>e){..}</a:t>
            </a:r>
            <a:endParaRPr lang="en-IE" dirty="0"/>
          </a:p>
          <a:p>
            <a:pPr>
              <a:buNone/>
            </a:pPr>
            <a:endParaRPr lang="en-IE" dirty="0"/>
          </a:p>
          <a:p>
            <a:r>
              <a:rPr lang="en-IE" dirty="0"/>
              <a:t>Time period usually measured in milliseconds</a:t>
            </a:r>
          </a:p>
          <a:p>
            <a:r>
              <a:rPr lang="en-IE" dirty="0"/>
              <a:t>1000 milliseconds = 1sec</a:t>
            </a:r>
          </a:p>
        </p:txBody>
      </p:sp>
      <p:sp>
        <p:nvSpPr>
          <p:cNvPr id="6" name="Slide Number Placeholder 5">
            <a:extLst>
              <a:ext uri="{FF2B5EF4-FFF2-40B4-BE49-F238E27FC236}">
                <a16:creationId xmlns:a16="http://schemas.microsoft.com/office/drawing/2014/main" id="{0E0DCBB0-1DD5-4680-8DBD-6B3C801A9CE0}"/>
              </a:ext>
            </a:extLst>
          </p:cNvPr>
          <p:cNvSpPr>
            <a:spLocks noGrp="1"/>
          </p:cNvSpPr>
          <p:nvPr>
            <p:ph type="sldNum" sz="quarter" idx="12"/>
          </p:nvPr>
        </p:nvSpPr>
        <p:spPr/>
        <p:txBody>
          <a:bodyPr/>
          <a:lstStyle/>
          <a:p>
            <a:fld id="{26944F6C-7B8C-1F48-9BFD-FC1F35051F46}" type="slidenum">
              <a:rPr lang="en-US" smtClean="0"/>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err="1"/>
              <a:t>MessagePrinter</a:t>
            </a:r>
            <a:r>
              <a:rPr lang="en-IE" dirty="0"/>
              <a:t> Thread</a:t>
            </a:r>
          </a:p>
        </p:txBody>
      </p:sp>
      <p:sp>
        <p:nvSpPr>
          <p:cNvPr id="3" name="Content Placeholder 2"/>
          <p:cNvSpPr>
            <a:spLocks noGrp="1"/>
          </p:cNvSpPr>
          <p:nvPr>
            <p:ph idx="1"/>
          </p:nvPr>
        </p:nvSpPr>
        <p:spPr/>
        <p:txBody>
          <a:bodyPr/>
          <a:lstStyle/>
          <a:p>
            <a:pPr>
              <a:buNone/>
            </a:pPr>
            <a:r>
              <a:rPr lang="en-US" dirty="0">
                <a:latin typeface="Comic Sans MS" pitchFamily="66" charset="0"/>
              </a:rPr>
              <a:t>public void run() {</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int</a:t>
            </a:r>
            <a:r>
              <a:rPr lang="en-US" dirty="0">
                <a:latin typeface="Comic Sans MS" pitchFamily="66" charset="0"/>
              </a:rPr>
              <a:t> k = 0;</a:t>
            </a:r>
            <a:endParaRPr lang="en-IE" dirty="0">
              <a:latin typeface="Comic Sans MS" pitchFamily="66" charset="0"/>
            </a:endParaRPr>
          </a:p>
          <a:p>
            <a:pPr>
              <a:buNone/>
            </a:pPr>
            <a:r>
              <a:rPr lang="en-US" dirty="0">
                <a:latin typeface="Comic Sans MS" pitchFamily="66" charset="0"/>
              </a:rPr>
              <a:t>        while (k &lt; n) {</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System.out.println</a:t>
            </a:r>
            <a:r>
              <a:rPr lang="en-US" dirty="0">
                <a:latin typeface="Comic Sans MS" pitchFamily="66" charset="0"/>
              </a:rPr>
              <a:t>(message);</a:t>
            </a:r>
            <a:endParaRPr lang="en-IE" dirty="0">
              <a:latin typeface="Comic Sans MS" pitchFamily="66" charset="0"/>
            </a:endParaRPr>
          </a:p>
          <a:p>
            <a:pPr>
              <a:buNone/>
            </a:pPr>
            <a:r>
              <a:rPr lang="en-US" dirty="0">
                <a:latin typeface="Comic Sans MS" pitchFamily="66" charset="0"/>
              </a:rPr>
              <a:t>  			     try{</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Thread.sleep</a:t>
            </a:r>
            <a:r>
              <a:rPr lang="en-US" dirty="0">
                <a:latin typeface="Comic Sans MS" pitchFamily="66" charset="0"/>
              </a:rPr>
              <a:t>(100);</a:t>
            </a:r>
            <a:endParaRPr lang="en-IE" dirty="0">
              <a:latin typeface="Comic Sans MS" pitchFamily="66" charset="0"/>
            </a:endParaRPr>
          </a:p>
          <a:p>
            <a:pPr>
              <a:buNone/>
            </a:pPr>
            <a:r>
              <a:rPr lang="en-US" dirty="0">
                <a:latin typeface="Comic Sans MS" pitchFamily="66" charset="0"/>
              </a:rPr>
              <a:t>  			      }catch(</a:t>
            </a:r>
            <a:r>
              <a:rPr lang="en-US" dirty="0" err="1">
                <a:latin typeface="Comic Sans MS" pitchFamily="66" charset="0"/>
              </a:rPr>
              <a:t>InterruptedException</a:t>
            </a:r>
            <a:r>
              <a:rPr lang="en-US" dirty="0">
                <a:latin typeface="Comic Sans MS" pitchFamily="66" charset="0"/>
              </a:rPr>
              <a:t> e){..}</a:t>
            </a:r>
            <a:endParaRPr lang="en-IE" dirty="0">
              <a:latin typeface="Comic Sans MS" pitchFamily="66" charset="0"/>
            </a:endParaRPr>
          </a:p>
          <a:p>
            <a:pPr>
              <a:buNone/>
            </a:pPr>
            <a:r>
              <a:rPr lang="en-US" dirty="0">
                <a:latin typeface="Comic Sans MS" pitchFamily="66" charset="0"/>
              </a:rPr>
              <a:t>              k++;</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endParaRPr lang="en-IE" dirty="0"/>
          </a:p>
        </p:txBody>
      </p:sp>
      <p:sp>
        <p:nvSpPr>
          <p:cNvPr id="6" name="Slide Number Placeholder 5">
            <a:extLst>
              <a:ext uri="{FF2B5EF4-FFF2-40B4-BE49-F238E27FC236}">
                <a16:creationId xmlns:a16="http://schemas.microsoft.com/office/drawing/2014/main" id="{F993DD76-E593-4F86-B121-5EEE2BA60A27}"/>
              </a:ext>
            </a:extLst>
          </p:cNvPr>
          <p:cNvSpPr>
            <a:spLocks noGrp="1"/>
          </p:cNvSpPr>
          <p:nvPr>
            <p:ph type="sldNum" sz="quarter" idx="12"/>
          </p:nvPr>
        </p:nvSpPr>
        <p:spPr/>
        <p:txBody>
          <a:bodyPr/>
          <a:lstStyle/>
          <a:p>
            <a:fld id="{26944F6C-7B8C-1F48-9BFD-FC1F35051F46}"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lnSpcReduction="10000"/>
          </a:bodyPr>
          <a:lstStyle/>
          <a:p>
            <a:pPr>
              <a:buNone/>
            </a:pPr>
            <a:r>
              <a:rPr lang="en-US" dirty="0"/>
              <a:t>class </a:t>
            </a:r>
            <a:r>
              <a:rPr lang="en-US" dirty="0" err="1"/>
              <a:t>countDown</a:t>
            </a:r>
            <a:r>
              <a:rPr lang="en-US" dirty="0"/>
              <a:t> extends Thread{</a:t>
            </a:r>
            <a:endParaRPr lang="en-IE" dirty="0"/>
          </a:p>
          <a:p>
            <a:pPr>
              <a:buNone/>
            </a:pPr>
            <a:r>
              <a:rPr lang="en-US" dirty="0"/>
              <a:t>     private </a:t>
            </a:r>
            <a:r>
              <a:rPr lang="en-US" dirty="0" err="1"/>
              <a:t>int</a:t>
            </a:r>
            <a:r>
              <a:rPr lang="en-US" dirty="0"/>
              <a:t> n;</a:t>
            </a:r>
            <a:r>
              <a:rPr lang="en-IE" dirty="0"/>
              <a:t> </a:t>
            </a:r>
            <a:r>
              <a:rPr lang="en-US" dirty="0"/>
              <a:t>private </a:t>
            </a:r>
            <a:r>
              <a:rPr lang="en-US" dirty="0" err="1"/>
              <a:t>int</a:t>
            </a:r>
            <a:r>
              <a:rPr lang="en-US" dirty="0"/>
              <a:t> pause; // in milliseconds</a:t>
            </a:r>
            <a:endParaRPr lang="en-IE" dirty="0"/>
          </a:p>
          <a:p>
            <a:pPr>
              <a:buNone/>
            </a:pPr>
            <a:r>
              <a:rPr lang="en-US" dirty="0"/>
              <a:t>     public </a:t>
            </a:r>
            <a:r>
              <a:rPr lang="en-US" dirty="0" err="1"/>
              <a:t>countDown</a:t>
            </a:r>
            <a:r>
              <a:rPr lang="en-US" dirty="0"/>
              <a:t>(</a:t>
            </a:r>
            <a:r>
              <a:rPr lang="en-US" dirty="0" err="1"/>
              <a:t>int</a:t>
            </a:r>
            <a:r>
              <a:rPr lang="en-US" dirty="0"/>
              <a:t> p, </a:t>
            </a:r>
            <a:r>
              <a:rPr lang="en-US" dirty="0" err="1"/>
              <a:t>int</a:t>
            </a:r>
            <a:r>
              <a:rPr lang="en-US" dirty="0"/>
              <a:t> t){</a:t>
            </a:r>
            <a:endParaRPr lang="en-IE" dirty="0"/>
          </a:p>
          <a:p>
            <a:pPr>
              <a:buNone/>
            </a:pPr>
            <a:r>
              <a:rPr lang="en-US" dirty="0"/>
              <a:t>        n = p; pause = t;</a:t>
            </a:r>
            <a:endParaRPr lang="en-IE" dirty="0"/>
          </a:p>
          <a:p>
            <a:pPr>
              <a:buNone/>
            </a:pPr>
            <a:r>
              <a:rPr lang="en-US" dirty="0"/>
              <a:t>     }</a:t>
            </a:r>
            <a:endParaRPr lang="en-IE" dirty="0"/>
          </a:p>
          <a:p>
            <a:pPr>
              <a:buNone/>
            </a:pPr>
            <a:r>
              <a:rPr lang="en-US" dirty="0"/>
              <a:t>     public void run() {</a:t>
            </a:r>
            <a:endParaRPr lang="en-IE" dirty="0"/>
          </a:p>
          <a:p>
            <a:pPr>
              <a:buNone/>
            </a:pPr>
            <a:r>
              <a:rPr lang="en-US" dirty="0"/>
              <a:t>        for (</a:t>
            </a:r>
            <a:r>
              <a:rPr lang="en-US" dirty="0" err="1"/>
              <a:t>int</a:t>
            </a:r>
            <a:r>
              <a:rPr lang="en-US" dirty="0"/>
              <a:t> j = n; j &gt; 0; j = j - 1){</a:t>
            </a:r>
            <a:endParaRPr lang="en-IE" dirty="0"/>
          </a:p>
          <a:p>
            <a:pPr>
              <a:buNone/>
            </a:pPr>
            <a:r>
              <a:rPr lang="en-US" dirty="0"/>
              <a:t>        	</a:t>
            </a:r>
            <a:r>
              <a:rPr lang="en-US" dirty="0" err="1"/>
              <a:t>System.out.print</a:t>
            </a:r>
            <a:r>
              <a:rPr lang="en-US" dirty="0"/>
              <a:t>(j+” “);</a:t>
            </a:r>
            <a:endParaRPr lang="en-IE" dirty="0"/>
          </a:p>
          <a:p>
            <a:pPr>
              <a:buNone/>
            </a:pPr>
            <a:r>
              <a:rPr lang="en-US" dirty="0"/>
              <a:t>            try {</a:t>
            </a:r>
            <a:endParaRPr lang="en-IE" dirty="0"/>
          </a:p>
          <a:p>
            <a:pPr>
              <a:buNone/>
            </a:pPr>
            <a:r>
              <a:rPr lang="en-US" dirty="0"/>
              <a:t>                </a:t>
            </a:r>
            <a:r>
              <a:rPr lang="en-US" dirty="0" err="1"/>
              <a:t>Thread.sleep</a:t>
            </a:r>
            <a:r>
              <a:rPr lang="en-US" dirty="0"/>
              <a:t>(pause);</a:t>
            </a:r>
            <a:endParaRPr lang="en-IE" dirty="0"/>
          </a:p>
          <a:p>
            <a:pPr>
              <a:buNone/>
            </a:pPr>
            <a:r>
              <a:rPr lang="en-US" dirty="0"/>
              <a:t>            } catch(</a:t>
            </a:r>
            <a:r>
              <a:rPr lang="en-US" dirty="0" err="1"/>
              <a:t>InterruptedException</a:t>
            </a:r>
            <a:r>
              <a:rPr lang="en-US" dirty="0"/>
              <a:t> e) { }}}}</a:t>
            </a:r>
            <a:endParaRPr lang="en-IE" dirty="0"/>
          </a:p>
          <a:p>
            <a:pPr>
              <a:buNone/>
            </a:pPr>
            <a:endParaRPr lang="en-IE" dirty="0"/>
          </a:p>
        </p:txBody>
      </p:sp>
      <p:sp>
        <p:nvSpPr>
          <p:cNvPr id="6" name="Slide Number Placeholder 5">
            <a:extLst>
              <a:ext uri="{FF2B5EF4-FFF2-40B4-BE49-F238E27FC236}">
                <a16:creationId xmlns:a16="http://schemas.microsoft.com/office/drawing/2014/main" id="{F59123D0-F7E6-4574-A74E-DB6D6892329B}"/>
              </a:ext>
            </a:extLst>
          </p:cNvPr>
          <p:cNvSpPr>
            <a:spLocks noGrp="1"/>
          </p:cNvSpPr>
          <p:nvPr>
            <p:ph type="sldNum" sz="quarter" idx="12"/>
          </p:nvPr>
        </p:nvSpPr>
        <p:spPr/>
        <p:txBody>
          <a:bodyPr/>
          <a:lstStyle/>
          <a:p>
            <a:fld id="{26944F6C-7B8C-1F48-9BFD-FC1F35051F46}"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lnSpcReduction="10000"/>
          </a:bodyPr>
          <a:lstStyle/>
          <a:p>
            <a:pPr>
              <a:buNone/>
            </a:pPr>
            <a:r>
              <a:rPr lang="en-US" dirty="0"/>
              <a:t>class </a:t>
            </a:r>
            <a:r>
              <a:rPr lang="en-US" dirty="0" err="1"/>
              <a:t>countUp</a:t>
            </a:r>
            <a:r>
              <a:rPr lang="en-US" dirty="0"/>
              <a:t> extends Thread{</a:t>
            </a:r>
            <a:endParaRPr lang="en-IE" dirty="0"/>
          </a:p>
          <a:p>
            <a:pPr>
              <a:buNone/>
            </a:pPr>
            <a:r>
              <a:rPr lang="en-US" dirty="0"/>
              <a:t>    private </a:t>
            </a:r>
            <a:r>
              <a:rPr lang="en-US" dirty="0" err="1"/>
              <a:t>int</a:t>
            </a:r>
            <a:r>
              <a:rPr lang="en-US" dirty="0"/>
              <a:t> </a:t>
            </a:r>
            <a:r>
              <a:rPr lang="en-US" dirty="0" err="1"/>
              <a:t>n;private</a:t>
            </a:r>
            <a:r>
              <a:rPr lang="en-US" dirty="0"/>
              <a:t> </a:t>
            </a:r>
            <a:r>
              <a:rPr lang="en-US" dirty="0" err="1"/>
              <a:t>int</a:t>
            </a:r>
            <a:r>
              <a:rPr lang="en-US" dirty="0"/>
              <a:t> pause; // in milliseconds </a:t>
            </a:r>
            <a:endParaRPr lang="en-IE" dirty="0"/>
          </a:p>
          <a:p>
            <a:pPr>
              <a:buNone/>
            </a:pPr>
            <a:r>
              <a:rPr lang="en-US" dirty="0"/>
              <a:t>    public </a:t>
            </a:r>
            <a:r>
              <a:rPr lang="en-US" dirty="0" err="1"/>
              <a:t>countUp</a:t>
            </a:r>
            <a:r>
              <a:rPr lang="en-US" dirty="0"/>
              <a:t>(</a:t>
            </a:r>
            <a:r>
              <a:rPr lang="en-US" dirty="0" err="1"/>
              <a:t>int</a:t>
            </a:r>
            <a:r>
              <a:rPr lang="en-US" dirty="0"/>
              <a:t> p, </a:t>
            </a:r>
            <a:r>
              <a:rPr lang="en-US" dirty="0" err="1"/>
              <a:t>int</a:t>
            </a:r>
            <a:r>
              <a:rPr lang="en-US" dirty="0"/>
              <a:t> t){</a:t>
            </a:r>
            <a:endParaRPr lang="en-IE" dirty="0"/>
          </a:p>
          <a:p>
            <a:pPr>
              <a:buNone/>
            </a:pPr>
            <a:r>
              <a:rPr lang="en-US" dirty="0"/>
              <a:t>        n = p; pause = t;</a:t>
            </a:r>
            <a:endParaRPr lang="en-IE" dirty="0"/>
          </a:p>
          <a:p>
            <a:pPr>
              <a:buNone/>
            </a:pPr>
            <a:r>
              <a:rPr lang="en-US" dirty="0"/>
              <a:t>    } </a:t>
            </a:r>
            <a:endParaRPr lang="en-IE" dirty="0"/>
          </a:p>
          <a:p>
            <a:pPr>
              <a:buNone/>
            </a:pPr>
            <a:r>
              <a:rPr lang="en-US" dirty="0"/>
              <a:t>    public void run() {</a:t>
            </a:r>
            <a:endParaRPr lang="en-IE" dirty="0"/>
          </a:p>
          <a:p>
            <a:pPr>
              <a:buNone/>
            </a:pPr>
            <a:r>
              <a:rPr lang="en-US" dirty="0"/>
              <a:t>        for (</a:t>
            </a:r>
            <a:r>
              <a:rPr lang="en-US" dirty="0" err="1"/>
              <a:t>int</a:t>
            </a:r>
            <a:r>
              <a:rPr lang="en-US" dirty="0"/>
              <a:t> j = 0;  j &lt; n; j = j + 1) {</a:t>
            </a:r>
            <a:endParaRPr lang="en-IE" dirty="0"/>
          </a:p>
          <a:p>
            <a:pPr>
              <a:buNone/>
            </a:pPr>
            <a:r>
              <a:rPr lang="en-US" dirty="0"/>
              <a:t>        	  </a:t>
            </a:r>
            <a:r>
              <a:rPr lang="en-US" dirty="0" err="1"/>
              <a:t>System.out.print</a:t>
            </a:r>
            <a:r>
              <a:rPr lang="en-US" dirty="0"/>
              <a:t>(j+” “);</a:t>
            </a:r>
            <a:endParaRPr lang="en-IE" dirty="0"/>
          </a:p>
          <a:p>
            <a:pPr>
              <a:buNone/>
            </a:pPr>
            <a:r>
              <a:rPr lang="en-US" dirty="0"/>
              <a:t>            try {</a:t>
            </a:r>
            <a:endParaRPr lang="en-IE" dirty="0"/>
          </a:p>
          <a:p>
            <a:pPr>
              <a:buNone/>
            </a:pPr>
            <a:r>
              <a:rPr lang="en-US" dirty="0"/>
              <a:t>                </a:t>
            </a:r>
            <a:r>
              <a:rPr lang="en-US" dirty="0" err="1"/>
              <a:t>Thread.sleep</a:t>
            </a:r>
            <a:r>
              <a:rPr lang="en-US" dirty="0"/>
              <a:t>(pause);</a:t>
            </a:r>
            <a:endParaRPr lang="en-IE" dirty="0"/>
          </a:p>
          <a:p>
            <a:pPr>
              <a:buNone/>
            </a:pPr>
            <a:r>
              <a:rPr lang="en-US" dirty="0"/>
              <a:t>            } catch(</a:t>
            </a:r>
            <a:r>
              <a:rPr lang="en-US" dirty="0" err="1"/>
              <a:t>InterruptedException</a:t>
            </a:r>
            <a:r>
              <a:rPr lang="en-US" dirty="0"/>
              <a:t> e) {return;}}}}</a:t>
            </a:r>
            <a:endParaRPr lang="en-IE" dirty="0"/>
          </a:p>
          <a:p>
            <a:pPr>
              <a:buNone/>
            </a:pPr>
            <a:endParaRPr lang="en-IE" dirty="0"/>
          </a:p>
        </p:txBody>
      </p:sp>
      <p:sp>
        <p:nvSpPr>
          <p:cNvPr id="6" name="Slide Number Placeholder 5">
            <a:extLst>
              <a:ext uri="{FF2B5EF4-FFF2-40B4-BE49-F238E27FC236}">
                <a16:creationId xmlns:a16="http://schemas.microsoft.com/office/drawing/2014/main" id="{A916B9F0-824B-4807-8922-C3388C016A88}"/>
              </a:ext>
            </a:extLst>
          </p:cNvPr>
          <p:cNvSpPr>
            <a:spLocks noGrp="1"/>
          </p:cNvSpPr>
          <p:nvPr>
            <p:ph type="sldNum" sz="quarter" idx="12"/>
          </p:nvPr>
        </p:nvSpPr>
        <p:spPr/>
        <p:txBody>
          <a:bodyPr/>
          <a:lstStyle/>
          <a:p>
            <a:fld id="{26944F6C-7B8C-1F48-9BFD-FC1F35051F46}"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pPr>
              <a:buNone/>
            </a:pPr>
            <a:r>
              <a:rPr lang="en-US" dirty="0"/>
              <a:t>class </a:t>
            </a:r>
            <a:r>
              <a:rPr lang="en-US" dirty="0" err="1"/>
              <a:t>counterTest</a:t>
            </a:r>
            <a:r>
              <a:rPr lang="en-US" dirty="0"/>
              <a:t>{</a:t>
            </a:r>
            <a:endParaRPr lang="en-IE" dirty="0"/>
          </a:p>
          <a:p>
            <a:pPr>
              <a:buNone/>
            </a:pPr>
            <a:r>
              <a:rPr lang="en-US" dirty="0"/>
              <a:t>	public static void main(String </a:t>
            </a:r>
            <a:r>
              <a:rPr lang="en-US" dirty="0" err="1"/>
              <a:t>args</a:t>
            </a:r>
            <a:r>
              <a:rPr lang="en-US" dirty="0"/>
              <a:t>[]){</a:t>
            </a:r>
            <a:endParaRPr lang="en-IE" dirty="0"/>
          </a:p>
          <a:p>
            <a:pPr>
              <a:buNone/>
            </a:pPr>
            <a:r>
              <a:rPr lang="en-US" dirty="0"/>
              <a:t>		new </a:t>
            </a:r>
            <a:r>
              <a:rPr lang="en-US" dirty="0" err="1"/>
              <a:t>countUp</a:t>
            </a:r>
            <a:r>
              <a:rPr lang="en-US" dirty="0"/>
              <a:t>(100, 300).start();</a:t>
            </a:r>
            <a:endParaRPr lang="en-IE" dirty="0"/>
          </a:p>
          <a:p>
            <a:pPr>
              <a:buNone/>
            </a:pPr>
            <a:r>
              <a:rPr lang="en-US" dirty="0"/>
              <a:t>		new </a:t>
            </a:r>
            <a:r>
              <a:rPr lang="en-US" dirty="0" err="1"/>
              <a:t>countDown</a:t>
            </a:r>
            <a:r>
              <a:rPr lang="en-US" dirty="0"/>
              <a:t>(100, 500).start();</a:t>
            </a:r>
            <a:endParaRPr lang="en-IE" dirty="0"/>
          </a:p>
          <a:p>
            <a:pPr>
              <a:buNone/>
            </a:pPr>
            <a:r>
              <a:rPr lang="en-US" dirty="0"/>
              <a:t>	}</a:t>
            </a:r>
            <a:endParaRPr lang="en-IE" dirty="0"/>
          </a:p>
          <a:p>
            <a:pPr>
              <a:buNone/>
            </a:pPr>
            <a:r>
              <a:rPr lang="en-US" dirty="0"/>
              <a:t>}</a:t>
            </a:r>
            <a:endParaRPr lang="en-IE" dirty="0"/>
          </a:p>
          <a:p>
            <a:pPr>
              <a:buNone/>
            </a:pPr>
            <a:endParaRPr lang="en-IE" dirty="0"/>
          </a:p>
        </p:txBody>
      </p:sp>
      <p:sp>
        <p:nvSpPr>
          <p:cNvPr id="6" name="Slide Number Placeholder 5">
            <a:extLst>
              <a:ext uri="{FF2B5EF4-FFF2-40B4-BE49-F238E27FC236}">
                <a16:creationId xmlns:a16="http://schemas.microsoft.com/office/drawing/2014/main" id="{E6B372C2-7A1B-4759-BCF9-CECB80D9C19F}"/>
              </a:ext>
            </a:extLst>
          </p:cNvPr>
          <p:cNvSpPr>
            <a:spLocks noGrp="1"/>
          </p:cNvSpPr>
          <p:nvPr>
            <p:ph type="sldNum" sz="quarter" idx="12"/>
          </p:nvPr>
        </p:nvSpPr>
        <p:spPr/>
        <p:txBody>
          <a:bodyPr/>
          <a:lstStyle/>
          <a:p>
            <a:fld id="{26944F6C-7B8C-1F48-9BFD-FC1F35051F46}" type="slidenum">
              <a:rPr lang="en-US" smtClean="0"/>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r>
              <a:rPr lang="en-IE" dirty="0" err="1"/>
              <a:t>CountDown</a:t>
            </a:r>
            <a:r>
              <a:rPr lang="en-IE" dirty="0"/>
              <a:t> Thread</a:t>
            </a:r>
          </a:p>
          <a:p>
            <a:endParaRPr lang="en-IE" dirty="0"/>
          </a:p>
          <a:p>
            <a:r>
              <a:rPr lang="en-IE" dirty="0" err="1"/>
              <a:t>CountUp</a:t>
            </a:r>
            <a:r>
              <a:rPr lang="en-IE" dirty="0"/>
              <a:t> Thread</a:t>
            </a:r>
          </a:p>
          <a:p>
            <a:endParaRPr lang="en-IE" dirty="0"/>
          </a:p>
          <a:p>
            <a:r>
              <a:rPr lang="en-IE" dirty="0"/>
              <a:t>Both threads have sleep periods</a:t>
            </a:r>
          </a:p>
          <a:p>
            <a:endParaRPr lang="en-IE" dirty="0"/>
          </a:p>
          <a:p>
            <a:r>
              <a:rPr lang="en-IE" dirty="0"/>
              <a:t>Output shown on next slide</a:t>
            </a:r>
          </a:p>
        </p:txBody>
      </p:sp>
      <p:sp>
        <p:nvSpPr>
          <p:cNvPr id="6" name="Slide Number Placeholder 5">
            <a:extLst>
              <a:ext uri="{FF2B5EF4-FFF2-40B4-BE49-F238E27FC236}">
                <a16:creationId xmlns:a16="http://schemas.microsoft.com/office/drawing/2014/main" id="{8F5E317B-225B-4966-AB7F-689014AB5EB8}"/>
              </a:ext>
            </a:extLst>
          </p:cNvPr>
          <p:cNvSpPr>
            <a:spLocks noGrp="1"/>
          </p:cNvSpPr>
          <p:nvPr>
            <p:ph type="sldNum" sz="quarter" idx="12"/>
          </p:nvPr>
        </p:nvSpPr>
        <p:spPr/>
        <p:txBody>
          <a:bodyPr/>
          <a:lstStyle/>
          <a:p>
            <a:fld id="{26944F6C-7B8C-1F48-9BFD-FC1F35051F46}" type="slidenum">
              <a:rPr lang="en-US" smtClean="0"/>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9F7ACE6E-4E07-6B43-9E49-643994254332}" type="slidenum">
              <a:rPr lang="en-US"/>
              <a:pPr>
                <a:defRPr/>
              </a:pPr>
              <a:t>56</a:t>
            </a:fld>
            <a:endParaRPr lang="en-US"/>
          </a:p>
        </p:txBody>
      </p:sp>
      <p:sp>
        <p:nvSpPr>
          <p:cNvPr id="29698" name="Rectangle 2"/>
          <p:cNvSpPr>
            <a:spLocks noGrp="1" noChangeArrowheads="1"/>
          </p:cNvSpPr>
          <p:nvPr>
            <p:ph type="title"/>
          </p:nvPr>
        </p:nvSpPr>
        <p:spPr/>
        <p:txBody>
          <a:bodyPr>
            <a:normAutofit fontScale="90000"/>
          </a:bodyPr>
          <a:lstStyle/>
          <a:p>
            <a:pPr eaLnBrk="1" hangingPunct="1">
              <a:defRPr/>
            </a:pPr>
            <a:r>
              <a:rPr lang="en-GB">
                <a:cs typeface="+mj-cs"/>
              </a:rPr>
              <a:t>Threads Ex 2</a:t>
            </a:r>
            <a:endParaRPr lang="en-US">
              <a:cs typeface="+mj-cs"/>
            </a:endParaRPr>
          </a:p>
        </p:txBody>
      </p:sp>
      <p:sp>
        <p:nvSpPr>
          <p:cNvPr id="29699" name="Rectangle 3"/>
          <p:cNvSpPr>
            <a:spLocks noGrp="1" noChangeArrowheads="1"/>
          </p:cNvSpPr>
          <p:nvPr>
            <p:ph type="body" idx="1"/>
          </p:nvPr>
        </p:nvSpPr>
        <p:spPr>
          <a:xfrm>
            <a:off x="468313" y="981075"/>
            <a:ext cx="8229600" cy="4525963"/>
          </a:xfrm>
        </p:spPr>
        <p:txBody>
          <a:bodyPr/>
          <a:lstStyle/>
          <a:p>
            <a:pPr eaLnBrk="1" hangingPunct="1">
              <a:buFontTx/>
              <a:buNone/>
              <a:defRPr/>
            </a:pPr>
            <a:endParaRPr lang="en-GB">
              <a:cs typeface="+mn-cs"/>
            </a:endParaRPr>
          </a:p>
          <a:p>
            <a:pPr eaLnBrk="1" hangingPunct="1">
              <a:defRPr/>
            </a:pPr>
            <a:endParaRPr lang="en-US">
              <a:cs typeface="+mn-cs"/>
            </a:endParaRPr>
          </a:p>
        </p:txBody>
      </p:sp>
      <p:pic>
        <p:nvPicPr>
          <p:cNvPr id="2560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412875"/>
            <a:ext cx="7561263" cy="3340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952983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E5D71CF0-9821-A445-8C56-B75534D99B03}" type="slidenum">
              <a:rPr lang="en-US"/>
              <a:pPr>
                <a:defRPr/>
              </a:pPr>
              <a:t>57</a:t>
            </a:fld>
            <a:endParaRPr lang="en-US"/>
          </a:p>
        </p:txBody>
      </p:sp>
      <p:sp>
        <p:nvSpPr>
          <p:cNvPr id="33794"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33795" name="Rectangle 3"/>
          <p:cNvSpPr>
            <a:spLocks noGrp="1" noChangeArrowheads="1"/>
          </p:cNvSpPr>
          <p:nvPr>
            <p:ph type="body" idx="1"/>
          </p:nvPr>
        </p:nvSpPr>
        <p:spPr>
          <a:xfrm>
            <a:off x="457200" y="908050"/>
            <a:ext cx="8229600" cy="5218113"/>
          </a:xfrm>
        </p:spPr>
        <p:txBody>
          <a:bodyPr/>
          <a:lstStyle/>
          <a:p>
            <a:pPr eaLnBrk="1" hangingPunct="1">
              <a:buFontTx/>
              <a:buNone/>
              <a:defRPr/>
            </a:pPr>
            <a:r>
              <a:rPr lang="en-AU">
                <a:cs typeface="+mn-cs"/>
              </a:rPr>
              <a:t>	A thread can delay itself until another thread t has terminated, by executing</a:t>
            </a:r>
          </a:p>
          <a:p>
            <a:pPr eaLnBrk="1" hangingPunct="1">
              <a:buFontTx/>
              <a:buNone/>
              <a:defRPr/>
            </a:pPr>
            <a:r>
              <a:rPr lang="en-AU">
                <a:cs typeface="+mn-cs"/>
              </a:rPr>
              <a:t>	</a:t>
            </a:r>
          </a:p>
          <a:p>
            <a:pPr eaLnBrk="1" hangingPunct="1">
              <a:buFontTx/>
              <a:buNone/>
              <a:defRPr/>
            </a:pPr>
            <a:r>
              <a:rPr lang="en-AU">
                <a:cs typeface="+mn-cs"/>
              </a:rPr>
              <a:t>	</a:t>
            </a:r>
            <a:r>
              <a:rPr lang="en-AU">
                <a:latin typeface="Comic Sans MS" charset="0"/>
                <a:cs typeface="+mn-cs"/>
              </a:rPr>
              <a:t>try { </a:t>
            </a:r>
          </a:p>
          <a:p>
            <a:pPr eaLnBrk="1" hangingPunct="1">
              <a:buFontTx/>
              <a:buNone/>
              <a:defRPr/>
            </a:pPr>
            <a:r>
              <a:rPr lang="en-AU">
                <a:latin typeface="Comic Sans MS" charset="0"/>
                <a:cs typeface="+mn-cs"/>
              </a:rPr>
              <a:t>       t.join();</a:t>
            </a:r>
          </a:p>
          <a:p>
            <a:pPr eaLnBrk="1" hangingPunct="1">
              <a:buFontTx/>
              <a:buNone/>
              <a:defRPr/>
            </a:pPr>
            <a:r>
              <a:rPr lang="en-AU">
                <a:latin typeface="Comic Sans MS" charset="0"/>
                <a:cs typeface="+mn-cs"/>
              </a:rPr>
              <a:t>   }catch(InterruptedException e) {}</a:t>
            </a:r>
            <a:endParaRPr lang="en-US">
              <a:latin typeface="Comic Sans MS" charset="0"/>
              <a:cs typeface="+mn-cs"/>
            </a:endParaRPr>
          </a:p>
        </p:txBody>
      </p:sp>
    </p:spTree>
    <p:extLst>
      <p:ext uri="{BB962C8B-B14F-4D97-AF65-F5344CB8AC3E}">
        <p14:creationId xmlns:p14="http://schemas.microsoft.com/office/powerpoint/2010/main" val="18330478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57AD9BF2-147B-2442-A82D-A211AFBAD0A2}" type="slidenum">
              <a:rPr lang="en-US"/>
              <a:pPr>
                <a:defRPr/>
              </a:pPr>
              <a:t>58</a:t>
            </a:fld>
            <a:endParaRPr lang="en-US"/>
          </a:p>
        </p:txBody>
      </p:sp>
      <p:sp>
        <p:nvSpPr>
          <p:cNvPr id="34818"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34819" name="Rectangle 3"/>
          <p:cNvSpPr>
            <a:spLocks noGrp="1" noChangeArrowheads="1"/>
          </p:cNvSpPr>
          <p:nvPr>
            <p:ph type="body" idx="1"/>
          </p:nvPr>
        </p:nvSpPr>
        <p:spPr>
          <a:xfrm>
            <a:off x="468313" y="981075"/>
            <a:ext cx="8229600" cy="5040313"/>
          </a:xfrm>
        </p:spPr>
        <p:txBody>
          <a:bodyPr>
            <a:normAutofit fontScale="92500"/>
          </a:bodyPr>
          <a:lstStyle/>
          <a:p>
            <a:pPr>
              <a:buNone/>
            </a:pPr>
            <a:r>
              <a:rPr lang="en-US" sz="2400" dirty="0">
                <a:latin typeface="Comic Sans MS" pitchFamily="66" charset="0"/>
              </a:rPr>
              <a:t>class </a:t>
            </a:r>
            <a:r>
              <a:rPr lang="en-US" sz="2400" dirty="0" err="1">
                <a:latin typeface="Comic Sans MS" pitchFamily="66" charset="0"/>
              </a:rPr>
              <a:t>MessagePrinterTest</a:t>
            </a:r>
            <a:r>
              <a:rPr lang="en-US" sz="2400" dirty="0">
                <a:latin typeface="Comic Sans MS" pitchFamily="66" charset="0"/>
              </a:rPr>
              <a:t>{</a:t>
            </a:r>
            <a:endParaRPr lang="en-IE" sz="2400" dirty="0">
              <a:latin typeface="Comic Sans MS" pitchFamily="66" charset="0"/>
            </a:endParaRPr>
          </a:p>
          <a:p>
            <a:pPr>
              <a:buNone/>
            </a:pPr>
            <a:r>
              <a:rPr lang="en-US" sz="2400" dirty="0">
                <a:latin typeface="Comic Sans MS" pitchFamily="66" charset="0"/>
              </a:rPr>
              <a:t>    public static void main(String[] </a:t>
            </a:r>
            <a:r>
              <a:rPr lang="en-US" sz="2400" dirty="0" err="1">
                <a:latin typeface="Comic Sans MS" pitchFamily="66" charset="0"/>
              </a:rPr>
              <a:t>args</a:t>
            </a:r>
            <a:r>
              <a:rPr lang="en-US" sz="2400" dirty="0">
                <a:latin typeface="Comic Sans MS" pitchFamily="66" charset="0"/>
              </a:rPr>
              <a:t>) {</a:t>
            </a:r>
            <a:endParaRPr lang="en-IE" sz="2400" dirty="0">
              <a:latin typeface="Comic Sans MS" pitchFamily="66" charset="0"/>
            </a:endParaRPr>
          </a:p>
          <a:p>
            <a:pPr>
              <a:buNone/>
            </a:pPr>
            <a:r>
              <a:rPr lang="en-US" sz="2400" b="1" dirty="0">
                <a:latin typeface="Comic Sans MS" pitchFamily="66" charset="0"/>
              </a:rPr>
              <a:t>		  Thread t = new </a:t>
            </a:r>
            <a:r>
              <a:rPr lang="en-US" sz="2400" dirty="0" err="1">
                <a:latin typeface="Comic Sans MS" pitchFamily="66" charset="0"/>
              </a:rPr>
              <a:t>MessagePrinter</a:t>
            </a:r>
            <a:r>
              <a:rPr lang="en-US" sz="2400" dirty="0">
                <a:latin typeface="Comic Sans MS" pitchFamily="66" charset="0"/>
              </a:rPr>
              <a:t>("Happy days are here</a:t>
            </a:r>
          </a:p>
          <a:p>
            <a:pPr>
              <a:buNone/>
            </a:pPr>
            <a:r>
              <a:rPr lang="en-US" sz="2400" dirty="0">
                <a:latin typeface="Comic Sans MS" pitchFamily="66" charset="0"/>
              </a:rPr>
              <a:t>                                                                              again", 10);</a:t>
            </a:r>
            <a:endParaRPr lang="en-IE" sz="2400" dirty="0">
              <a:latin typeface="Comic Sans MS" pitchFamily="66" charset="0"/>
            </a:endParaRPr>
          </a:p>
          <a:p>
            <a:pPr>
              <a:buNone/>
            </a:pPr>
            <a:r>
              <a:rPr lang="en-US" sz="2400" b="1" dirty="0">
                <a:latin typeface="Comic Sans MS" pitchFamily="66" charset="0"/>
              </a:rPr>
              <a:t>      </a:t>
            </a:r>
            <a:r>
              <a:rPr lang="en-US" sz="2400" b="1" dirty="0" err="1">
                <a:latin typeface="Comic Sans MS" pitchFamily="66" charset="0"/>
              </a:rPr>
              <a:t>t.start</a:t>
            </a:r>
            <a:r>
              <a:rPr lang="en-US" sz="2400" b="1" dirty="0">
                <a:latin typeface="Comic Sans MS" pitchFamily="66" charset="0"/>
              </a:rPr>
              <a:t>();</a:t>
            </a:r>
            <a:endParaRPr lang="en-IE" sz="2400" dirty="0">
              <a:latin typeface="Comic Sans MS" pitchFamily="66" charset="0"/>
            </a:endParaRPr>
          </a:p>
          <a:p>
            <a:pPr>
              <a:buNone/>
            </a:pPr>
            <a:r>
              <a:rPr lang="en-US" sz="2400" b="1" dirty="0">
                <a:latin typeface="Comic Sans MS" pitchFamily="66" charset="0"/>
              </a:rPr>
              <a:t>      try{</a:t>
            </a:r>
            <a:endParaRPr lang="en-IE" sz="2400" dirty="0">
              <a:latin typeface="Comic Sans MS" pitchFamily="66" charset="0"/>
            </a:endParaRPr>
          </a:p>
          <a:p>
            <a:pPr>
              <a:buNone/>
            </a:pPr>
            <a:r>
              <a:rPr lang="en-US" sz="2400" b="1" dirty="0">
                <a:latin typeface="Comic Sans MS" pitchFamily="66" charset="0"/>
              </a:rPr>
              <a:t>         </a:t>
            </a:r>
            <a:r>
              <a:rPr lang="en-US" sz="2400" b="1" dirty="0" err="1">
                <a:latin typeface="Comic Sans MS" pitchFamily="66" charset="0"/>
              </a:rPr>
              <a:t>t.join</a:t>
            </a:r>
            <a:r>
              <a:rPr lang="en-US" sz="2400" b="1" dirty="0">
                <a:latin typeface="Comic Sans MS" pitchFamily="66" charset="0"/>
              </a:rPr>
              <a:t>();	</a:t>
            </a:r>
            <a:endParaRPr lang="en-IE" sz="2400" dirty="0">
              <a:latin typeface="Comic Sans MS" pitchFamily="66" charset="0"/>
            </a:endParaRPr>
          </a:p>
          <a:p>
            <a:pPr>
              <a:buNone/>
            </a:pPr>
            <a:r>
              <a:rPr lang="en-US" sz="2400" b="1" dirty="0">
                <a:latin typeface="Comic Sans MS" pitchFamily="66" charset="0"/>
              </a:rPr>
              <a:t>      }</a:t>
            </a:r>
            <a:endParaRPr lang="en-IE" sz="2400" dirty="0">
              <a:latin typeface="Comic Sans MS" pitchFamily="66" charset="0"/>
            </a:endParaRPr>
          </a:p>
          <a:p>
            <a:pPr>
              <a:buNone/>
            </a:pPr>
            <a:r>
              <a:rPr lang="en-US" sz="2400" b="1" dirty="0">
                <a:latin typeface="Comic Sans MS" pitchFamily="66" charset="0"/>
              </a:rPr>
              <a:t>      catch(</a:t>
            </a:r>
            <a:r>
              <a:rPr lang="en-US" sz="2400" b="1" dirty="0" err="1">
                <a:latin typeface="Comic Sans MS" pitchFamily="66" charset="0"/>
              </a:rPr>
              <a:t>InterruptedException</a:t>
            </a:r>
            <a:r>
              <a:rPr lang="en-US" sz="2400" b="1" dirty="0">
                <a:latin typeface="Comic Sans MS" pitchFamily="66" charset="0"/>
              </a:rPr>
              <a:t> e){}</a:t>
            </a:r>
            <a:endParaRPr lang="en-IE" sz="2400" dirty="0">
              <a:latin typeface="Comic Sans MS" pitchFamily="66" charset="0"/>
            </a:endParaRPr>
          </a:p>
          <a:p>
            <a:pPr>
              <a:buNone/>
            </a:pPr>
            <a:r>
              <a:rPr lang="en-US" sz="2400" dirty="0">
                <a:latin typeface="Comic Sans MS" pitchFamily="66" charset="0"/>
              </a:rPr>
              <a:t>        </a:t>
            </a:r>
            <a:r>
              <a:rPr lang="en-US" sz="2400" dirty="0" err="1">
                <a:latin typeface="Comic Sans MS" pitchFamily="66" charset="0"/>
              </a:rPr>
              <a:t>System.out.println</a:t>
            </a:r>
            <a:r>
              <a:rPr lang="en-US" sz="2400" dirty="0">
                <a:latin typeface="Comic Sans MS" pitchFamily="66" charset="0"/>
              </a:rPr>
              <a:t>("All messages are printed");</a:t>
            </a:r>
            <a:endParaRPr lang="en-IE" sz="2400" dirty="0">
              <a:latin typeface="Comic Sans MS" pitchFamily="66" charset="0"/>
            </a:endParaRPr>
          </a:p>
          <a:p>
            <a:pPr>
              <a:buNone/>
            </a:pPr>
            <a:r>
              <a:rPr lang="en-US" sz="2400" dirty="0">
                <a:latin typeface="Comic Sans MS" pitchFamily="66" charset="0"/>
              </a:rPr>
              <a:t>    }</a:t>
            </a:r>
            <a:endParaRPr lang="en-IE" sz="2400" dirty="0">
              <a:latin typeface="Comic Sans MS" pitchFamily="66" charset="0"/>
            </a:endParaRPr>
          </a:p>
          <a:p>
            <a:pPr>
              <a:buNone/>
            </a:pPr>
            <a:r>
              <a:rPr lang="en-US" sz="2400" dirty="0">
                <a:latin typeface="Comic Sans MS" pitchFamily="66" charset="0"/>
              </a:rPr>
              <a:t>}</a:t>
            </a:r>
            <a:endParaRPr lang="en-IE" sz="2400" dirty="0">
              <a:latin typeface="Comic Sans MS" pitchFamily="66" charset="0"/>
            </a:endParaRPr>
          </a:p>
          <a:p>
            <a:pPr eaLnBrk="1" hangingPunct="1">
              <a:lnSpc>
                <a:spcPct val="80000"/>
              </a:lnSpc>
              <a:buFontTx/>
              <a:buNone/>
              <a:defRPr/>
            </a:pPr>
            <a:endParaRPr lang="en-US" sz="2400" dirty="0">
              <a:latin typeface="Comic Sans MS" charset="0"/>
              <a:cs typeface="+mn-cs"/>
            </a:endParaRPr>
          </a:p>
        </p:txBody>
      </p:sp>
    </p:spTree>
    <p:extLst>
      <p:ext uri="{BB962C8B-B14F-4D97-AF65-F5344CB8AC3E}">
        <p14:creationId xmlns:p14="http://schemas.microsoft.com/office/powerpoint/2010/main" val="36629689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89AE6D8F-9804-E349-AF8B-AE1FA73710AD}" type="slidenum">
              <a:rPr lang="en-US"/>
              <a:pPr>
                <a:defRPr/>
              </a:pPr>
              <a:t>59</a:t>
            </a:fld>
            <a:endParaRPr lang="en-US"/>
          </a:p>
        </p:txBody>
      </p:sp>
      <p:sp>
        <p:nvSpPr>
          <p:cNvPr id="38914"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38915" name="Rectangle 3"/>
          <p:cNvSpPr>
            <a:spLocks noGrp="1" noChangeArrowheads="1"/>
          </p:cNvSpPr>
          <p:nvPr>
            <p:ph type="body" idx="1"/>
          </p:nvPr>
        </p:nvSpPr>
        <p:spPr>
          <a:xfrm>
            <a:off x="468313" y="981075"/>
            <a:ext cx="8229600" cy="5040313"/>
          </a:xfrm>
        </p:spPr>
        <p:txBody>
          <a:bodyPr/>
          <a:lstStyle/>
          <a:p>
            <a:pPr eaLnBrk="1" hangingPunct="1">
              <a:buFontTx/>
              <a:buNone/>
              <a:defRPr/>
            </a:pPr>
            <a:r>
              <a:rPr lang="en-AU" dirty="0">
                <a:cs typeface="+mn-cs"/>
              </a:rPr>
              <a:t>	</a:t>
            </a:r>
            <a:r>
              <a:rPr lang="en-AU" sz="2400" dirty="0" err="1">
                <a:latin typeface="Comic Sans MS" charset="0"/>
                <a:cs typeface="+mn-cs"/>
              </a:rPr>
              <a:t>tt.isAlive</a:t>
            </a:r>
            <a:r>
              <a:rPr lang="en-AU" sz="2400" dirty="0">
                <a:latin typeface="Comic Sans MS" charset="0"/>
                <a:cs typeface="+mn-cs"/>
              </a:rPr>
              <a:t>()</a:t>
            </a:r>
            <a:r>
              <a:rPr lang="en-AU" sz="2400" dirty="0">
                <a:cs typeface="+mn-cs"/>
              </a:rPr>
              <a:t> returns </a:t>
            </a:r>
            <a:r>
              <a:rPr lang="en-AU" sz="2400" dirty="0">
                <a:latin typeface="Comic Sans MS" charset="0"/>
                <a:cs typeface="+mn-cs"/>
              </a:rPr>
              <a:t>true</a:t>
            </a:r>
            <a:r>
              <a:rPr lang="en-AU" sz="2400" dirty="0">
                <a:cs typeface="+mn-cs"/>
              </a:rPr>
              <a:t> if thread </a:t>
            </a:r>
            <a:r>
              <a:rPr lang="en-AU" sz="2400" dirty="0" err="1">
                <a:latin typeface="Comic Sans MS" charset="0"/>
                <a:cs typeface="+mn-cs"/>
              </a:rPr>
              <a:t>tt</a:t>
            </a:r>
            <a:r>
              <a:rPr lang="en-AU" sz="2400" dirty="0">
                <a:cs typeface="+mn-cs"/>
              </a:rPr>
              <a:t> is started and still running, otherwise, </a:t>
            </a:r>
            <a:r>
              <a:rPr lang="en-AU" sz="2400" dirty="0">
                <a:latin typeface="Comic Sans MS" charset="0"/>
                <a:cs typeface="+mn-cs"/>
              </a:rPr>
              <a:t>false</a:t>
            </a:r>
          </a:p>
          <a:p>
            <a:pPr eaLnBrk="1" hangingPunct="1">
              <a:buFontTx/>
              <a:buNone/>
              <a:defRPr/>
            </a:pPr>
            <a:r>
              <a:rPr lang="en-US" sz="2400" dirty="0">
                <a:cs typeface="+mn-cs"/>
              </a:rPr>
              <a:t>	</a:t>
            </a:r>
          </a:p>
          <a:p>
            <a:pPr eaLnBrk="1" hangingPunct="1">
              <a:buFontTx/>
              <a:buNone/>
              <a:defRPr/>
            </a:pPr>
            <a:r>
              <a:rPr lang="en-US" sz="2400" dirty="0">
                <a:cs typeface="+mn-cs"/>
              </a:rPr>
              <a:t>	To name a thread use </a:t>
            </a:r>
          </a:p>
          <a:p>
            <a:pPr eaLnBrk="1" hangingPunct="1">
              <a:buFontTx/>
              <a:buNone/>
              <a:defRPr/>
            </a:pPr>
            <a:r>
              <a:rPr lang="en-US" sz="2400" dirty="0">
                <a:cs typeface="+mn-cs"/>
              </a:rPr>
              <a:t>        </a:t>
            </a:r>
            <a:r>
              <a:rPr lang="en-US" sz="2400" dirty="0" err="1">
                <a:latin typeface="Comic Sans MS" charset="0"/>
                <a:cs typeface="+mn-cs"/>
              </a:rPr>
              <a:t>setName</a:t>
            </a:r>
            <a:r>
              <a:rPr lang="en-US" sz="2400" dirty="0">
                <a:latin typeface="Comic Sans MS" charset="0"/>
                <a:cs typeface="+mn-cs"/>
              </a:rPr>
              <a:t>(String name);</a:t>
            </a:r>
          </a:p>
          <a:p>
            <a:pPr eaLnBrk="1" hangingPunct="1">
              <a:buFontTx/>
              <a:buNone/>
              <a:defRPr/>
            </a:pPr>
            <a:endParaRPr lang="en-US" sz="2400" dirty="0">
              <a:latin typeface="Comic Sans MS" charset="0"/>
              <a:cs typeface="+mn-cs"/>
            </a:endParaRPr>
          </a:p>
          <a:p>
            <a:pPr eaLnBrk="1" hangingPunct="1">
              <a:buFontTx/>
              <a:buNone/>
              <a:defRPr/>
            </a:pPr>
            <a:r>
              <a:rPr lang="en-US" sz="2400" dirty="0">
                <a:cs typeface="+mn-cs"/>
              </a:rPr>
              <a:t>   To retrieve the name of a thread use 	</a:t>
            </a:r>
            <a:r>
              <a:rPr lang="en-US" sz="2400" dirty="0" err="1">
                <a:latin typeface="Comic Sans MS" charset="0"/>
                <a:cs typeface="+mn-cs"/>
              </a:rPr>
              <a:t>getName</a:t>
            </a:r>
            <a:r>
              <a:rPr lang="en-US" sz="2400" dirty="0">
                <a:latin typeface="Comic Sans MS" charset="0"/>
              </a:rPr>
              <a:t>(</a:t>
            </a:r>
            <a:r>
              <a:rPr lang="en-US" sz="2400" dirty="0">
                <a:latin typeface="Comic Sans MS" charset="0"/>
                <a:cs typeface="+mn-cs"/>
              </a:rPr>
              <a:t>);</a:t>
            </a:r>
          </a:p>
          <a:p>
            <a:pPr eaLnBrk="1" hangingPunct="1">
              <a:buFontTx/>
              <a:buNone/>
              <a:defRPr/>
            </a:pPr>
            <a:endParaRPr lang="en-US" sz="2400" dirty="0">
              <a:latin typeface="Comic Sans MS" charset="0"/>
              <a:cs typeface="+mn-cs"/>
            </a:endParaRPr>
          </a:p>
          <a:p>
            <a:pPr eaLnBrk="1" hangingPunct="1">
              <a:buFontTx/>
              <a:buNone/>
              <a:defRPr/>
            </a:pPr>
            <a:r>
              <a:rPr lang="en-US" sz="2400" dirty="0">
                <a:latin typeface="Comic Sans MS" charset="0"/>
              </a:rPr>
              <a:t>  </a:t>
            </a:r>
            <a:r>
              <a:rPr lang="en-US" sz="2400" dirty="0"/>
              <a:t>To retrieve id number</a:t>
            </a:r>
          </a:p>
          <a:p>
            <a:pPr eaLnBrk="1" hangingPunct="1">
              <a:buFontTx/>
              <a:buNone/>
              <a:defRPr/>
            </a:pPr>
            <a:r>
              <a:rPr lang="en-US" sz="2400" dirty="0">
                <a:latin typeface="Comic Sans MS" charset="0"/>
                <a:cs typeface="+mn-cs"/>
              </a:rPr>
              <a:t>       long </a:t>
            </a:r>
            <a:r>
              <a:rPr lang="en-US" sz="2400" dirty="0" err="1">
                <a:latin typeface="Comic Sans MS" charset="0"/>
                <a:cs typeface="+mn-cs"/>
              </a:rPr>
              <a:t>getId</a:t>
            </a:r>
            <a:r>
              <a:rPr lang="en-US" sz="2400" dirty="0">
                <a:latin typeface="Comic Sans MS" charset="0"/>
                <a:cs typeface="+mn-cs"/>
              </a:rPr>
              <a:t>()</a:t>
            </a:r>
          </a:p>
        </p:txBody>
      </p:sp>
    </p:spTree>
    <p:extLst>
      <p:ext uri="{BB962C8B-B14F-4D97-AF65-F5344CB8AC3E}">
        <p14:creationId xmlns:p14="http://schemas.microsoft.com/office/powerpoint/2010/main" val="11315001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ADBEDDE3-C2D1-B448-909C-6A8C55198659}" type="slidenum">
              <a:rPr lang="en-US"/>
              <a:pPr>
                <a:defRPr/>
              </a:pPr>
              <a:t>60</a:t>
            </a:fld>
            <a:endParaRPr lang="en-US"/>
          </a:p>
        </p:txBody>
      </p:sp>
      <p:sp>
        <p:nvSpPr>
          <p:cNvPr id="35842"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35843" name="Rectangle 3"/>
          <p:cNvSpPr>
            <a:spLocks noGrp="1" noChangeArrowheads="1"/>
          </p:cNvSpPr>
          <p:nvPr>
            <p:ph type="body" idx="1"/>
          </p:nvPr>
        </p:nvSpPr>
        <p:spPr>
          <a:xfrm>
            <a:off x="468313" y="908050"/>
            <a:ext cx="8229600" cy="5184775"/>
          </a:xfrm>
        </p:spPr>
        <p:txBody>
          <a:bodyPr>
            <a:normAutofit fontScale="85000" lnSpcReduction="20000"/>
          </a:bodyPr>
          <a:lstStyle/>
          <a:p>
            <a:pPr eaLnBrk="1" hangingPunct="1">
              <a:buFontTx/>
              <a:buNone/>
              <a:defRPr/>
            </a:pPr>
            <a:r>
              <a:rPr lang="en-AU" dirty="0" err="1">
                <a:cs typeface="+mn-cs"/>
              </a:rPr>
              <a:t>Thread.currentThread</a:t>
            </a:r>
            <a:r>
              <a:rPr lang="en-AU" dirty="0">
                <a:cs typeface="+mn-cs"/>
              </a:rPr>
              <a:t>()  </a:t>
            </a:r>
            <a:r>
              <a:rPr lang="en-AU" dirty="0"/>
              <a:t>returns</a:t>
            </a:r>
            <a:r>
              <a:rPr lang="en-AU" dirty="0">
                <a:cs typeface="+mn-cs"/>
              </a:rPr>
              <a:t> a handle on the current thread. </a:t>
            </a:r>
          </a:p>
          <a:p>
            <a:pPr eaLnBrk="1" hangingPunct="1">
              <a:buFontTx/>
              <a:buNone/>
              <a:defRPr/>
            </a:pPr>
            <a:endParaRPr lang="en-AU" dirty="0"/>
          </a:p>
          <a:p>
            <a:pPr eaLnBrk="1" hangingPunct="1">
              <a:buFontTx/>
              <a:buNone/>
              <a:defRPr/>
            </a:pPr>
            <a:endParaRPr lang="en-AU" dirty="0">
              <a:cs typeface="+mn-cs"/>
            </a:endParaRPr>
          </a:p>
          <a:p>
            <a:pPr>
              <a:buNone/>
            </a:pPr>
            <a:r>
              <a:rPr lang="en-US" dirty="0">
                <a:latin typeface="Comic Sans MS" pitchFamily="66" charset="0"/>
              </a:rPr>
              <a:t>class  </a:t>
            </a:r>
            <a:r>
              <a:rPr lang="en-US" dirty="0" err="1">
                <a:latin typeface="Comic Sans MS" pitchFamily="66" charset="0"/>
              </a:rPr>
              <a:t>SelfRefT</a:t>
            </a:r>
            <a:r>
              <a:rPr lang="en-US" dirty="0">
                <a:latin typeface="Comic Sans MS" pitchFamily="66" charset="0"/>
              </a:rPr>
              <a:t> extends Thread {</a:t>
            </a:r>
            <a:endParaRPr lang="en-IE" dirty="0">
              <a:latin typeface="Comic Sans MS" pitchFamily="66" charset="0"/>
            </a:endParaRPr>
          </a:p>
          <a:p>
            <a:pPr>
              <a:buNone/>
            </a:pPr>
            <a:r>
              <a:rPr lang="en-US" dirty="0">
                <a:latin typeface="Comic Sans MS" pitchFamily="66" charset="0"/>
              </a:rPr>
              <a:t>    private Thread t;</a:t>
            </a:r>
            <a:endParaRPr lang="en-IE" dirty="0">
              <a:latin typeface="Comic Sans MS" pitchFamily="66" charset="0"/>
            </a:endParaRPr>
          </a:p>
          <a:p>
            <a:pPr>
              <a:buNone/>
            </a:pPr>
            <a:r>
              <a:rPr lang="en-US" dirty="0">
                <a:latin typeface="Comic Sans MS" pitchFamily="66" charset="0"/>
              </a:rPr>
              <a:t>    public void run() {</a:t>
            </a:r>
            <a:endParaRPr lang="en-IE" dirty="0">
              <a:latin typeface="Comic Sans MS" pitchFamily="66" charset="0"/>
            </a:endParaRPr>
          </a:p>
          <a:p>
            <a:pPr>
              <a:buNone/>
            </a:pPr>
            <a:r>
              <a:rPr lang="en-US" dirty="0">
                <a:latin typeface="Comic Sans MS" pitchFamily="66" charset="0"/>
              </a:rPr>
              <a:t>        t = </a:t>
            </a:r>
            <a:r>
              <a:rPr lang="en-US" dirty="0" err="1">
                <a:latin typeface="Comic Sans MS" pitchFamily="66" charset="0"/>
              </a:rPr>
              <a:t>Thread.currentThread</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System.out.println</a:t>
            </a:r>
            <a:r>
              <a:rPr lang="en-US" dirty="0">
                <a:latin typeface="Comic Sans MS" pitchFamily="66" charset="0"/>
              </a:rPr>
              <a:t>(</a:t>
            </a:r>
            <a:r>
              <a:rPr lang="en-US" dirty="0" err="1">
                <a:latin typeface="Comic Sans MS" pitchFamily="66" charset="0"/>
              </a:rPr>
              <a:t>t.getName</a:t>
            </a:r>
            <a:r>
              <a:rPr lang="en-US" dirty="0">
                <a:latin typeface="Comic Sans MS" pitchFamily="66" charset="0"/>
              </a:rPr>
              <a:t>() +" Id:"+</a:t>
            </a:r>
            <a:r>
              <a:rPr lang="en-US" dirty="0" err="1">
                <a:latin typeface="Comic Sans MS" pitchFamily="66" charset="0"/>
              </a:rPr>
              <a:t>t.getId</a:t>
            </a: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a:t>
            </a:r>
            <a:endParaRPr lang="en-IE" dirty="0">
              <a:latin typeface="Comic Sans MS" pitchFamily="66" charset="0"/>
            </a:endParaRPr>
          </a:p>
          <a:p>
            <a:pPr eaLnBrk="1" hangingPunct="1">
              <a:buFontTx/>
              <a:buNone/>
              <a:defRPr/>
            </a:pPr>
            <a:endParaRPr lang="en-AU" dirty="0">
              <a:cs typeface="+mn-cs"/>
            </a:endParaRPr>
          </a:p>
          <a:p>
            <a:pPr eaLnBrk="1" hangingPunct="1">
              <a:buFontTx/>
              <a:buNone/>
              <a:defRPr/>
            </a:pPr>
            <a:endParaRPr lang="en-AU" dirty="0">
              <a:cs typeface="+mn-cs"/>
            </a:endParaRPr>
          </a:p>
          <a:p>
            <a:pPr eaLnBrk="1" hangingPunct="1">
              <a:buFontTx/>
              <a:buNone/>
              <a:defRPr/>
            </a:pPr>
            <a:r>
              <a:rPr lang="en-AU" dirty="0">
                <a:cs typeface="+mn-cs"/>
              </a:rPr>
              <a:t>   </a:t>
            </a:r>
            <a:endParaRPr lang="en-AU" dirty="0">
              <a:latin typeface="Comic Sans MS" charset="0"/>
            </a:endParaRPr>
          </a:p>
        </p:txBody>
      </p:sp>
    </p:spTree>
    <p:extLst>
      <p:ext uri="{BB962C8B-B14F-4D97-AF65-F5344CB8AC3E}">
        <p14:creationId xmlns:p14="http://schemas.microsoft.com/office/powerpoint/2010/main" val="3900364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pPr>
              <a:buNone/>
            </a:pPr>
            <a:r>
              <a:rPr lang="en-US" dirty="0">
                <a:latin typeface="Comic Sans MS" pitchFamily="66" charset="0"/>
              </a:rPr>
              <a:t>public class </a:t>
            </a:r>
            <a:r>
              <a:rPr lang="en-US" dirty="0" err="1">
                <a:latin typeface="Comic Sans MS" pitchFamily="66" charset="0"/>
              </a:rPr>
              <a:t>SelfRefTest</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public static void main(String </a:t>
            </a:r>
            <a:r>
              <a:rPr lang="en-US" dirty="0" err="1">
                <a:latin typeface="Comic Sans MS" pitchFamily="66" charset="0"/>
              </a:rPr>
              <a:t>args</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for(</a:t>
            </a:r>
            <a:r>
              <a:rPr lang="en-US" dirty="0" err="1">
                <a:latin typeface="Comic Sans MS" pitchFamily="66" charset="0"/>
              </a:rPr>
              <a:t>int</a:t>
            </a:r>
            <a:r>
              <a:rPr lang="en-US" dirty="0">
                <a:latin typeface="Comic Sans MS" pitchFamily="66" charset="0"/>
              </a:rPr>
              <a:t> j = 0; j &lt; 10; j = j + 1){</a:t>
            </a:r>
            <a:endParaRPr lang="en-IE" dirty="0">
              <a:latin typeface="Comic Sans MS" pitchFamily="66" charset="0"/>
            </a:endParaRPr>
          </a:p>
          <a:p>
            <a:pPr>
              <a:buNone/>
            </a:pPr>
            <a:r>
              <a:rPr lang="en-US" dirty="0">
                <a:latin typeface="Comic Sans MS" pitchFamily="66" charset="0"/>
              </a:rPr>
              <a:t>			Thread </a:t>
            </a:r>
            <a:r>
              <a:rPr lang="en-US" dirty="0" err="1">
                <a:latin typeface="Comic Sans MS" pitchFamily="66" charset="0"/>
              </a:rPr>
              <a:t>tst</a:t>
            </a:r>
            <a:r>
              <a:rPr lang="en-US" dirty="0">
                <a:latin typeface="Comic Sans MS" pitchFamily="66" charset="0"/>
              </a:rPr>
              <a:t> = new </a:t>
            </a:r>
            <a:r>
              <a:rPr lang="en-US" dirty="0" err="1">
                <a:latin typeface="Comic Sans MS" pitchFamily="66" charset="0"/>
              </a:rPr>
              <a:t>SelfRefT</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tst.setName</a:t>
            </a:r>
            <a:r>
              <a:rPr lang="en-US" dirty="0">
                <a:latin typeface="Comic Sans MS" pitchFamily="66" charset="0"/>
              </a:rPr>
              <a:t>("No:" + j);</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tst.start</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a:t>
            </a:r>
            <a:endParaRPr lang="en-IE" dirty="0">
              <a:latin typeface="Comic Sans MS" pitchFamily="66" charset="0"/>
            </a:endParaRPr>
          </a:p>
        </p:txBody>
      </p:sp>
      <p:sp>
        <p:nvSpPr>
          <p:cNvPr id="6" name="Slide Number Placeholder 5">
            <a:extLst>
              <a:ext uri="{FF2B5EF4-FFF2-40B4-BE49-F238E27FC236}">
                <a16:creationId xmlns:a16="http://schemas.microsoft.com/office/drawing/2014/main" id="{09E87700-98ED-472E-A244-D06D5A93F38E}"/>
              </a:ext>
            </a:extLst>
          </p:cNvPr>
          <p:cNvSpPr>
            <a:spLocks noGrp="1"/>
          </p:cNvSpPr>
          <p:nvPr>
            <p:ph type="sldNum" sz="quarter" idx="12"/>
          </p:nvPr>
        </p:nvSpPr>
        <p:spPr/>
        <p:txBody>
          <a:bodyPr/>
          <a:lstStyle/>
          <a:p>
            <a:fld id="{26944F6C-7B8C-1F48-9BFD-FC1F35051F46}" type="slidenum">
              <a:rPr lang="en-US" smtClean="0"/>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Output</a:t>
            </a:r>
          </a:p>
        </p:txBody>
      </p:sp>
      <p:sp>
        <p:nvSpPr>
          <p:cNvPr id="3" name="Content Placeholder 2"/>
          <p:cNvSpPr>
            <a:spLocks noGrp="1"/>
          </p:cNvSpPr>
          <p:nvPr>
            <p:ph idx="1"/>
          </p:nvPr>
        </p:nvSpPr>
        <p:spPr/>
        <p:txBody>
          <a:bodyPr/>
          <a:lstStyle/>
          <a:p>
            <a:pPr>
              <a:buNone/>
            </a:pPr>
            <a:r>
              <a:rPr lang="en-US" dirty="0"/>
              <a:t>No:1 Id:11</a:t>
            </a:r>
            <a:endParaRPr lang="en-IE" dirty="0"/>
          </a:p>
          <a:p>
            <a:pPr>
              <a:buNone/>
            </a:pPr>
            <a:r>
              <a:rPr lang="en-US" dirty="0"/>
              <a:t>No:0 Id:10</a:t>
            </a:r>
            <a:endParaRPr lang="en-IE" dirty="0"/>
          </a:p>
          <a:p>
            <a:pPr>
              <a:buNone/>
            </a:pPr>
            <a:r>
              <a:rPr lang="en-US" dirty="0"/>
              <a:t>No:3 Id:13</a:t>
            </a:r>
            <a:endParaRPr lang="en-IE" dirty="0"/>
          </a:p>
          <a:p>
            <a:pPr>
              <a:buNone/>
            </a:pPr>
            <a:r>
              <a:rPr lang="en-US" dirty="0"/>
              <a:t>No:4 Id:14</a:t>
            </a:r>
            <a:endParaRPr lang="en-IE" dirty="0"/>
          </a:p>
          <a:p>
            <a:pPr>
              <a:buNone/>
            </a:pPr>
            <a:r>
              <a:rPr lang="en-US" dirty="0"/>
              <a:t>No:2 Id:12</a:t>
            </a:r>
            <a:endParaRPr lang="en-IE" dirty="0"/>
          </a:p>
          <a:p>
            <a:pPr>
              <a:buNone/>
            </a:pPr>
            <a:r>
              <a:rPr lang="en-US" dirty="0"/>
              <a:t>No:5 Id:15</a:t>
            </a:r>
            <a:endParaRPr lang="en-IE" dirty="0"/>
          </a:p>
          <a:p>
            <a:pPr>
              <a:buNone/>
            </a:pPr>
            <a:r>
              <a:rPr lang="en-US" dirty="0"/>
              <a:t>No:6 Id:16</a:t>
            </a:r>
            <a:endParaRPr lang="en-IE" dirty="0"/>
          </a:p>
          <a:p>
            <a:pPr>
              <a:buNone/>
            </a:pPr>
            <a:r>
              <a:rPr lang="en-US" dirty="0"/>
              <a:t>No:7 Id:17</a:t>
            </a:r>
            <a:endParaRPr lang="en-IE" dirty="0"/>
          </a:p>
          <a:p>
            <a:pPr>
              <a:buNone/>
            </a:pPr>
            <a:r>
              <a:rPr lang="en-US" dirty="0"/>
              <a:t>No:8 Id:18</a:t>
            </a:r>
            <a:endParaRPr lang="en-IE" dirty="0"/>
          </a:p>
          <a:p>
            <a:pPr>
              <a:buNone/>
            </a:pPr>
            <a:r>
              <a:rPr lang="en-US" dirty="0"/>
              <a:t>No:9 Id:19</a:t>
            </a:r>
            <a:endParaRPr lang="en-IE" dirty="0"/>
          </a:p>
          <a:p>
            <a:endParaRPr lang="en-IE" dirty="0"/>
          </a:p>
        </p:txBody>
      </p:sp>
      <p:sp>
        <p:nvSpPr>
          <p:cNvPr id="6" name="Slide Number Placeholder 5">
            <a:extLst>
              <a:ext uri="{FF2B5EF4-FFF2-40B4-BE49-F238E27FC236}">
                <a16:creationId xmlns:a16="http://schemas.microsoft.com/office/drawing/2014/main" id="{81E4DA0F-0F92-4CE3-A197-047A9A755D75}"/>
              </a:ext>
            </a:extLst>
          </p:cNvPr>
          <p:cNvSpPr>
            <a:spLocks noGrp="1"/>
          </p:cNvSpPr>
          <p:nvPr>
            <p:ph type="sldNum" sz="quarter" idx="12"/>
          </p:nvPr>
        </p:nvSpPr>
        <p:spPr/>
        <p:txBody>
          <a:bodyPr/>
          <a:lstStyle/>
          <a:p>
            <a:fld id="{26944F6C-7B8C-1F48-9BFD-FC1F35051F46}" type="slidenum">
              <a:rPr lang="en-US" smtClean="0"/>
              <a:p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pPr>
              <a:buNone/>
              <a:defRPr/>
            </a:pPr>
            <a:endParaRPr lang="en-AU" dirty="0"/>
          </a:p>
          <a:p>
            <a:pPr>
              <a:buNone/>
              <a:defRPr/>
            </a:pPr>
            <a:r>
              <a:rPr lang="en-AU" dirty="0"/>
              <a:t>The current thread can yield the processor via:</a:t>
            </a:r>
            <a:endParaRPr lang="en-GB" dirty="0">
              <a:latin typeface="Comic Sans MS" charset="0"/>
            </a:endParaRPr>
          </a:p>
          <a:p>
            <a:pPr lvl="1">
              <a:buNone/>
              <a:defRPr/>
            </a:pPr>
            <a:endParaRPr lang="en-GB" dirty="0">
              <a:latin typeface="Comic Sans MS" charset="0"/>
            </a:endParaRPr>
          </a:p>
          <a:p>
            <a:pPr lvl="1">
              <a:buNone/>
              <a:defRPr/>
            </a:pPr>
            <a:r>
              <a:rPr lang="en-GB" dirty="0">
                <a:latin typeface="Comic Sans MS" charset="0"/>
              </a:rPr>
              <a:t>void yield ()</a:t>
            </a:r>
            <a:endParaRPr lang="en-AU" dirty="0">
              <a:latin typeface="Comic Sans MS" charset="0"/>
            </a:endParaRPr>
          </a:p>
        </p:txBody>
      </p:sp>
      <p:sp>
        <p:nvSpPr>
          <p:cNvPr id="6" name="Slide Number Placeholder 5">
            <a:extLst>
              <a:ext uri="{FF2B5EF4-FFF2-40B4-BE49-F238E27FC236}">
                <a16:creationId xmlns:a16="http://schemas.microsoft.com/office/drawing/2014/main" id="{98FECE18-7B9C-4485-A46C-4395D554883A}"/>
              </a:ext>
            </a:extLst>
          </p:cNvPr>
          <p:cNvSpPr>
            <a:spLocks noGrp="1"/>
          </p:cNvSpPr>
          <p:nvPr>
            <p:ph type="sldNum" sz="quarter" idx="12"/>
          </p:nvPr>
        </p:nvSpPr>
        <p:spPr/>
        <p:txBody>
          <a:bodyPr/>
          <a:lstStyle/>
          <a:p>
            <a:fld id="{26944F6C-7B8C-1F48-9BFD-FC1F35051F46}" type="slidenum">
              <a:rPr lang="en-US" smtClean="0"/>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73430A81-578E-9B45-AB79-AB10B18209DB}" type="slidenum">
              <a:rPr lang="en-US"/>
              <a:pPr>
                <a:defRPr/>
              </a:pPr>
              <a:t>64</a:t>
            </a:fld>
            <a:endParaRPr lang="en-US"/>
          </a:p>
        </p:txBody>
      </p:sp>
      <p:sp>
        <p:nvSpPr>
          <p:cNvPr id="37890"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37891" name="Rectangle 3"/>
          <p:cNvSpPr>
            <a:spLocks noGrp="1" noChangeArrowheads="1"/>
          </p:cNvSpPr>
          <p:nvPr>
            <p:ph type="body" idx="1"/>
          </p:nvPr>
        </p:nvSpPr>
        <p:spPr>
          <a:xfrm>
            <a:off x="468313" y="1052513"/>
            <a:ext cx="8229600" cy="4968875"/>
          </a:xfrm>
        </p:spPr>
        <p:txBody>
          <a:bodyPr/>
          <a:lstStyle/>
          <a:p>
            <a:pPr eaLnBrk="1" hangingPunct="1">
              <a:lnSpc>
                <a:spcPct val="80000"/>
              </a:lnSpc>
              <a:buFontTx/>
              <a:buNone/>
              <a:defRPr/>
            </a:pPr>
            <a:r>
              <a:rPr lang="en-AU" sz="2400">
                <a:latin typeface="Comic Sans MS" charset="0"/>
                <a:cs typeface="+mn-cs"/>
              </a:rPr>
              <a:t>class MPrinter implements Runnable{</a:t>
            </a:r>
          </a:p>
          <a:p>
            <a:pPr eaLnBrk="1" hangingPunct="1">
              <a:lnSpc>
                <a:spcPct val="80000"/>
              </a:lnSpc>
              <a:buFontTx/>
              <a:buNone/>
              <a:defRPr/>
            </a:pPr>
            <a:r>
              <a:rPr lang="en-AU" sz="2400">
                <a:latin typeface="Comic Sans MS" charset="0"/>
                <a:cs typeface="+mn-cs"/>
              </a:rPr>
              <a:t>	String message;</a:t>
            </a:r>
          </a:p>
          <a:p>
            <a:pPr eaLnBrk="1" hangingPunct="1">
              <a:lnSpc>
                <a:spcPct val="80000"/>
              </a:lnSpc>
              <a:buFontTx/>
              <a:buNone/>
              <a:defRPr/>
            </a:pPr>
            <a:r>
              <a:rPr lang="en-AU" sz="2400">
                <a:latin typeface="Comic Sans MS" charset="0"/>
                <a:cs typeface="+mn-cs"/>
              </a:rPr>
              <a:t>	public MPrinter(String m){</a:t>
            </a:r>
          </a:p>
          <a:p>
            <a:pPr eaLnBrk="1" hangingPunct="1">
              <a:lnSpc>
                <a:spcPct val="80000"/>
              </a:lnSpc>
              <a:buFontTx/>
              <a:buNone/>
              <a:defRPr/>
            </a:pPr>
            <a:r>
              <a:rPr lang="en-AU" sz="2400">
                <a:latin typeface="Comic Sans MS" charset="0"/>
                <a:cs typeface="+mn-cs"/>
              </a:rPr>
              <a:t>		message = m;</a:t>
            </a:r>
          </a:p>
          <a:p>
            <a:pPr eaLnBrk="1" hangingPunct="1">
              <a:lnSpc>
                <a:spcPct val="80000"/>
              </a:lnSpc>
              <a:buFontTx/>
              <a:buNone/>
              <a:defRPr/>
            </a:pPr>
            <a:r>
              <a:rPr lang="en-AU" sz="2400">
                <a:latin typeface="Comic Sans MS" charset="0"/>
                <a:cs typeface="+mn-cs"/>
              </a:rPr>
              <a:t>	}</a:t>
            </a:r>
          </a:p>
          <a:p>
            <a:pPr eaLnBrk="1" hangingPunct="1">
              <a:lnSpc>
                <a:spcPct val="80000"/>
              </a:lnSpc>
              <a:buFontTx/>
              <a:buNone/>
              <a:defRPr/>
            </a:pPr>
            <a:r>
              <a:rPr lang="en-AU" sz="2400">
                <a:latin typeface="Comic Sans MS" charset="0"/>
                <a:cs typeface="+mn-cs"/>
              </a:rPr>
              <a:t>	public void run(){</a:t>
            </a:r>
          </a:p>
          <a:p>
            <a:pPr eaLnBrk="1" hangingPunct="1">
              <a:lnSpc>
                <a:spcPct val="80000"/>
              </a:lnSpc>
              <a:buFontTx/>
              <a:buNone/>
              <a:defRPr/>
            </a:pPr>
            <a:r>
              <a:rPr lang="en-AU" sz="2400">
                <a:latin typeface="Comic Sans MS" charset="0"/>
                <a:cs typeface="+mn-cs"/>
              </a:rPr>
              <a:t>		while(true){</a:t>
            </a:r>
          </a:p>
          <a:p>
            <a:pPr eaLnBrk="1" hangingPunct="1">
              <a:lnSpc>
                <a:spcPct val="80000"/>
              </a:lnSpc>
              <a:buFontTx/>
              <a:buNone/>
              <a:defRPr/>
            </a:pPr>
            <a:r>
              <a:rPr lang="en-AU" sz="2400">
                <a:latin typeface="Comic Sans MS" charset="0"/>
                <a:cs typeface="+mn-cs"/>
              </a:rPr>
              <a:t>			System.out.println(message);</a:t>
            </a:r>
          </a:p>
          <a:p>
            <a:pPr eaLnBrk="1" hangingPunct="1">
              <a:lnSpc>
                <a:spcPct val="80000"/>
              </a:lnSpc>
              <a:buFontTx/>
              <a:buNone/>
              <a:defRPr/>
            </a:pPr>
            <a:r>
              <a:rPr lang="en-AU" sz="2400">
                <a:latin typeface="Comic Sans MS" charset="0"/>
                <a:cs typeface="+mn-cs"/>
              </a:rPr>
              <a:t>			Thread.yield();</a:t>
            </a:r>
          </a:p>
          <a:p>
            <a:pPr eaLnBrk="1" hangingPunct="1">
              <a:lnSpc>
                <a:spcPct val="80000"/>
              </a:lnSpc>
              <a:buFontTx/>
              <a:buNone/>
              <a:defRPr/>
            </a:pPr>
            <a:r>
              <a:rPr lang="en-AU" sz="2400">
                <a:latin typeface="Comic Sans MS" charset="0"/>
                <a:cs typeface="+mn-cs"/>
              </a:rPr>
              <a:t>		}</a:t>
            </a:r>
          </a:p>
          <a:p>
            <a:pPr eaLnBrk="1" hangingPunct="1">
              <a:lnSpc>
                <a:spcPct val="80000"/>
              </a:lnSpc>
              <a:buFontTx/>
              <a:buNone/>
              <a:defRPr/>
            </a:pPr>
            <a:r>
              <a:rPr lang="en-AU" sz="2400">
                <a:latin typeface="Comic Sans MS" charset="0"/>
                <a:cs typeface="+mn-cs"/>
              </a:rPr>
              <a:t>	}</a:t>
            </a:r>
          </a:p>
          <a:p>
            <a:pPr eaLnBrk="1" hangingPunct="1">
              <a:lnSpc>
                <a:spcPct val="80000"/>
              </a:lnSpc>
              <a:buFontTx/>
              <a:buNone/>
              <a:defRPr/>
            </a:pPr>
            <a:r>
              <a:rPr lang="en-AU" sz="2400">
                <a:latin typeface="Comic Sans MS" charset="0"/>
                <a:cs typeface="+mn-cs"/>
              </a:rPr>
              <a:t>}</a:t>
            </a:r>
            <a:endParaRPr lang="en-US" sz="2400">
              <a:latin typeface="Comic Sans MS" charset="0"/>
              <a:cs typeface="+mn-cs"/>
            </a:endParaRPr>
          </a:p>
          <a:p>
            <a:pPr eaLnBrk="1" hangingPunct="1">
              <a:lnSpc>
                <a:spcPct val="80000"/>
              </a:lnSpc>
              <a:defRPr/>
            </a:pPr>
            <a:endParaRPr lang="en-US" sz="1600">
              <a:cs typeface="+mn-cs"/>
            </a:endParaRPr>
          </a:p>
        </p:txBody>
      </p:sp>
    </p:spTree>
    <p:extLst>
      <p:ext uri="{BB962C8B-B14F-4D97-AF65-F5344CB8AC3E}">
        <p14:creationId xmlns:p14="http://schemas.microsoft.com/office/powerpoint/2010/main" val="36308735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809EE563-262F-8C4A-AAF5-D9F73C79B898}" type="slidenum">
              <a:rPr lang="en-US"/>
              <a:pPr>
                <a:defRPr/>
              </a:pPr>
              <a:t>65</a:t>
            </a:fld>
            <a:endParaRPr lang="en-US"/>
          </a:p>
        </p:txBody>
      </p:sp>
      <p:sp>
        <p:nvSpPr>
          <p:cNvPr id="36866"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36867" name="Rectangle 3"/>
          <p:cNvSpPr>
            <a:spLocks noGrp="1" noChangeArrowheads="1"/>
          </p:cNvSpPr>
          <p:nvPr>
            <p:ph type="body" idx="1"/>
          </p:nvPr>
        </p:nvSpPr>
        <p:spPr>
          <a:xfrm>
            <a:off x="468313" y="908050"/>
            <a:ext cx="8229600" cy="5184775"/>
          </a:xfrm>
        </p:spPr>
        <p:txBody>
          <a:bodyPr/>
          <a:lstStyle/>
          <a:p>
            <a:pPr eaLnBrk="1" hangingPunct="1">
              <a:lnSpc>
                <a:spcPct val="80000"/>
              </a:lnSpc>
              <a:buFontTx/>
              <a:buNone/>
              <a:defRPr/>
            </a:pPr>
            <a:endParaRPr lang="en-AU" sz="2400">
              <a:latin typeface="Comic Sans MS" charset="0"/>
              <a:cs typeface="+mn-cs"/>
            </a:endParaRPr>
          </a:p>
          <a:p>
            <a:pPr eaLnBrk="1" hangingPunct="1">
              <a:lnSpc>
                <a:spcPct val="80000"/>
              </a:lnSpc>
              <a:buFontTx/>
              <a:buNone/>
              <a:defRPr/>
            </a:pPr>
            <a:endParaRPr lang="en-AU" sz="2400">
              <a:latin typeface="Comic Sans MS" charset="0"/>
              <a:cs typeface="+mn-cs"/>
            </a:endParaRPr>
          </a:p>
          <a:p>
            <a:pPr eaLnBrk="1" hangingPunct="1">
              <a:lnSpc>
                <a:spcPct val="80000"/>
              </a:lnSpc>
              <a:buFontTx/>
              <a:buNone/>
              <a:defRPr/>
            </a:pPr>
            <a:r>
              <a:rPr lang="en-AU" sz="2400">
                <a:latin typeface="Comic Sans MS" charset="0"/>
                <a:cs typeface="+mn-cs"/>
              </a:rPr>
              <a:t>class AlternatingTest{</a:t>
            </a:r>
          </a:p>
          <a:p>
            <a:pPr eaLnBrk="1" hangingPunct="1">
              <a:lnSpc>
                <a:spcPct val="80000"/>
              </a:lnSpc>
              <a:buFontTx/>
              <a:buNone/>
              <a:defRPr/>
            </a:pPr>
            <a:r>
              <a:rPr lang="en-AU" sz="2400">
                <a:latin typeface="Comic Sans MS" charset="0"/>
                <a:cs typeface="+mn-cs"/>
              </a:rPr>
              <a:t>	</a:t>
            </a:r>
          </a:p>
          <a:p>
            <a:pPr eaLnBrk="1" hangingPunct="1">
              <a:lnSpc>
                <a:spcPct val="80000"/>
              </a:lnSpc>
              <a:buFontTx/>
              <a:buNone/>
              <a:defRPr/>
            </a:pPr>
            <a:r>
              <a:rPr lang="en-AU" sz="2400">
                <a:latin typeface="Comic Sans MS" charset="0"/>
                <a:cs typeface="+mn-cs"/>
              </a:rPr>
              <a:t>  public static void main(String args[]){</a:t>
            </a:r>
          </a:p>
          <a:p>
            <a:pPr eaLnBrk="1" hangingPunct="1">
              <a:lnSpc>
                <a:spcPct val="80000"/>
              </a:lnSpc>
              <a:buFontTx/>
              <a:buNone/>
              <a:defRPr/>
            </a:pPr>
            <a:endParaRPr lang="en-AU" sz="2400">
              <a:latin typeface="Comic Sans MS" charset="0"/>
              <a:cs typeface="+mn-cs"/>
            </a:endParaRPr>
          </a:p>
          <a:p>
            <a:pPr eaLnBrk="1" hangingPunct="1">
              <a:lnSpc>
                <a:spcPct val="80000"/>
              </a:lnSpc>
              <a:buFontTx/>
              <a:buNone/>
              <a:defRPr/>
            </a:pPr>
            <a:r>
              <a:rPr lang="en-AU" sz="2400">
                <a:latin typeface="Comic Sans MS" charset="0"/>
                <a:cs typeface="+mn-cs"/>
              </a:rPr>
              <a:t>	new Thread(new MPrinter("It's Joe here")).start();</a:t>
            </a:r>
          </a:p>
          <a:p>
            <a:pPr eaLnBrk="1" hangingPunct="1">
              <a:lnSpc>
                <a:spcPct val="80000"/>
              </a:lnSpc>
              <a:buFontTx/>
              <a:buNone/>
              <a:defRPr/>
            </a:pPr>
            <a:r>
              <a:rPr lang="en-AU" sz="2400">
                <a:latin typeface="Comic Sans MS" charset="0"/>
                <a:cs typeface="+mn-cs"/>
              </a:rPr>
              <a:t>	new Thread(new MPrinter("It's Donal here")).start();</a:t>
            </a:r>
          </a:p>
          <a:p>
            <a:pPr eaLnBrk="1" hangingPunct="1">
              <a:lnSpc>
                <a:spcPct val="80000"/>
              </a:lnSpc>
              <a:buFontTx/>
              <a:buNone/>
              <a:defRPr/>
            </a:pPr>
            <a:r>
              <a:rPr lang="en-AU" sz="2400">
                <a:latin typeface="Comic Sans MS" charset="0"/>
                <a:cs typeface="+mn-cs"/>
              </a:rPr>
              <a:t>		</a:t>
            </a:r>
          </a:p>
          <a:p>
            <a:pPr eaLnBrk="1" hangingPunct="1">
              <a:lnSpc>
                <a:spcPct val="80000"/>
              </a:lnSpc>
              <a:buFontTx/>
              <a:buNone/>
              <a:defRPr/>
            </a:pPr>
            <a:r>
              <a:rPr lang="en-AU" sz="2400">
                <a:latin typeface="Comic Sans MS" charset="0"/>
                <a:cs typeface="+mn-cs"/>
              </a:rPr>
              <a:t>  }</a:t>
            </a:r>
          </a:p>
          <a:p>
            <a:pPr eaLnBrk="1" hangingPunct="1">
              <a:lnSpc>
                <a:spcPct val="80000"/>
              </a:lnSpc>
              <a:buFontTx/>
              <a:buNone/>
              <a:defRPr/>
            </a:pPr>
            <a:r>
              <a:rPr lang="en-AU" sz="2400">
                <a:latin typeface="Comic Sans MS" charset="0"/>
                <a:cs typeface="+mn-cs"/>
              </a:rPr>
              <a:t>}</a:t>
            </a:r>
          </a:p>
        </p:txBody>
      </p:sp>
    </p:spTree>
    <p:extLst>
      <p:ext uri="{BB962C8B-B14F-4D97-AF65-F5344CB8AC3E}">
        <p14:creationId xmlns:p14="http://schemas.microsoft.com/office/powerpoint/2010/main" val="37695104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Thread States</a:t>
            </a:r>
          </a:p>
        </p:txBody>
      </p:sp>
      <p:sp>
        <p:nvSpPr>
          <p:cNvPr id="3" name="Content Placeholder 2"/>
          <p:cNvSpPr>
            <a:spLocks noGrp="1"/>
          </p:cNvSpPr>
          <p:nvPr>
            <p:ph idx="1"/>
          </p:nvPr>
        </p:nvSpPr>
        <p:spPr/>
        <p:txBody>
          <a:bodyPr/>
          <a:lstStyle/>
          <a:p>
            <a:r>
              <a:rPr lang="en-IE" dirty="0"/>
              <a:t>NEW</a:t>
            </a:r>
          </a:p>
          <a:p>
            <a:r>
              <a:rPr lang="en-IE" dirty="0"/>
              <a:t>RUNNABLE</a:t>
            </a:r>
          </a:p>
          <a:p>
            <a:r>
              <a:rPr lang="en-IE" dirty="0"/>
              <a:t>BLOCKED</a:t>
            </a:r>
          </a:p>
          <a:p>
            <a:r>
              <a:rPr lang="en-IE" dirty="0"/>
              <a:t>WAITING</a:t>
            </a:r>
          </a:p>
          <a:p>
            <a:r>
              <a:rPr lang="en-IE" dirty="0"/>
              <a:t>TIME_WAITING</a:t>
            </a:r>
          </a:p>
          <a:p>
            <a:r>
              <a:rPr lang="en-IE" dirty="0"/>
              <a:t>TERMINATED</a:t>
            </a:r>
          </a:p>
          <a:p>
            <a:endParaRPr lang="en-IE" dirty="0"/>
          </a:p>
          <a:p>
            <a:pPr>
              <a:buNone/>
            </a:pPr>
            <a:r>
              <a:rPr lang="en-IE" dirty="0"/>
              <a:t>(States form an enumerated class)</a:t>
            </a:r>
          </a:p>
        </p:txBody>
      </p:sp>
      <p:sp>
        <p:nvSpPr>
          <p:cNvPr id="6" name="Slide Number Placeholder 5">
            <a:extLst>
              <a:ext uri="{FF2B5EF4-FFF2-40B4-BE49-F238E27FC236}">
                <a16:creationId xmlns:a16="http://schemas.microsoft.com/office/drawing/2014/main" id="{56B84183-DA6C-4885-8DE1-06DC501A7893}"/>
              </a:ext>
            </a:extLst>
          </p:cNvPr>
          <p:cNvSpPr>
            <a:spLocks noGrp="1"/>
          </p:cNvSpPr>
          <p:nvPr>
            <p:ph type="sldNum" sz="quarter" idx="12"/>
          </p:nvPr>
        </p:nvSpPr>
        <p:spPr/>
        <p:txBody>
          <a:bodyPr/>
          <a:lstStyle/>
          <a:p>
            <a:fld id="{26944F6C-7B8C-1F48-9BFD-FC1F35051F46}" type="slidenum">
              <a:rPr lang="en-US" smtClean="0"/>
              <a:p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pPr>
              <a:buNone/>
            </a:pPr>
            <a:r>
              <a:rPr lang="en-US" dirty="0">
                <a:latin typeface="Comic Sans MS" pitchFamily="66" charset="0"/>
              </a:rPr>
              <a:t>class T1 extends Thread{</a:t>
            </a:r>
            <a:endParaRPr lang="en-IE" dirty="0">
              <a:latin typeface="Comic Sans MS" pitchFamily="66" charset="0"/>
            </a:endParaRPr>
          </a:p>
          <a:p>
            <a:pPr>
              <a:buNone/>
            </a:pPr>
            <a:r>
              <a:rPr lang="en-US" dirty="0">
                <a:latin typeface="Comic Sans MS" pitchFamily="66" charset="0"/>
              </a:rPr>
              <a:t>  public void run(){</a:t>
            </a:r>
            <a:endParaRPr lang="en-IE" dirty="0">
              <a:latin typeface="Comic Sans MS" pitchFamily="66" charset="0"/>
            </a:endParaRPr>
          </a:p>
          <a:p>
            <a:pPr>
              <a:buNone/>
            </a:pPr>
            <a:r>
              <a:rPr lang="en-US" dirty="0">
                <a:latin typeface="Comic Sans MS" pitchFamily="66" charset="0"/>
              </a:rPr>
              <a:t>    try{</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this.sleep</a:t>
            </a:r>
            <a:r>
              <a:rPr lang="en-US" dirty="0">
                <a:latin typeface="Comic Sans MS" pitchFamily="66" charset="0"/>
              </a:rPr>
              <a:t>(4000);</a:t>
            </a:r>
            <a:endParaRPr lang="en-IE" dirty="0">
              <a:latin typeface="Comic Sans MS" pitchFamily="66" charset="0"/>
            </a:endParaRPr>
          </a:p>
          <a:p>
            <a:pPr>
              <a:buNone/>
            </a:pPr>
            <a:r>
              <a:rPr lang="en-US" dirty="0">
                <a:latin typeface="Comic Sans MS" pitchFamily="66" charset="0"/>
              </a:rPr>
              <a:t>    }catch(</a:t>
            </a:r>
            <a:r>
              <a:rPr lang="en-US" dirty="0" err="1">
                <a:latin typeface="Comic Sans MS" pitchFamily="66" charset="0"/>
              </a:rPr>
              <a:t>InterruptedException</a:t>
            </a:r>
            <a:r>
              <a:rPr lang="en-US" dirty="0">
                <a:latin typeface="Comic Sans MS" pitchFamily="66" charset="0"/>
              </a:rPr>
              <a:t> e){}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a:t>
            </a:r>
            <a:endParaRPr lang="en-IE" dirty="0">
              <a:latin typeface="Comic Sans MS" pitchFamily="66" charset="0"/>
            </a:endParaRPr>
          </a:p>
          <a:p>
            <a:endParaRPr lang="en-IE" dirty="0"/>
          </a:p>
        </p:txBody>
      </p:sp>
      <p:sp>
        <p:nvSpPr>
          <p:cNvPr id="6" name="Slide Number Placeholder 5">
            <a:extLst>
              <a:ext uri="{FF2B5EF4-FFF2-40B4-BE49-F238E27FC236}">
                <a16:creationId xmlns:a16="http://schemas.microsoft.com/office/drawing/2014/main" id="{1A90B052-245A-417A-9250-3EA43E4174A6}"/>
              </a:ext>
            </a:extLst>
          </p:cNvPr>
          <p:cNvSpPr>
            <a:spLocks noGrp="1"/>
          </p:cNvSpPr>
          <p:nvPr>
            <p:ph type="sldNum" sz="quarter" idx="12"/>
          </p:nvPr>
        </p:nvSpPr>
        <p:spPr/>
        <p:txBody>
          <a:bodyPr/>
          <a:lstStyle/>
          <a:p>
            <a:fld id="{26944F6C-7B8C-1F48-9BFD-FC1F35051F46}" type="slidenum">
              <a:rPr lang="en-US" smtClean="0"/>
              <a:p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fontScale="77500" lnSpcReduction="20000"/>
          </a:bodyPr>
          <a:lstStyle/>
          <a:p>
            <a:pPr>
              <a:buNone/>
            </a:pPr>
            <a:r>
              <a:rPr lang="en-US" dirty="0">
                <a:latin typeface="Comic Sans MS" pitchFamily="66" charset="0"/>
              </a:rPr>
              <a:t>public static void main(String </a:t>
            </a:r>
            <a:r>
              <a:rPr lang="en-US" dirty="0" err="1">
                <a:latin typeface="Comic Sans MS" pitchFamily="66" charset="0"/>
              </a:rPr>
              <a:t>args</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Thread t = new T1();</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System.out.println</a:t>
            </a:r>
            <a:r>
              <a:rPr lang="en-US" dirty="0">
                <a:latin typeface="Comic Sans MS" pitchFamily="66" charset="0"/>
              </a:rPr>
              <a:t>(</a:t>
            </a:r>
            <a:r>
              <a:rPr lang="en-US" dirty="0" err="1">
                <a:latin typeface="Comic Sans MS" pitchFamily="66" charset="0"/>
              </a:rPr>
              <a:t>t.getState</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t.start</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System.out.println</a:t>
            </a:r>
            <a:r>
              <a:rPr lang="en-US" dirty="0">
                <a:latin typeface="Comic Sans MS" pitchFamily="66" charset="0"/>
              </a:rPr>
              <a:t>(</a:t>
            </a:r>
            <a:r>
              <a:rPr lang="en-US" dirty="0" err="1">
                <a:latin typeface="Comic Sans MS" pitchFamily="66" charset="0"/>
              </a:rPr>
              <a:t>t.getState</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try{</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Thread.sleep</a:t>
            </a:r>
            <a:r>
              <a:rPr lang="en-US" dirty="0">
                <a:latin typeface="Comic Sans MS" pitchFamily="66" charset="0"/>
              </a:rPr>
              <a:t>(1000);</a:t>
            </a:r>
            <a:endParaRPr lang="en-IE" dirty="0">
              <a:latin typeface="Comic Sans MS" pitchFamily="66" charset="0"/>
            </a:endParaRPr>
          </a:p>
          <a:p>
            <a:pPr>
              <a:buNone/>
            </a:pPr>
            <a:r>
              <a:rPr lang="en-US" dirty="0">
                <a:latin typeface="Comic Sans MS" pitchFamily="66" charset="0"/>
              </a:rPr>
              <a:t>    }catch(</a:t>
            </a:r>
            <a:r>
              <a:rPr lang="en-US" dirty="0" err="1">
                <a:latin typeface="Comic Sans MS" pitchFamily="66" charset="0"/>
              </a:rPr>
              <a:t>InterruptedException</a:t>
            </a:r>
            <a:r>
              <a:rPr lang="en-US" dirty="0">
                <a:latin typeface="Comic Sans MS" pitchFamily="66" charset="0"/>
              </a:rPr>
              <a:t> e){}</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System.out.println</a:t>
            </a:r>
            <a:r>
              <a:rPr lang="en-US" dirty="0">
                <a:latin typeface="Comic Sans MS" pitchFamily="66" charset="0"/>
              </a:rPr>
              <a:t>(</a:t>
            </a:r>
            <a:r>
              <a:rPr lang="en-US" dirty="0" err="1">
                <a:latin typeface="Comic Sans MS" pitchFamily="66" charset="0"/>
              </a:rPr>
              <a:t>t.getState</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try{</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t.join</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}catch(</a:t>
            </a:r>
            <a:r>
              <a:rPr lang="en-US" dirty="0" err="1">
                <a:latin typeface="Comic Sans MS" pitchFamily="66" charset="0"/>
              </a:rPr>
              <a:t>InterruptedException</a:t>
            </a:r>
            <a:r>
              <a:rPr lang="en-US" dirty="0">
                <a:latin typeface="Comic Sans MS" pitchFamily="66" charset="0"/>
              </a:rPr>
              <a:t> e){}</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System.out.println</a:t>
            </a:r>
            <a:r>
              <a:rPr lang="en-US" dirty="0">
                <a:latin typeface="Comic Sans MS" pitchFamily="66" charset="0"/>
              </a:rPr>
              <a:t>(</a:t>
            </a:r>
            <a:r>
              <a:rPr lang="en-US" dirty="0" err="1">
                <a:latin typeface="Comic Sans MS" pitchFamily="66" charset="0"/>
              </a:rPr>
              <a:t>t.getState</a:t>
            </a: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a:t>
            </a:r>
            <a:endParaRPr lang="en-IE" dirty="0">
              <a:latin typeface="Comic Sans MS" pitchFamily="66" charset="0"/>
            </a:endParaRPr>
          </a:p>
          <a:p>
            <a:endParaRPr lang="en-IE" dirty="0"/>
          </a:p>
        </p:txBody>
      </p:sp>
      <p:sp>
        <p:nvSpPr>
          <p:cNvPr id="6" name="Slide Number Placeholder 5">
            <a:extLst>
              <a:ext uri="{FF2B5EF4-FFF2-40B4-BE49-F238E27FC236}">
                <a16:creationId xmlns:a16="http://schemas.microsoft.com/office/drawing/2014/main" id="{E87CDF1A-83C9-42FD-A0E4-97D01CEDACF5}"/>
              </a:ext>
            </a:extLst>
          </p:cNvPr>
          <p:cNvSpPr>
            <a:spLocks noGrp="1"/>
          </p:cNvSpPr>
          <p:nvPr>
            <p:ph type="sldNum" sz="quarter" idx="12"/>
          </p:nvPr>
        </p:nvSpPr>
        <p:spPr/>
        <p:txBody>
          <a:bodyPr/>
          <a:lstStyle/>
          <a:p>
            <a:fld id="{26944F6C-7B8C-1F48-9BFD-FC1F35051F46}" type="slidenum">
              <a:rPr lang="en-US" smtClean="0"/>
              <a:p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A1964EBE-675B-F448-87DC-FE8154DE4778}" type="slidenum">
              <a:rPr lang="en-US"/>
              <a:pPr>
                <a:defRPr/>
              </a:pPr>
              <a:t>69</a:t>
            </a:fld>
            <a:endParaRPr lang="en-US"/>
          </a:p>
        </p:txBody>
      </p:sp>
      <p:sp>
        <p:nvSpPr>
          <p:cNvPr id="39938" name="Rectangle 2"/>
          <p:cNvSpPr>
            <a:spLocks noGrp="1" noChangeArrowheads="1"/>
          </p:cNvSpPr>
          <p:nvPr>
            <p:ph type="title"/>
          </p:nvPr>
        </p:nvSpPr>
        <p:spPr/>
        <p:txBody>
          <a:bodyPr>
            <a:normAutofit fontScale="90000"/>
          </a:bodyPr>
          <a:lstStyle/>
          <a:p>
            <a:pPr eaLnBrk="1" hangingPunct="1">
              <a:defRPr/>
            </a:pPr>
            <a:r>
              <a:rPr lang="en-GB" dirty="0">
                <a:cs typeface="+mj-cs"/>
              </a:rPr>
              <a:t>Thread Priority</a:t>
            </a:r>
            <a:endParaRPr lang="en-US" dirty="0">
              <a:cs typeface="+mj-cs"/>
            </a:endParaRPr>
          </a:p>
        </p:txBody>
      </p:sp>
      <p:sp>
        <p:nvSpPr>
          <p:cNvPr id="39939" name="Rectangle 3"/>
          <p:cNvSpPr>
            <a:spLocks noGrp="1" noChangeArrowheads="1"/>
          </p:cNvSpPr>
          <p:nvPr>
            <p:ph type="body" idx="1"/>
          </p:nvPr>
        </p:nvSpPr>
        <p:spPr>
          <a:xfrm>
            <a:off x="468313" y="981075"/>
            <a:ext cx="8229600" cy="5111750"/>
          </a:xfrm>
        </p:spPr>
        <p:txBody>
          <a:bodyPr/>
          <a:lstStyle/>
          <a:p>
            <a:pPr eaLnBrk="1" hangingPunct="1">
              <a:lnSpc>
                <a:spcPct val="90000"/>
              </a:lnSpc>
              <a:defRPr/>
            </a:pPr>
            <a:r>
              <a:rPr lang="en-AU" sz="2800">
                <a:cs typeface="+mn-cs"/>
              </a:rPr>
              <a:t>Each thread is given a priority value. </a:t>
            </a:r>
          </a:p>
          <a:p>
            <a:pPr lvl="1" eaLnBrk="1" hangingPunct="1">
              <a:lnSpc>
                <a:spcPct val="90000"/>
              </a:lnSpc>
              <a:defRPr/>
            </a:pPr>
            <a:r>
              <a:rPr lang="en-AU" sz="2400"/>
              <a:t>Threads with higher priority values are usually given precedence over threads with lower priority values. </a:t>
            </a:r>
          </a:p>
          <a:p>
            <a:pPr lvl="1" eaLnBrk="1" hangingPunct="1">
              <a:lnSpc>
                <a:spcPct val="90000"/>
              </a:lnSpc>
              <a:defRPr/>
            </a:pPr>
            <a:r>
              <a:rPr lang="en-AU" sz="2400"/>
              <a:t>When threads are created they are given the same priority as the thread that constructed them. </a:t>
            </a:r>
          </a:p>
          <a:p>
            <a:pPr lvl="1" eaLnBrk="1" hangingPunct="1">
              <a:lnSpc>
                <a:spcPct val="90000"/>
              </a:lnSpc>
              <a:defRPr/>
            </a:pPr>
            <a:r>
              <a:rPr lang="en-AU" sz="2400"/>
              <a:t>However, the underlying operating system can influence the order in which threads are executed. </a:t>
            </a:r>
          </a:p>
          <a:p>
            <a:pPr lvl="1" eaLnBrk="1" hangingPunct="1">
              <a:lnSpc>
                <a:spcPct val="90000"/>
              </a:lnSpc>
              <a:defRPr/>
            </a:pPr>
            <a:r>
              <a:rPr lang="en-AU" sz="2400"/>
              <a:t>In Java there are 10 different priority values. The range is 1..10. </a:t>
            </a:r>
          </a:p>
          <a:p>
            <a:pPr lvl="1" eaLnBrk="1" hangingPunct="1">
              <a:lnSpc>
                <a:spcPct val="90000"/>
              </a:lnSpc>
              <a:defRPr/>
            </a:pPr>
            <a:r>
              <a:rPr lang="en-AU" sz="2400"/>
              <a:t>There are three priority constants. These are </a:t>
            </a:r>
            <a:r>
              <a:rPr lang="en-AU" sz="2400">
                <a:latin typeface="Comic Sans MS" charset="0"/>
              </a:rPr>
              <a:t>Thread.MAX_PRIORITY</a:t>
            </a:r>
            <a:r>
              <a:rPr lang="en-AU" sz="2400"/>
              <a:t>, </a:t>
            </a:r>
            <a:r>
              <a:rPr lang="en-AU" sz="2400">
                <a:latin typeface="Comic Sans MS" charset="0"/>
              </a:rPr>
              <a:t>Thread.NORM_PRIORITY,</a:t>
            </a:r>
            <a:r>
              <a:rPr lang="en-AU" sz="2400"/>
              <a:t> </a:t>
            </a:r>
            <a:r>
              <a:rPr lang="en-AU" sz="2400">
                <a:latin typeface="Comic Sans MS" charset="0"/>
              </a:rPr>
              <a:t>Thread.MIN_PRIORITY</a:t>
            </a:r>
            <a:r>
              <a:rPr lang="en-AU" sz="2400"/>
              <a:t>. </a:t>
            </a:r>
            <a:endParaRPr lang="en-US" sz="2400"/>
          </a:p>
        </p:txBody>
      </p:sp>
    </p:spTree>
    <p:extLst>
      <p:ext uri="{BB962C8B-B14F-4D97-AF65-F5344CB8AC3E}">
        <p14:creationId xmlns:p14="http://schemas.microsoft.com/office/powerpoint/2010/main" val="6267068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FD0A71C-44AD-764C-B2B5-764880CDD7E0}" type="slidenum">
              <a:rPr lang="en-US"/>
              <a:pPr>
                <a:defRPr/>
              </a:pPr>
              <a:t>70</a:t>
            </a:fld>
            <a:endParaRPr lang="en-US"/>
          </a:p>
        </p:txBody>
      </p:sp>
      <p:sp>
        <p:nvSpPr>
          <p:cNvPr id="40962"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40963" name="Rectangle 3"/>
          <p:cNvSpPr>
            <a:spLocks noGrp="1" noChangeArrowheads="1"/>
          </p:cNvSpPr>
          <p:nvPr>
            <p:ph type="body" idx="1"/>
          </p:nvPr>
        </p:nvSpPr>
        <p:spPr>
          <a:xfrm>
            <a:off x="539750" y="981075"/>
            <a:ext cx="8229600" cy="5111750"/>
          </a:xfrm>
        </p:spPr>
        <p:txBody>
          <a:bodyPr/>
          <a:lstStyle/>
          <a:p>
            <a:pPr eaLnBrk="1" hangingPunct="1">
              <a:defRPr/>
            </a:pPr>
            <a:r>
              <a:rPr lang="en-GB">
                <a:cs typeface="+mn-cs"/>
              </a:rPr>
              <a:t>Methods:</a:t>
            </a:r>
          </a:p>
          <a:p>
            <a:pPr eaLnBrk="1" hangingPunct="1">
              <a:defRPr/>
            </a:pPr>
            <a:endParaRPr lang="en-GB">
              <a:cs typeface="+mn-cs"/>
            </a:endParaRPr>
          </a:p>
          <a:p>
            <a:pPr lvl="1" eaLnBrk="1" hangingPunct="1">
              <a:buFontTx/>
              <a:buNone/>
              <a:defRPr/>
            </a:pPr>
            <a:r>
              <a:rPr lang="en-AU">
                <a:latin typeface="Comic Sans MS" charset="0"/>
              </a:rPr>
              <a:t>setPriority(int p) </a:t>
            </a:r>
          </a:p>
          <a:p>
            <a:pPr lvl="1" eaLnBrk="1" hangingPunct="1">
              <a:buFontTx/>
              <a:buNone/>
              <a:defRPr/>
            </a:pPr>
            <a:r>
              <a:rPr lang="en-AU">
                <a:latin typeface="Comic Sans MS" charset="0"/>
              </a:rPr>
              <a:t>				- p&gt;=1 &amp;&amp; p &lt;=10</a:t>
            </a:r>
            <a:r>
              <a:rPr lang="en-US">
                <a:latin typeface="Comic Sans MS" charset="0"/>
              </a:rPr>
              <a:t> </a:t>
            </a:r>
          </a:p>
          <a:p>
            <a:pPr lvl="1" eaLnBrk="1" hangingPunct="1">
              <a:buFontTx/>
              <a:buNone/>
              <a:defRPr/>
            </a:pPr>
            <a:r>
              <a:rPr lang="en-AU">
                <a:latin typeface="Comic Sans MS" charset="0"/>
              </a:rPr>
              <a:t>getPriority()</a:t>
            </a:r>
            <a:r>
              <a:rPr lang="en-US">
                <a:latin typeface="Comic Sans MS" charset="0"/>
              </a:rPr>
              <a:t> </a:t>
            </a:r>
          </a:p>
        </p:txBody>
      </p:sp>
    </p:spTree>
    <p:extLst>
      <p:ext uri="{BB962C8B-B14F-4D97-AF65-F5344CB8AC3E}">
        <p14:creationId xmlns:p14="http://schemas.microsoft.com/office/powerpoint/2010/main" val="36587692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947EB13-1CC1-D645-8F43-F82DBCCBE8EA}" type="slidenum">
              <a:rPr lang="en-US"/>
              <a:pPr>
                <a:defRPr/>
              </a:pPr>
              <a:t>71</a:t>
            </a:fld>
            <a:endParaRPr lang="en-US"/>
          </a:p>
        </p:txBody>
      </p:sp>
      <p:sp>
        <p:nvSpPr>
          <p:cNvPr id="41986" name="Rectangle 2"/>
          <p:cNvSpPr>
            <a:spLocks noGrp="1" noChangeArrowheads="1"/>
          </p:cNvSpPr>
          <p:nvPr>
            <p:ph type="title"/>
          </p:nvPr>
        </p:nvSpPr>
        <p:spPr/>
        <p:txBody>
          <a:bodyPr>
            <a:normAutofit fontScale="90000"/>
          </a:bodyPr>
          <a:lstStyle/>
          <a:p>
            <a:pPr eaLnBrk="1" hangingPunct="1">
              <a:defRPr/>
            </a:pPr>
            <a:r>
              <a:rPr lang="en-GB">
                <a:cs typeface="+mj-cs"/>
              </a:rPr>
              <a:t>Threads</a:t>
            </a:r>
            <a:endParaRPr lang="en-US">
              <a:cs typeface="+mj-cs"/>
            </a:endParaRPr>
          </a:p>
        </p:txBody>
      </p:sp>
      <p:sp>
        <p:nvSpPr>
          <p:cNvPr id="41987" name="Rectangle 3"/>
          <p:cNvSpPr>
            <a:spLocks noGrp="1" noChangeArrowheads="1"/>
          </p:cNvSpPr>
          <p:nvPr>
            <p:ph type="body" idx="1"/>
          </p:nvPr>
        </p:nvSpPr>
        <p:spPr>
          <a:xfrm>
            <a:off x="468313" y="981075"/>
            <a:ext cx="8229600" cy="5111750"/>
          </a:xfrm>
        </p:spPr>
        <p:txBody>
          <a:bodyPr/>
          <a:lstStyle/>
          <a:p>
            <a:pPr eaLnBrk="1" hangingPunct="1">
              <a:lnSpc>
                <a:spcPct val="90000"/>
              </a:lnSpc>
              <a:buFontTx/>
              <a:buNone/>
              <a:defRPr/>
            </a:pPr>
            <a:r>
              <a:rPr lang="en-AU" sz="2400">
                <a:latin typeface="Comic Sans MS" charset="0"/>
                <a:cs typeface="+mn-cs"/>
              </a:rPr>
              <a:t>class ShowPriority implements Runnable{</a:t>
            </a:r>
          </a:p>
          <a:p>
            <a:pPr eaLnBrk="1" hangingPunct="1">
              <a:lnSpc>
                <a:spcPct val="90000"/>
              </a:lnSpc>
              <a:buFontTx/>
              <a:buNone/>
              <a:defRPr/>
            </a:pPr>
            <a:r>
              <a:rPr lang="en-AU" sz="2400">
                <a:latin typeface="Comic Sans MS" charset="0"/>
                <a:cs typeface="+mn-cs"/>
              </a:rPr>
              <a:t>	// a thread that displays its name and priority</a:t>
            </a:r>
          </a:p>
          <a:p>
            <a:pPr eaLnBrk="1" hangingPunct="1">
              <a:lnSpc>
                <a:spcPct val="90000"/>
              </a:lnSpc>
              <a:buFontTx/>
              <a:buNone/>
              <a:defRPr/>
            </a:pPr>
            <a:r>
              <a:rPr lang="en-AU" sz="2400">
                <a:latin typeface="Comic Sans MS" charset="0"/>
                <a:cs typeface="+mn-cs"/>
              </a:rPr>
              <a:t>	public ShowPriority(){</a:t>
            </a:r>
          </a:p>
          <a:p>
            <a:pPr eaLnBrk="1" hangingPunct="1">
              <a:lnSpc>
                <a:spcPct val="90000"/>
              </a:lnSpc>
              <a:buFontTx/>
              <a:buNone/>
              <a:defRPr/>
            </a:pPr>
            <a:r>
              <a:rPr lang="en-AU" sz="2400">
                <a:latin typeface="Comic Sans MS" charset="0"/>
                <a:cs typeface="+mn-cs"/>
              </a:rPr>
              <a:t>	}</a:t>
            </a:r>
          </a:p>
          <a:p>
            <a:pPr eaLnBrk="1" hangingPunct="1">
              <a:lnSpc>
                <a:spcPct val="90000"/>
              </a:lnSpc>
              <a:buFontTx/>
              <a:buNone/>
              <a:defRPr/>
            </a:pPr>
            <a:r>
              <a:rPr lang="en-AU" sz="2400">
                <a:latin typeface="Comic Sans MS" charset="0"/>
                <a:cs typeface="+mn-cs"/>
              </a:rPr>
              <a:t>	public void run(){</a:t>
            </a:r>
          </a:p>
          <a:p>
            <a:pPr eaLnBrk="1" hangingPunct="1">
              <a:lnSpc>
                <a:spcPct val="90000"/>
              </a:lnSpc>
              <a:buFontTx/>
              <a:buNone/>
              <a:defRPr/>
            </a:pPr>
            <a:r>
              <a:rPr lang="en-AU" sz="2400">
                <a:latin typeface="Comic Sans MS" charset="0"/>
                <a:cs typeface="+mn-cs"/>
              </a:rPr>
              <a:t>		Thread t = Thread.currentThread();</a:t>
            </a:r>
          </a:p>
          <a:p>
            <a:pPr eaLnBrk="1" hangingPunct="1">
              <a:lnSpc>
                <a:spcPct val="90000"/>
              </a:lnSpc>
              <a:buFontTx/>
              <a:buNone/>
              <a:defRPr/>
            </a:pPr>
            <a:r>
              <a:rPr lang="en-AU" sz="2400">
                <a:latin typeface="Comic Sans MS" charset="0"/>
                <a:cs typeface="+mn-cs"/>
              </a:rPr>
              <a:t>		String name = t.getName();</a:t>
            </a:r>
          </a:p>
          <a:p>
            <a:pPr eaLnBrk="1" hangingPunct="1">
              <a:lnSpc>
                <a:spcPct val="90000"/>
              </a:lnSpc>
              <a:buFontTx/>
              <a:buNone/>
              <a:defRPr/>
            </a:pPr>
            <a:r>
              <a:rPr lang="en-AU" sz="2400">
                <a:latin typeface="Comic Sans MS" charset="0"/>
                <a:cs typeface="+mn-cs"/>
              </a:rPr>
              <a:t>		int p = t.getPriority();</a:t>
            </a:r>
          </a:p>
          <a:p>
            <a:pPr eaLnBrk="1" hangingPunct="1">
              <a:lnSpc>
                <a:spcPct val="90000"/>
              </a:lnSpc>
              <a:buFontTx/>
              <a:buNone/>
              <a:defRPr/>
            </a:pPr>
            <a:r>
              <a:rPr lang="en-AU" sz="2400">
                <a:latin typeface="Comic Sans MS" charset="0"/>
                <a:cs typeface="+mn-cs"/>
              </a:rPr>
              <a:t>		System.out.println("My name is    : "+name);</a:t>
            </a:r>
          </a:p>
          <a:p>
            <a:pPr eaLnBrk="1" hangingPunct="1">
              <a:lnSpc>
                <a:spcPct val="90000"/>
              </a:lnSpc>
              <a:buFontTx/>
              <a:buNone/>
              <a:defRPr/>
            </a:pPr>
            <a:r>
              <a:rPr lang="en-AU" sz="2400">
                <a:latin typeface="Comic Sans MS" charset="0"/>
                <a:cs typeface="+mn-cs"/>
              </a:rPr>
              <a:t>		System.out.println("My priority is: "+p);</a:t>
            </a:r>
          </a:p>
          <a:p>
            <a:pPr eaLnBrk="1" hangingPunct="1">
              <a:lnSpc>
                <a:spcPct val="90000"/>
              </a:lnSpc>
              <a:buFontTx/>
              <a:buNone/>
              <a:defRPr/>
            </a:pPr>
            <a:r>
              <a:rPr lang="en-AU" sz="2400">
                <a:latin typeface="Comic Sans MS" charset="0"/>
                <a:cs typeface="+mn-cs"/>
              </a:rPr>
              <a:t>	}</a:t>
            </a:r>
          </a:p>
          <a:p>
            <a:pPr eaLnBrk="1" hangingPunct="1">
              <a:lnSpc>
                <a:spcPct val="90000"/>
              </a:lnSpc>
              <a:buFontTx/>
              <a:buNone/>
              <a:defRPr/>
            </a:pPr>
            <a:r>
              <a:rPr lang="en-AU" sz="2400">
                <a:latin typeface="Comic Sans MS" charset="0"/>
                <a:cs typeface="+mn-cs"/>
              </a:rPr>
              <a:t>}</a:t>
            </a:r>
            <a:endParaRPr lang="en-US" sz="2400">
              <a:latin typeface="Comic Sans MS" charset="0"/>
              <a:cs typeface="+mn-cs"/>
            </a:endParaRPr>
          </a:p>
        </p:txBody>
      </p:sp>
    </p:spTree>
    <p:extLst>
      <p:ext uri="{BB962C8B-B14F-4D97-AF65-F5344CB8AC3E}">
        <p14:creationId xmlns:p14="http://schemas.microsoft.com/office/powerpoint/2010/main" val="26511700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Stopping a Thread</a:t>
            </a:r>
          </a:p>
        </p:txBody>
      </p:sp>
      <p:sp>
        <p:nvSpPr>
          <p:cNvPr id="3" name="Content Placeholder 2"/>
          <p:cNvSpPr>
            <a:spLocks noGrp="1"/>
          </p:cNvSpPr>
          <p:nvPr>
            <p:ph idx="1"/>
          </p:nvPr>
        </p:nvSpPr>
        <p:spPr/>
        <p:txBody>
          <a:bodyPr/>
          <a:lstStyle/>
          <a:p>
            <a:r>
              <a:rPr lang="en-IE" dirty="0"/>
              <a:t>When </a:t>
            </a:r>
            <a:r>
              <a:rPr lang="en-IE" dirty="0">
                <a:latin typeface="Comic Sans MS" pitchFamily="66" charset="0"/>
              </a:rPr>
              <a:t>run</a:t>
            </a:r>
            <a:r>
              <a:rPr lang="en-IE" dirty="0"/>
              <a:t> method finishes thread normally terminates</a:t>
            </a:r>
          </a:p>
          <a:p>
            <a:endParaRPr lang="en-IE" dirty="0"/>
          </a:p>
          <a:p>
            <a:r>
              <a:rPr lang="en-IE" dirty="0"/>
              <a:t>A </a:t>
            </a:r>
            <a:r>
              <a:rPr lang="en-IE" dirty="0">
                <a:latin typeface="Comic Sans MS" pitchFamily="66" charset="0"/>
              </a:rPr>
              <a:t>return</a:t>
            </a:r>
            <a:r>
              <a:rPr lang="en-IE" dirty="0"/>
              <a:t> executed at any point in code terminates thread</a:t>
            </a:r>
          </a:p>
          <a:p>
            <a:endParaRPr lang="en-IE" dirty="0"/>
          </a:p>
          <a:p>
            <a:r>
              <a:rPr lang="en-IE" dirty="0"/>
              <a:t>User can add a </a:t>
            </a:r>
            <a:r>
              <a:rPr lang="en-IE" b="1" dirty="0"/>
              <a:t>terminate</a:t>
            </a:r>
            <a:r>
              <a:rPr lang="en-IE" dirty="0"/>
              <a:t> method to an inherited thread class</a:t>
            </a:r>
          </a:p>
          <a:p>
            <a:pPr>
              <a:buNone/>
            </a:pPr>
            <a:endParaRPr lang="en-IE" dirty="0"/>
          </a:p>
        </p:txBody>
      </p:sp>
      <p:sp>
        <p:nvSpPr>
          <p:cNvPr id="6" name="Slide Number Placeholder 5">
            <a:extLst>
              <a:ext uri="{FF2B5EF4-FFF2-40B4-BE49-F238E27FC236}">
                <a16:creationId xmlns:a16="http://schemas.microsoft.com/office/drawing/2014/main" id="{FCF8C624-A9E1-4A90-8BE2-3B7EF5F7D7AC}"/>
              </a:ext>
            </a:extLst>
          </p:cNvPr>
          <p:cNvSpPr>
            <a:spLocks noGrp="1"/>
          </p:cNvSpPr>
          <p:nvPr>
            <p:ph type="sldNum" sz="quarter" idx="12"/>
          </p:nvPr>
        </p:nvSpPr>
        <p:spPr/>
        <p:txBody>
          <a:bodyPr/>
          <a:lstStyle/>
          <a:p>
            <a:fld id="{26944F6C-7B8C-1F48-9BFD-FC1F35051F46}" type="slidenum">
              <a:rPr lang="en-US" smtClean="0"/>
              <a:pPr/>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err="1"/>
              <a:t>EggTimer</a:t>
            </a:r>
            <a:endParaRPr lang="en-IE" dirty="0"/>
          </a:p>
        </p:txBody>
      </p:sp>
      <p:sp>
        <p:nvSpPr>
          <p:cNvPr id="3" name="Content Placeholder 2"/>
          <p:cNvSpPr>
            <a:spLocks noGrp="1"/>
          </p:cNvSpPr>
          <p:nvPr>
            <p:ph idx="1"/>
          </p:nvPr>
        </p:nvSpPr>
        <p:spPr/>
        <p:txBody>
          <a:bodyPr>
            <a:normAutofit fontScale="85000" lnSpcReduction="20000"/>
          </a:bodyPr>
          <a:lstStyle/>
          <a:p>
            <a:pPr>
              <a:buNone/>
            </a:pPr>
            <a:r>
              <a:rPr lang="en-US" dirty="0">
                <a:latin typeface="Comic Sans MS" pitchFamily="66" charset="0"/>
              </a:rPr>
              <a:t>class </a:t>
            </a:r>
            <a:r>
              <a:rPr lang="en-US" dirty="0" err="1">
                <a:latin typeface="Comic Sans MS" pitchFamily="66" charset="0"/>
              </a:rPr>
              <a:t>EggTimer</a:t>
            </a:r>
            <a:r>
              <a:rPr lang="en-US" dirty="0">
                <a:latin typeface="Comic Sans MS" pitchFamily="66" charset="0"/>
              </a:rPr>
              <a:t> extends Thread{</a:t>
            </a:r>
            <a:endParaRPr lang="en-IE" dirty="0">
              <a:latin typeface="Comic Sans MS" pitchFamily="66" charset="0"/>
            </a:endParaRPr>
          </a:p>
          <a:p>
            <a:pPr>
              <a:buNone/>
            </a:pPr>
            <a:r>
              <a:rPr lang="en-US" dirty="0">
                <a:latin typeface="Comic Sans MS" pitchFamily="66" charset="0"/>
              </a:rPr>
              <a:t>  private </a:t>
            </a:r>
            <a:r>
              <a:rPr lang="en-US" dirty="0" err="1">
                <a:latin typeface="Comic Sans MS" pitchFamily="66" charset="0"/>
              </a:rPr>
              <a:t>int</a:t>
            </a:r>
            <a:r>
              <a:rPr lang="en-US" dirty="0">
                <a:latin typeface="Comic Sans MS" pitchFamily="66" charset="0"/>
              </a:rPr>
              <a:t> et = 0;</a:t>
            </a:r>
            <a:endParaRPr lang="en-IE" dirty="0">
              <a:latin typeface="Comic Sans MS" pitchFamily="66" charset="0"/>
            </a:endParaRPr>
          </a:p>
          <a:p>
            <a:pPr>
              <a:buNone/>
            </a:pPr>
            <a:r>
              <a:rPr lang="en-US" dirty="0">
                <a:latin typeface="Comic Sans MS" pitchFamily="66" charset="0"/>
              </a:rPr>
              <a:t>  private volatile </a:t>
            </a:r>
            <a:r>
              <a:rPr lang="en-US" dirty="0" err="1">
                <a:latin typeface="Comic Sans MS" pitchFamily="66" charset="0"/>
              </a:rPr>
              <a:t>boolean</a:t>
            </a:r>
            <a:r>
              <a:rPr lang="en-US" dirty="0">
                <a:latin typeface="Comic Sans MS" pitchFamily="66" charset="0"/>
              </a:rPr>
              <a:t> go = true;</a:t>
            </a:r>
            <a:endParaRPr lang="en-IE" dirty="0">
              <a:latin typeface="Comic Sans MS" pitchFamily="66" charset="0"/>
            </a:endParaRPr>
          </a:p>
          <a:p>
            <a:pPr>
              <a:buNone/>
            </a:pPr>
            <a:r>
              <a:rPr lang="en-US" dirty="0">
                <a:latin typeface="Comic Sans MS" pitchFamily="66" charset="0"/>
              </a:rPr>
              <a:t>  public void run(){</a:t>
            </a:r>
            <a:endParaRPr lang="en-IE" dirty="0">
              <a:latin typeface="Comic Sans MS" pitchFamily="66" charset="0"/>
            </a:endParaRPr>
          </a:p>
          <a:p>
            <a:pPr>
              <a:buNone/>
            </a:pPr>
            <a:r>
              <a:rPr lang="en-US" dirty="0">
                <a:latin typeface="Comic Sans MS" pitchFamily="66" charset="0"/>
              </a:rPr>
              <a:t>    while(et &lt; 30 &amp;&amp; go){</a:t>
            </a:r>
            <a:endParaRPr lang="en-IE" dirty="0">
              <a:latin typeface="Comic Sans MS" pitchFamily="66" charset="0"/>
            </a:endParaRPr>
          </a:p>
          <a:p>
            <a:pPr>
              <a:buNone/>
            </a:pPr>
            <a:r>
              <a:rPr lang="en-US" dirty="0">
                <a:latin typeface="Comic Sans MS" pitchFamily="66" charset="0"/>
              </a:rPr>
              <a:t>      try{</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this.sleep</a:t>
            </a:r>
            <a:r>
              <a:rPr lang="en-US" dirty="0">
                <a:latin typeface="Comic Sans MS" pitchFamily="66" charset="0"/>
              </a:rPr>
              <a:t>(1000); </a:t>
            </a:r>
            <a:endParaRPr lang="en-IE" dirty="0">
              <a:latin typeface="Comic Sans MS" pitchFamily="66" charset="0"/>
            </a:endParaRPr>
          </a:p>
          <a:p>
            <a:pPr>
              <a:buNone/>
            </a:pPr>
            <a:r>
              <a:rPr lang="en-US" dirty="0">
                <a:latin typeface="Comic Sans MS" pitchFamily="66" charset="0"/>
              </a:rPr>
              <a:t>      }catch(</a:t>
            </a:r>
            <a:r>
              <a:rPr lang="en-US" dirty="0" err="1">
                <a:latin typeface="Comic Sans MS" pitchFamily="66" charset="0"/>
              </a:rPr>
              <a:t>InterruptedException</a:t>
            </a:r>
            <a:r>
              <a:rPr lang="en-US" dirty="0">
                <a:latin typeface="Comic Sans MS" pitchFamily="66" charset="0"/>
              </a:rPr>
              <a:t> e){}</a:t>
            </a:r>
            <a:endParaRPr lang="en-IE" dirty="0">
              <a:latin typeface="Comic Sans MS" pitchFamily="66" charset="0"/>
            </a:endParaRPr>
          </a:p>
          <a:p>
            <a:pPr>
              <a:buNone/>
            </a:pPr>
            <a:r>
              <a:rPr lang="en-US" dirty="0">
                <a:latin typeface="Comic Sans MS" pitchFamily="66" charset="0"/>
              </a:rPr>
              <a:t>      et++;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a:t>
            </a:r>
            <a:r>
              <a:rPr lang="en-US" dirty="0">
                <a:latin typeface="Comic Sans MS" pitchFamily="66" charset="0"/>
              </a:rPr>
              <a:t>(et+" ");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  public void terminate(){ go = false; }</a:t>
            </a:r>
            <a:endParaRPr lang="en-IE" dirty="0">
              <a:latin typeface="Comic Sans MS" pitchFamily="66" charset="0"/>
            </a:endParaRPr>
          </a:p>
          <a:p>
            <a:pPr>
              <a:buNone/>
            </a:pPr>
            <a:r>
              <a:rPr lang="en-US" dirty="0">
                <a:latin typeface="Comic Sans MS" pitchFamily="66" charset="0"/>
              </a:rPr>
              <a:t>}</a:t>
            </a:r>
            <a:endParaRPr lang="en-IE" dirty="0">
              <a:latin typeface="Comic Sans MS" pitchFamily="66" charset="0"/>
            </a:endParaRPr>
          </a:p>
          <a:p>
            <a:endParaRPr lang="en-IE" dirty="0"/>
          </a:p>
        </p:txBody>
      </p:sp>
      <p:sp>
        <p:nvSpPr>
          <p:cNvPr id="6" name="Slide Number Placeholder 5">
            <a:extLst>
              <a:ext uri="{FF2B5EF4-FFF2-40B4-BE49-F238E27FC236}">
                <a16:creationId xmlns:a16="http://schemas.microsoft.com/office/drawing/2014/main" id="{A7360CB3-EBE1-4F06-B4F6-9FD71F6467D0}"/>
              </a:ext>
            </a:extLst>
          </p:cNvPr>
          <p:cNvSpPr>
            <a:spLocks noGrp="1"/>
          </p:cNvSpPr>
          <p:nvPr>
            <p:ph type="sldNum" sz="quarter" idx="12"/>
          </p:nvPr>
        </p:nvSpPr>
        <p:spPr/>
        <p:txBody>
          <a:bodyPr/>
          <a:lstStyle/>
          <a:p>
            <a:fld id="{26944F6C-7B8C-1F48-9BFD-FC1F35051F46}" type="slidenum">
              <a:rPr lang="en-US" smtClean="0"/>
              <a:pPr/>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fontScale="92500" lnSpcReduction="10000"/>
          </a:bodyPr>
          <a:lstStyle/>
          <a:p>
            <a:pPr>
              <a:buNone/>
            </a:pPr>
            <a:r>
              <a:rPr lang="en-US" dirty="0">
                <a:latin typeface="Comic Sans MS" pitchFamily="66" charset="0"/>
              </a:rPr>
              <a:t>import </a:t>
            </a:r>
            <a:r>
              <a:rPr lang="en-US" dirty="0" err="1">
                <a:latin typeface="Comic Sans MS" pitchFamily="66" charset="0"/>
              </a:rPr>
              <a:t>java.util.Scanner</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public class </a:t>
            </a:r>
            <a:r>
              <a:rPr lang="en-US" dirty="0" err="1">
                <a:latin typeface="Comic Sans MS" pitchFamily="66" charset="0"/>
              </a:rPr>
              <a:t>EggTimerTest</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public static void main(String </a:t>
            </a:r>
            <a:r>
              <a:rPr lang="en-US" dirty="0" err="1">
                <a:latin typeface="Comic Sans MS" pitchFamily="66" charset="0"/>
              </a:rPr>
              <a:t>args</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Scanner in = new Scanner(</a:t>
            </a:r>
            <a:r>
              <a:rPr lang="en-US" dirty="0" err="1">
                <a:latin typeface="Comic Sans MS" pitchFamily="66" charset="0"/>
              </a:rPr>
              <a:t>System.in</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EggTimer</a:t>
            </a:r>
            <a:r>
              <a:rPr lang="en-US" dirty="0">
                <a:latin typeface="Comic Sans MS" pitchFamily="66" charset="0"/>
              </a:rPr>
              <a:t> et = new </a:t>
            </a:r>
            <a:r>
              <a:rPr lang="en-US" dirty="0" err="1">
                <a:latin typeface="Comic Sans MS" pitchFamily="66" charset="0"/>
              </a:rPr>
              <a:t>EggTimer</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System.out.println</a:t>
            </a:r>
            <a:r>
              <a:rPr lang="en-US" dirty="0">
                <a:latin typeface="Comic Sans MS" pitchFamily="66" charset="0"/>
              </a:rPr>
              <a:t>("Press enter to stop egg timer");</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et.start</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in.nextLine</a:t>
            </a:r>
            <a:r>
              <a:rPr lang="en-US" dirty="0">
                <a:latin typeface="Comic Sans MS" pitchFamily="66" charset="0"/>
              </a:rPr>
              <a:t>();</a:t>
            </a:r>
            <a:endParaRPr lang="en-IE" dirty="0">
              <a:latin typeface="Comic Sans MS" pitchFamily="66" charset="0"/>
            </a:endParaRPr>
          </a:p>
          <a:p>
            <a:pPr>
              <a:buNone/>
            </a:pPr>
            <a:r>
              <a:rPr lang="en-US" dirty="0">
                <a:latin typeface="Comic Sans MS" pitchFamily="66" charset="0"/>
              </a:rPr>
              <a:t>    </a:t>
            </a:r>
            <a:r>
              <a:rPr lang="en-US" dirty="0" err="1">
                <a:latin typeface="Comic Sans MS" pitchFamily="66" charset="0"/>
              </a:rPr>
              <a:t>et.terminate</a:t>
            </a: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  }</a:t>
            </a:r>
            <a:endParaRPr lang="en-IE" dirty="0">
              <a:latin typeface="Comic Sans MS" pitchFamily="66" charset="0"/>
            </a:endParaRPr>
          </a:p>
          <a:p>
            <a:pPr>
              <a:buNone/>
            </a:pPr>
            <a:r>
              <a:rPr lang="en-US" dirty="0">
                <a:latin typeface="Comic Sans MS" pitchFamily="66" charset="0"/>
              </a:rPr>
              <a:t>}</a:t>
            </a:r>
            <a:endParaRPr lang="en-IE" dirty="0">
              <a:latin typeface="Comic Sans MS" pitchFamily="66" charset="0"/>
            </a:endParaRPr>
          </a:p>
          <a:p>
            <a:endParaRPr lang="en-IE" dirty="0"/>
          </a:p>
        </p:txBody>
      </p:sp>
      <p:sp>
        <p:nvSpPr>
          <p:cNvPr id="6" name="Slide Number Placeholder 5">
            <a:extLst>
              <a:ext uri="{FF2B5EF4-FFF2-40B4-BE49-F238E27FC236}">
                <a16:creationId xmlns:a16="http://schemas.microsoft.com/office/drawing/2014/main" id="{2C112EBA-89FB-454B-8E00-9F954CCC85F8}"/>
              </a:ext>
            </a:extLst>
          </p:cNvPr>
          <p:cNvSpPr>
            <a:spLocks noGrp="1"/>
          </p:cNvSpPr>
          <p:nvPr>
            <p:ph type="sldNum" sz="quarter" idx="12"/>
          </p:nvPr>
        </p:nvSpPr>
        <p:spPr/>
        <p:txBody>
          <a:bodyPr/>
          <a:lstStyle/>
          <a:p>
            <a:fld id="{26944F6C-7B8C-1F48-9BFD-FC1F35051F46}" type="slidenum">
              <a:rPr lang="en-US" smtClean="0"/>
              <a:pPr/>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Asynchronous Procedures</a:t>
            </a:r>
            <a:endParaRPr lang="en-IE" dirty="0"/>
          </a:p>
        </p:txBody>
      </p:sp>
      <p:sp>
        <p:nvSpPr>
          <p:cNvPr id="3" name="Content Placeholder 2"/>
          <p:cNvSpPr>
            <a:spLocks noGrp="1"/>
          </p:cNvSpPr>
          <p:nvPr>
            <p:ph idx="1"/>
          </p:nvPr>
        </p:nvSpPr>
        <p:spPr/>
        <p:txBody>
          <a:bodyPr/>
          <a:lstStyle/>
          <a:p>
            <a:r>
              <a:rPr lang="en-IE" dirty="0"/>
              <a:t>Return immediately after invocation</a:t>
            </a:r>
          </a:p>
          <a:p>
            <a:endParaRPr lang="en-IE" dirty="0"/>
          </a:p>
          <a:p>
            <a:r>
              <a:rPr lang="en-IE" dirty="0"/>
              <a:t>Caller and called run in parallel</a:t>
            </a:r>
          </a:p>
          <a:p>
            <a:endParaRPr lang="en-IE" dirty="0"/>
          </a:p>
          <a:p>
            <a:r>
              <a:rPr lang="en-IE" dirty="0"/>
              <a:t>Example</a:t>
            </a:r>
          </a:p>
          <a:p>
            <a:pPr lvl="1"/>
            <a:r>
              <a:rPr lang="en-IE" dirty="0"/>
              <a:t>Calculate sum of elements in array and return result</a:t>
            </a:r>
          </a:p>
          <a:p>
            <a:endParaRPr lang="en-IE" dirty="0"/>
          </a:p>
          <a:p>
            <a:r>
              <a:rPr lang="en-US" dirty="0"/>
              <a:t>Implementation</a:t>
            </a:r>
          </a:p>
          <a:p>
            <a:pPr lvl="1"/>
            <a:r>
              <a:rPr lang="en-US" dirty="0"/>
              <a:t>extend the Thread class and add a public method, say </a:t>
            </a:r>
            <a:r>
              <a:rPr lang="en-US" dirty="0" err="1"/>
              <a:t>getResult</a:t>
            </a:r>
            <a:r>
              <a:rPr lang="en-US" dirty="0"/>
              <a:t>(),  that returns the result of the computation</a:t>
            </a:r>
            <a:endParaRPr lang="en-IE" dirty="0"/>
          </a:p>
        </p:txBody>
      </p:sp>
      <p:sp>
        <p:nvSpPr>
          <p:cNvPr id="6" name="Slide Number Placeholder 5">
            <a:extLst>
              <a:ext uri="{FF2B5EF4-FFF2-40B4-BE49-F238E27FC236}">
                <a16:creationId xmlns:a16="http://schemas.microsoft.com/office/drawing/2014/main" id="{AB29C00A-4165-4036-9BD5-7B12D3FC16EE}"/>
              </a:ext>
            </a:extLst>
          </p:cNvPr>
          <p:cNvSpPr>
            <a:spLocks noGrp="1"/>
          </p:cNvSpPr>
          <p:nvPr>
            <p:ph type="sldNum" sz="quarter" idx="12"/>
          </p:nvPr>
        </p:nvSpPr>
        <p:spPr/>
        <p:txBody>
          <a:bodyPr/>
          <a:lstStyle/>
          <a:p>
            <a:fld id="{26944F6C-7B8C-1F48-9BFD-FC1F35051F46}" type="slidenum">
              <a:rPr lang="en-US" smtClean="0"/>
              <a:pPr/>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fontScale="92500" lnSpcReduction="20000"/>
          </a:bodyPr>
          <a:lstStyle/>
          <a:p>
            <a:pPr>
              <a:buNone/>
            </a:pPr>
            <a:r>
              <a:rPr lang="en-US" dirty="0"/>
              <a:t>class &lt;</a:t>
            </a:r>
            <a:r>
              <a:rPr lang="en-US" dirty="0" err="1"/>
              <a:t>AsyncFunc</a:t>
            </a:r>
            <a:r>
              <a:rPr lang="en-US" dirty="0"/>
              <a:t>&gt; extends Thread {</a:t>
            </a:r>
            <a:endParaRPr lang="en-IE" dirty="0"/>
          </a:p>
          <a:p>
            <a:pPr>
              <a:buNone/>
            </a:pPr>
            <a:r>
              <a:rPr lang="en-US" dirty="0"/>
              <a:t>        private … result;</a:t>
            </a:r>
            <a:endParaRPr lang="en-IE" dirty="0"/>
          </a:p>
          <a:p>
            <a:pPr>
              <a:buNone/>
            </a:pPr>
            <a:r>
              <a:rPr lang="en-US" dirty="0"/>
              <a:t>        public </a:t>
            </a:r>
            <a:r>
              <a:rPr lang="en-US" dirty="0" err="1"/>
              <a:t>AsyncFunc</a:t>
            </a:r>
            <a:r>
              <a:rPr lang="en-US" dirty="0"/>
              <a:t>(…) {</a:t>
            </a:r>
            <a:endParaRPr lang="en-IE" dirty="0"/>
          </a:p>
          <a:p>
            <a:pPr>
              <a:buNone/>
            </a:pPr>
            <a:r>
              <a:rPr lang="en-US" dirty="0"/>
              <a:t>            …</a:t>
            </a:r>
            <a:endParaRPr lang="en-IE" dirty="0"/>
          </a:p>
          <a:p>
            <a:pPr>
              <a:buNone/>
            </a:pPr>
            <a:r>
              <a:rPr lang="en-US" dirty="0"/>
              <a:t>        }</a:t>
            </a:r>
            <a:endParaRPr lang="en-IE" dirty="0"/>
          </a:p>
          <a:p>
            <a:pPr>
              <a:buNone/>
            </a:pPr>
            <a:r>
              <a:rPr lang="en-US" dirty="0"/>
              <a:t>        public void run() {</a:t>
            </a:r>
            <a:endParaRPr lang="en-IE" dirty="0"/>
          </a:p>
          <a:p>
            <a:pPr>
              <a:buNone/>
            </a:pPr>
            <a:r>
              <a:rPr lang="en-US" dirty="0"/>
              <a:t>            //do calculation;</a:t>
            </a:r>
            <a:endParaRPr lang="en-IE" dirty="0"/>
          </a:p>
          <a:p>
            <a:pPr>
              <a:buNone/>
            </a:pPr>
            <a:r>
              <a:rPr lang="en-US" dirty="0"/>
              <a:t>			result = ?;</a:t>
            </a:r>
            <a:endParaRPr lang="en-IE" dirty="0"/>
          </a:p>
          <a:p>
            <a:pPr>
              <a:buNone/>
            </a:pPr>
            <a:r>
              <a:rPr lang="en-US" dirty="0"/>
              <a:t>        }</a:t>
            </a:r>
            <a:endParaRPr lang="en-IE" dirty="0"/>
          </a:p>
          <a:p>
            <a:pPr>
              <a:buNone/>
            </a:pPr>
            <a:r>
              <a:rPr lang="en-US" dirty="0"/>
              <a:t>        public … </a:t>
            </a:r>
            <a:r>
              <a:rPr lang="en-US" dirty="0" err="1"/>
              <a:t>getResult</a:t>
            </a:r>
            <a:r>
              <a:rPr lang="en-US" dirty="0"/>
              <a:t>() {</a:t>
            </a:r>
            <a:endParaRPr lang="en-IE" dirty="0"/>
          </a:p>
          <a:p>
            <a:pPr>
              <a:buNone/>
            </a:pPr>
            <a:r>
              <a:rPr lang="en-US" dirty="0"/>
              <a:t>        	 return result;</a:t>
            </a:r>
            <a:endParaRPr lang="en-IE" dirty="0"/>
          </a:p>
          <a:p>
            <a:pPr>
              <a:buNone/>
            </a:pPr>
            <a:r>
              <a:rPr lang="en-US" dirty="0"/>
              <a:t>        }</a:t>
            </a:r>
            <a:endParaRPr lang="en-IE" dirty="0"/>
          </a:p>
          <a:p>
            <a:pPr>
              <a:buNone/>
            </a:pPr>
            <a:r>
              <a:rPr lang="en-US" dirty="0"/>
              <a:t>    }</a:t>
            </a:r>
            <a:endParaRPr lang="en-IE" dirty="0"/>
          </a:p>
          <a:p>
            <a:endParaRPr lang="en-IE" dirty="0"/>
          </a:p>
        </p:txBody>
      </p:sp>
      <p:sp>
        <p:nvSpPr>
          <p:cNvPr id="6" name="Slide Number Placeholder 5">
            <a:extLst>
              <a:ext uri="{FF2B5EF4-FFF2-40B4-BE49-F238E27FC236}">
                <a16:creationId xmlns:a16="http://schemas.microsoft.com/office/drawing/2014/main" id="{1E8F709A-B30E-435A-893A-619010DB05C0}"/>
              </a:ext>
            </a:extLst>
          </p:cNvPr>
          <p:cNvSpPr>
            <a:spLocks noGrp="1"/>
          </p:cNvSpPr>
          <p:nvPr>
            <p:ph type="sldNum" sz="quarter" idx="12"/>
          </p:nvPr>
        </p:nvSpPr>
        <p:spPr/>
        <p:txBody>
          <a:bodyPr/>
          <a:lstStyle/>
          <a:p>
            <a:fld id="{26944F6C-7B8C-1F48-9BFD-FC1F35051F46}" type="slidenum">
              <a:rPr lang="en-US" smtClean="0"/>
              <a:pPr/>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fontScale="85000" lnSpcReduction="20000"/>
          </a:bodyPr>
          <a:lstStyle/>
          <a:p>
            <a:pPr>
              <a:buNone/>
            </a:pPr>
            <a:r>
              <a:rPr lang="en-GB" dirty="0"/>
              <a:t>class </a:t>
            </a:r>
            <a:r>
              <a:rPr lang="en-GB" dirty="0" err="1"/>
              <a:t>FacN</a:t>
            </a:r>
            <a:r>
              <a:rPr lang="en-GB" dirty="0"/>
              <a:t> extends Thread{</a:t>
            </a:r>
            <a:endParaRPr lang="en-IE" dirty="0"/>
          </a:p>
          <a:p>
            <a:pPr>
              <a:buNone/>
            </a:pPr>
            <a:r>
              <a:rPr lang="en-GB" dirty="0"/>
              <a:t>    private </a:t>
            </a:r>
            <a:r>
              <a:rPr lang="en-GB" dirty="0" err="1"/>
              <a:t>int</a:t>
            </a:r>
            <a:r>
              <a:rPr lang="en-GB" dirty="0"/>
              <a:t> n;</a:t>
            </a:r>
            <a:endParaRPr lang="en-IE" dirty="0"/>
          </a:p>
          <a:p>
            <a:pPr>
              <a:buNone/>
            </a:pPr>
            <a:r>
              <a:rPr lang="en-GB" dirty="0"/>
              <a:t>	private long result;</a:t>
            </a:r>
            <a:endParaRPr lang="en-IE" dirty="0"/>
          </a:p>
          <a:p>
            <a:pPr>
              <a:buNone/>
            </a:pPr>
            <a:r>
              <a:rPr lang="en-GB" dirty="0"/>
              <a:t>	public </a:t>
            </a:r>
            <a:r>
              <a:rPr lang="en-GB" dirty="0" err="1"/>
              <a:t>FacN</a:t>
            </a:r>
            <a:r>
              <a:rPr lang="en-GB" dirty="0"/>
              <a:t>(</a:t>
            </a:r>
            <a:r>
              <a:rPr lang="en-GB" dirty="0" err="1"/>
              <a:t>int</a:t>
            </a:r>
            <a:r>
              <a:rPr lang="en-GB" dirty="0"/>
              <a:t> </a:t>
            </a:r>
            <a:r>
              <a:rPr lang="en-GB" dirty="0" err="1"/>
              <a:t>nn</a:t>
            </a:r>
            <a:r>
              <a:rPr lang="en-GB" dirty="0"/>
              <a:t>){</a:t>
            </a:r>
            <a:endParaRPr lang="en-IE" dirty="0"/>
          </a:p>
          <a:p>
            <a:pPr>
              <a:buNone/>
            </a:pPr>
            <a:r>
              <a:rPr lang="en-GB" dirty="0"/>
              <a:t>		n = </a:t>
            </a:r>
            <a:r>
              <a:rPr lang="en-GB" dirty="0" err="1"/>
              <a:t>nn</a:t>
            </a:r>
            <a:r>
              <a:rPr lang="en-GB" dirty="0"/>
              <a:t>;</a:t>
            </a:r>
            <a:endParaRPr lang="en-IE" dirty="0"/>
          </a:p>
          <a:p>
            <a:pPr>
              <a:buNone/>
            </a:pPr>
            <a:r>
              <a:rPr lang="en-GB" dirty="0"/>
              <a:t>	}</a:t>
            </a:r>
            <a:endParaRPr lang="en-IE" dirty="0"/>
          </a:p>
          <a:p>
            <a:pPr>
              <a:buNone/>
            </a:pPr>
            <a:r>
              <a:rPr lang="en-GB" dirty="0"/>
              <a:t>	public void run(){</a:t>
            </a:r>
          </a:p>
          <a:p>
            <a:pPr>
              <a:buNone/>
            </a:pPr>
            <a:r>
              <a:rPr lang="en-GB" dirty="0"/>
              <a:t>         //code for </a:t>
            </a:r>
            <a:r>
              <a:rPr lang="en-GB" dirty="0" err="1"/>
              <a:t>fac</a:t>
            </a:r>
            <a:endParaRPr lang="en-IE" dirty="0"/>
          </a:p>
          <a:p>
            <a:pPr>
              <a:buNone/>
            </a:pPr>
            <a:r>
              <a:rPr lang="en-GB" dirty="0"/>
              <a:t>		  result = </a:t>
            </a:r>
            <a:r>
              <a:rPr lang="en-GB" dirty="0" err="1"/>
              <a:t>fac</a:t>
            </a:r>
            <a:r>
              <a:rPr lang="en-GB" dirty="0"/>
              <a:t>;</a:t>
            </a:r>
            <a:endParaRPr lang="en-IE" dirty="0"/>
          </a:p>
          <a:p>
            <a:pPr>
              <a:buNone/>
            </a:pPr>
            <a:r>
              <a:rPr lang="en-GB" dirty="0"/>
              <a:t>	}</a:t>
            </a:r>
            <a:endParaRPr lang="en-IE" dirty="0"/>
          </a:p>
          <a:p>
            <a:pPr>
              <a:buNone/>
            </a:pPr>
            <a:r>
              <a:rPr lang="en-GB" dirty="0"/>
              <a:t>	public long </a:t>
            </a:r>
            <a:r>
              <a:rPr lang="en-GB" dirty="0" err="1"/>
              <a:t>getResult</a:t>
            </a:r>
            <a:r>
              <a:rPr lang="en-GB" dirty="0"/>
              <a:t>(){</a:t>
            </a:r>
            <a:endParaRPr lang="en-IE" dirty="0"/>
          </a:p>
          <a:p>
            <a:pPr>
              <a:buNone/>
            </a:pPr>
            <a:r>
              <a:rPr lang="en-GB" dirty="0"/>
              <a:t>	  return result;</a:t>
            </a:r>
            <a:endParaRPr lang="en-IE" dirty="0"/>
          </a:p>
          <a:p>
            <a:pPr>
              <a:buNone/>
            </a:pPr>
            <a:r>
              <a:rPr lang="en-GB" dirty="0"/>
              <a:t>	}	</a:t>
            </a:r>
            <a:endParaRPr lang="en-IE" dirty="0"/>
          </a:p>
          <a:p>
            <a:pPr>
              <a:buNone/>
            </a:pPr>
            <a:r>
              <a:rPr lang="en-GB" dirty="0"/>
              <a:t>}</a:t>
            </a:r>
            <a:endParaRPr lang="en-IE" dirty="0"/>
          </a:p>
          <a:p>
            <a:endParaRPr lang="en-IE" dirty="0"/>
          </a:p>
        </p:txBody>
      </p:sp>
      <p:sp>
        <p:nvSpPr>
          <p:cNvPr id="6" name="Slide Number Placeholder 5">
            <a:extLst>
              <a:ext uri="{FF2B5EF4-FFF2-40B4-BE49-F238E27FC236}">
                <a16:creationId xmlns:a16="http://schemas.microsoft.com/office/drawing/2014/main" id="{01B7B46F-9F57-4C70-ACE8-77861B6A1BEE}"/>
              </a:ext>
            </a:extLst>
          </p:cNvPr>
          <p:cNvSpPr>
            <a:spLocks noGrp="1"/>
          </p:cNvSpPr>
          <p:nvPr>
            <p:ph type="sldNum" sz="quarter" idx="12"/>
          </p:nvPr>
        </p:nvSpPr>
        <p:spPr/>
        <p:txBody>
          <a:bodyPr/>
          <a:lstStyle/>
          <a:p>
            <a:fld id="{26944F6C-7B8C-1F48-9BFD-FC1F35051F46}" type="slidenum">
              <a:rPr lang="en-US" smtClean="0"/>
              <a:pPr/>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fontScale="92500" lnSpcReduction="10000"/>
          </a:bodyPr>
          <a:lstStyle/>
          <a:p>
            <a:pPr>
              <a:buNone/>
            </a:pPr>
            <a:r>
              <a:rPr lang="en-GB" dirty="0"/>
              <a:t>   public void run(){</a:t>
            </a:r>
            <a:endParaRPr lang="en-IE" dirty="0"/>
          </a:p>
          <a:p>
            <a:pPr>
              <a:buNone/>
            </a:pPr>
            <a:r>
              <a:rPr lang="en-GB" dirty="0"/>
              <a:t>	   long </a:t>
            </a:r>
            <a:r>
              <a:rPr lang="en-GB" dirty="0" err="1"/>
              <a:t>fac</a:t>
            </a:r>
            <a:r>
              <a:rPr lang="en-GB" dirty="0"/>
              <a:t> = 1; // </a:t>
            </a:r>
            <a:r>
              <a:rPr lang="en-GB" dirty="0" err="1"/>
              <a:t>fac</a:t>
            </a:r>
            <a:r>
              <a:rPr lang="en-GB" dirty="0"/>
              <a:t>(0) = 1</a:t>
            </a:r>
            <a:endParaRPr lang="en-IE" dirty="0"/>
          </a:p>
          <a:p>
            <a:pPr>
              <a:buNone/>
            </a:pPr>
            <a:r>
              <a:rPr lang="en-GB" dirty="0"/>
              <a:t>	   </a:t>
            </a:r>
            <a:r>
              <a:rPr lang="en-GB" dirty="0" err="1"/>
              <a:t>int</a:t>
            </a:r>
            <a:r>
              <a:rPr lang="en-GB" dirty="0"/>
              <a:t> k = 0; </a:t>
            </a:r>
            <a:endParaRPr lang="en-IE" dirty="0"/>
          </a:p>
          <a:p>
            <a:pPr>
              <a:buNone/>
            </a:pPr>
            <a:r>
              <a:rPr lang="en-GB" dirty="0"/>
              <a:t>	   while(k &lt; n){</a:t>
            </a:r>
            <a:endParaRPr lang="en-IE" dirty="0"/>
          </a:p>
          <a:p>
            <a:pPr>
              <a:buNone/>
            </a:pPr>
            <a:r>
              <a:rPr lang="en-GB" dirty="0"/>
              <a:t>		     </a:t>
            </a:r>
            <a:r>
              <a:rPr lang="en-GB" dirty="0" err="1"/>
              <a:t>fac</a:t>
            </a:r>
            <a:r>
              <a:rPr lang="en-GB" dirty="0"/>
              <a:t> = </a:t>
            </a:r>
            <a:r>
              <a:rPr lang="en-GB" dirty="0" err="1"/>
              <a:t>fac</a:t>
            </a:r>
            <a:r>
              <a:rPr lang="en-GB" dirty="0"/>
              <a:t>*(k+1);</a:t>
            </a:r>
            <a:endParaRPr lang="en-IE" dirty="0"/>
          </a:p>
          <a:p>
            <a:pPr>
              <a:buNone/>
            </a:pPr>
            <a:r>
              <a:rPr lang="en-GB" dirty="0"/>
              <a:t>		     k++;</a:t>
            </a:r>
            <a:endParaRPr lang="en-IE" dirty="0"/>
          </a:p>
          <a:p>
            <a:pPr>
              <a:buNone/>
            </a:pPr>
            <a:r>
              <a:rPr lang="en-GB" dirty="0"/>
              <a:t>	   }</a:t>
            </a:r>
            <a:endParaRPr lang="en-IE" dirty="0"/>
          </a:p>
          <a:p>
            <a:pPr>
              <a:buNone/>
            </a:pPr>
            <a:r>
              <a:rPr lang="en-GB" dirty="0"/>
              <a:t>	   result = </a:t>
            </a:r>
            <a:r>
              <a:rPr lang="en-GB" dirty="0" err="1"/>
              <a:t>fac</a:t>
            </a:r>
            <a:r>
              <a:rPr lang="en-GB" dirty="0"/>
              <a:t>;</a:t>
            </a:r>
            <a:endParaRPr lang="en-IE" dirty="0"/>
          </a:p>
          <a:p>
            <a:pPr>
              <a:buNone/>
            </a:pPr>
            <a:r>
              <a:rPr lang="en-GB" dirty="0"/>
              <a:t>	}</a:t>
            </a:r>
            <a:endParaRPr lang="en-IE" dirty="0"/>
          </a:p>
          <a:p>
            <a:pPr>
              <a:buNone/>
            </a:pPr>
            <a:r>
              <a:rPr lang="en-GB" dirty="0"/>
              <a:t>	public long </a:t>
            </a:r>
            <a:r>
              <a:rPr lang="en-GB" dirty="0" err="1"/>
              <a:t>getResult</a:t>
            </a:r>
            <a:r>
              <a:rPr lang="en-GB" dirty="0"/>
              <a:t>(){</a:t>
            </a:r>
            <a:endParaRPr lang="en-IE" dirty="0"/>
          </a:p>
          <a:p>
            <a:pPr>
              <a:buNone/>
            </a:pPr>
            <a:r>
              <a:rPr lang="en-GB" dirty="0"/>
              <a:t>	  return result;</a:t>
            </a:r>
            <a:endParaRPr lang="en-IE" dirty="0"/>
          </a:p>
          <a:p>
            <a:pPr>
              <a:buNone/>
            </a:pPr>
            <a:r>
              <a:rPr lang="en-GB" dirty="0"/>
              <a:t>	}	</a:t>
            </a:r>
            <a:endParaRPr lang="en-IE" dirty="0"/>
          </a:p>
          <a:p>
            <a:endParaRPr lang="en-IE" dirty="0"/>
          </a:p>
        </p:txBody>
      </p:sp>
      <p:sp>
        <p:nvSpPr>
          <p:cNvPr id="6" name="Slide Number Placeholder 5">
            <a:extLst>
              <a:ext uri="{FF2B5EF4-FFF2-40B4-BE49-F238E27FC236}">
                <a16:creationId xmlns:a16="http://schemas.microsoft.com/office/drawing/2014/main" id="{3BB79A5B-C22A-456B-ADF9-6B84E8A462DA}"/>
              </a:ext>
            </a:extLst>
          </p:cNvPr>
          <p:cNvSpPr>
            <a:spLocks noGrp="1"/>
          </p:cNvSpPr>
          <p:nvPr>
            <p:ph type="sldNum" sz="quarter" idx="12"/>
          </p:nvPr>
        </p:nvSpPr>
        <p:spPr/>
        <p:txBody>
          <a:bodyPr/>
          <a:lstStyle/>
          <a:p>
            <a:fld id="{26944F6C-7B8C-1F48-9BFD-FC1F35051F46}" type="slidenum">
              <a:rPr lang="en-US" smtClean="0"/>
              <a:pPr/>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a:bodyPr>
          <a:lstStyle/>
          <a:p>
            <a:pPr>
              <a:buNone/>
            </a:pPr>
            <a:r>
              <a:rPr lang="en-GB" dirty="0"/>
              <a:t>      Scanner in = new Scanner(</a:t>
            </a:r>
            <a:r>
              <a:rPr lang="en-GB" dirty="0" err="1"/>
              <a:t>System.in</a:t>
            </a:r>
            <a:r>
              <a:rPr lang="en-GB" dirty="0"/>
              <a:t>);</a:t>
            </a:r>
            <a:endParaRPr lang="en-IE" dirty="0"/>
          </a:p>
          <a:p>
            <a:pPr>
              <a:buNone/>
            </a:pPr>
            <a:r>
              <a:rPr lang="en-GB" dirty="0"/>
              <a:t>	 	</a:t>
            </a:r>
            <a:r>
              <a:rPr lang="en-GB" dirty="0" err="1"/>
              <a:t>System.out.print</a:t>
            </a:r>
            <a:r>
              <a:rPr lang="en-GB" dirty="0"/>
              <a:t>("Enter value for n: ");</a:t>
            </a:r>
            <a:endParaRPr lang="en-IE" dirty="0"/>
          </a:p>
          <a:p>
            <a:pPr>
              <a:buNone/>
            </a:pPr>
            <a:r>
              <a:rPr lang="en-GB" dirty="0"/>
              <a:t>	 	</a:t>
            </a:r>
            <a:r>
              <a:rPr lang="en-GB" dirty="0" err="1"/>
              <a:t>int</a:t>
            </a:r>
            <a:r>
              <a:rPr lang="en-GB" dirty="0"/>
              <a:t> n = </a:t>
            </a:r>
            <a:r>
              <a:rPr lang="en-GB" dirty="0" err="1"/>
              <a:t>in.nextInt</a:t>
            </a:r>
            <a:r>
              <a:rPr lang="en-GB" dirty="0"/>
              <a:t>();</a:t>
            </a:r>
            <a:endParaRPr lang="en-IE" dirty="0"/>
          </a:p>
          <a:p>
            <a:pPr>
              <a:buNone/>
            </a:pPr>
            <a:r>
              <a:rPr lang="en-GB" dirty="0"/>
              <a:t>	 	</a:t>
            </a:r>
            <a:r>
              <a:rPr lang="en-GB" dirty="0" err="1"/>
              <a:t>FacN</a:t>
            </a:r>
            <a:r>
              <a:rPr lang="en-GB" dirty="0"/>
              <a:t> t = new </a:t>
            </a:r>
            <a:r>
              <a:rPr lang="en-GB" dirty="0" err="1"/>
              <a:t>FacN</a:t>
            </a:r>
            <a:r>
              <a:rPr lang="en-GB" dirty="0"/>
              <a:t>(n);</a:t>
            </a:r>
            <a:endParaRPr lang="en-IE" dirty="0"/>
          </a:p>
          <a:p>
            <a:pPr>
              <a:buNone/>
            </a:pPr>
            <a:r>
              <a:rPr lang="en-GB" dirty="0"/>
              <a:t>	 	</a:t>
            </a:r>
            <a:r>
              <a:rPr lang="en-GB" dirty="0" err="1"/>
              <a:t>t.start</a:t>
            </a:r>
            <a:r>
              <a:rPr lang="en-GB" dirty="0"/>
              <a:t>();</a:t>
            </a:r>
            <a:endParaRPr lang="en-IE" dirty="0"/>
          </a:p>
          <a:p>
            <a:pPr>
              <a:buNone/>
            </a:pPr>
            <a:r>
              <a:rPr lang="en-GB" dirty="0"/>
              <a:t>	 	try{</a:t>
            </a:r>
            <a:endParaRPr lang="en-IE" dirty="0"/>
          </a:p>
          <a:p>
            <a:pPr>
              <a:buNone/>
            </a:pPr>
            <a:r>
              <a:rPr lang="en-GB" dirty="0"/>
              <a:t>	 		</a:t>
            </a:r>
            <a:r>
              <a:rPr lang="en-GB" dirty="0" err="1"/>
              <a:t>t.join</a:t>
            </a:r>
            <a:r>
              <a:rPr lang="en-GB" dirty="0"/>
              <a:t>();</a:t>
            </a:r>
            <a:endParaRPr lang="en-IE" dirty="0"/>
          </a:p>
          <a:p>
            <a:pPr>
              <a:buNone/>
            </a:pPr>
            <a:r>
              <a:rPr lang="en-GB" dirty="0"/>
              <a:t>	 	}</a:t>
            </a:r>
            <a:endParaRPr lang="en-IE" dirty="0"/>
          </a:p>
          <a:p>
            <a:pPr>
              <a:buNone/>
            </a:pPr>
            <a:r>
              <a:rPr lang="en-GB" dirty="0"/>
              <a:t>	 	catch(</a:t>
            </a:r>
            <a:r>
              <a:rPr lang="en-GB" dirty="0" err="1"/>
              <a:t>InterruptedException</a:t>
            </a:r>
            <a:r>
              <a:rPr lang="en-GB" dirty="0"/>
              <a:t> e){}</a:t>
            </a:r>
            <a:endParaRPr lang="en-IE" dirty="0"/>
          </a:p>
          <a:p>
            <a:pPr>
              <a:buNone/>
            </a:pPr>
            <a:r>
              <a:rPr lang="en-GB" dirty="0"/>
              <a:t>	 	</a:t>
            </a:r>
            <a:r>
              <a:rPr lang="en-GB" dirty="0" err="1"/>
              <a:t>System.out.println</a:t>
            </a:r>
            <a:r>
              <a:rPr lang="en-GB" dirty="0"/>
              <a:t>("</a:t>
            </a:r>
            <a:r>
              <a:rPr lang="en-GB" dirty="0" err="1"/>
              <a:t>Fac</a:t>
            </a:r>
            <a:r>
              <a:rPr lang="en-GB" dirty="0"/>
              <a:t>("+n+") = "+ </a:t>
            </a:r>
            <a:r>
              <a:rPr lang="en-GB" dirty="0" err="1"/>
              <a:t>t.getResult</a:t>
            </a:r>
            <a:r>
              <a:rPr lang="en-GB" dirty="0"/>
              <a:t>());</a:t>
            </a:r>
            <a:endParaRPr lang="en-IE" dirty="0"/>
          </a:p>
          <a:p>
            <a:endParaRPr lang="en-IE" dirty="0"/>
          </a:p>
        </p:txBody>
      </p:sp>
      <p:sp>
        <p:nvSpPr>
          <p:cNvPr id="6" name="Slide Number Placeholder 5">
            <a:extLst>
              <a:ext uri="{FF2B5EF4-FFF2-40B4-BE49-F238E27FC236}">
                <a16:creationId xmlns:a16="http://schemas.microsoft.com/office/drawing/2014/main" id="{DF9BAD1C-A312-46C2-942E-A24D15646072}"/>
              </a:ext>
            </a:extLst>
          </p:cNvPr>
          <p:cNvSpPr>
            <a:spLocks noGrp="1"/>
          </p:cNvSpPr>
          <p:nvPr>
            <p:ph type="sldNum" sz="quarter" idx="12"/>
          </p:nvPr>
        </p:nvSpPr>
        <p:spPr/>
        <p:txBody>
          <a:bodyPr/>
          <a:lstStyle/>
          <a:p>
            <a:fld id="{26944F6C-7B8C-1F48-9BFD-FC1F35051F46}" type="slidenum">
              <a:rPr lang="en-US" smtClean="0"/>
              <a:pPr/>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pPr>
              <a:buNone/>
            </a:pPr>
            <a:r>
              <a:rPr lang="en-GB" dirty="0"/>
              <a:t>class Result{</a:t>
            </a:r>
            <a:endParaRPr lang="en-IE" dirty="0"/>
          </a:p>
          <a:p>
            <a:pPr>
              <a:buNone/>
            </a:pPr>
            <a:r>
              <a:rPr lang="en-GB" dirty="0"/>
              <a:t>	private … result = ..; //default value</a:t>
            </a:r>
            <a:endParaRPr lang="en-IE" dirty="0"/>
          </a:p>
          <a:p>
            <a:pPr>
              <a:buNone/>
            </a:pPr>
            <a:r>
              <a:rPr lang="en-GB" dirty="0"/>
              <a:t>	void set(… x){result = x;}</a:t>
            </a:r>
            <a:endParaRPr lang="en-IE" dirty="0"/>
          </a:p>
          <a:p>
            <a:pPr>
              <a:buNone/>
            </a:pPr>
            <a:r>
              <a:rPr lang="en-GB" dirty="0"/>
              <a:t>	… get(){return result;}</a:t>
            </a:r>
            <a:endParaRPr lang="en-IE" dirty="0"/>
          </a:p>
          <a:p>
            <a:pPr>
              <a:buNone/>
            </a:pPr>
            <a:r>
              <a:rPr lang="en-GB" dirty="0"/>
              <a:t>}</a:t>
            </a:r>
            <a:endParaRPr lang="en-IE" dirty="0"/>
          </a:p>
          <a:p>
            <a:endParaRPr lang="en-IE" dirty="0"/>
          </a:p>
        </p:txBody>
      </p:sp>
      <p:sp>
        <p:nvSpPr>
          <p:cNvPr id="6" name="Slide Number Placeholder 5">
            <a:extLst>
              <a:ext uri="{FF2B5EF4-FFF2-40B4-BE49-F238E27FC236}">
                <a16:creationId xmlns:a16="http://schemas.microsoft.com/office/drawing/2014/main" id="{1F5D9F45-7140-4B21-9398-A7E001D669A0}"/>
              </a:ext>
            </a:extLst>
          </p:cNvPr>
          <p:cNvSpPr>
            <a:spLocks noGrp="1"/>
          </p:cNvSpPr>
          <p:nvPr>
            <p:ph type="sldNum" sz="quarter" idx="12"/>
          </p:nvPr>
        </p:nvSpPr>
        <p:spPr/>
        <p:txBody>
          <a:bodyPr/>
          <a:lstStyle/>
          <a:p>
            <a:fld id="{26944F6C-7B8C-1F48-9BFD-FC1F35051F46}" type="slidenum">
              <a:rPr lang="en-US" smtClean="0"/>
              <a:pPr/>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normAutofit fontScale="92500" lnSpcReduction="10000"/>
          </a:bodyPr>
          <a:lstStyle/>
          <a:p>
            <a:pPr>
              <a:buNone/>
            </a:pPr>
            <a:r>
              <a:rPr lang="en-GB" dirty="0"/>
              <a:t>    public </a:t>
            </a:r>
            <a:r>
              <a:rPr lang="en-GB" dirty="0" err="1"/>
              <a:t>FacN</a:t>
            </a:r>
            <a:r>
              <a:rPr lang="en-GB" dirty="0"/>
              <a:t>(</a:t>
            </a:r>
            <a:r>
              <a:rPr lang="en-GB" dirty="0" err="1"/>
              <a:t>int</a:t>
            </a:r>
            <a:r>
              <a:rPr lang="en-GB" dirty="0"/>
              <a:t> </a:t>
            </a:r>
            <a:r>
              <a:rPr lang="en-GB" dirty="0" err="1"/>
              <a:t>nn</a:t>
            </a:r>
            <a:r>
              <a:rPr lang="en-GB" dirty="0"/>
              <a:t>, Result r){</a:t>
            </a:r>
            <a:endParaRPr lang="en-IE" dirty="0"/>
          </a:p>
          <a:p>
            <a:pPr>
              <a:buNone/>
            </a:pPr>
            <a:r>
              <a:rPr lang="en-GB" dirty="0"/>
              <a:t>	   	n = </a:t>
            </a:r>
            <a:r>
              <a:rPr lang="en-GB" dirty="0" err="1"/>
              <a:t>nn</a:t>
            </a:r>
            <a:r>
              <a:rPr lang="en-GB" dirty="0"/>
              <a:t>; res = r;</a:t>
            </a:r>
            <a:endParaRPr lang="en-IE" dirty="0"/>
          </a:p>
          <a:p>
            <a:pPr>
              <a:buNone/>
            </a:pPr>
            <a:r>
              <a:rPr lang="en-GB" dirty="0"/>
              <a:t>	}</a:t>
            </a:r>
            <a:endParaRPr lang="en-IE" dirty="0"/>
          </a:p>
          <a:p>
            <a:pPr>
              <a:buNone/>
            </a:pPr>
            <a:r>
              <a:rPr lang="en-GB" dirty="0"/>
              <a:t>	public void run(){</a:t>
            </a:r>
            <a:endParaRPr lang="en-IE" dirty="0"/>
          </a:p>
          <a:p>
            <a:pPr>
              <a:buNone/>
            </a:pPr>
            <a:r>
              <a:rPr lang="en-GB" dirty="0"/>
              <a:t>	    long </a:t>
            </a:r>
            <a:r>
              <a:rPr lang="en-GB" dirty="0" err="1"/>
              <a:t>fac</a:t>
            </a:r>
            <a:r>
              <a:rPr lang="en-GB" dirty="0"/>
              <a:t> = 1; // </a:t>
            </a:r>
            <a:r>
              <a:rPr lang="en-GB" dirty="0" err="1"/>
              <a:t>fac</a:t>
            </a:r>
            <a:r>
              <a:rPr lang="en-GB" dirty="0"/>
              <a:t>(0) = 1</a:t>
            </a:r>
            <a:endParaRPr lang="en-IE" dirty="0"/>
          </a:p>
          <a:p>
            <a:pPr>
              <a:buNone/>
            </a:pPr>
            <a:r>
              <a:rPr lang="en-GB" dirty="0"/>
              <a:t>	    </a:t>
            </a:r>
            <a:r>
              <a:rPr lang="en-GB" dirty="0" err="1"/>
              <a:t>int</a:t>
            </a:r>
            <a:r>
              <a:rPr lang="en-GB" dirty="0"/>
              <a:t> k = 0; </a:t>
            </a:r>
            <a:endParaRPr lang="en-IE" dirty="0"/>
          </a:p>
          <a:p>
            <a:pPr>
              <a:buNone/>
            </a:pPr>
            <a:r>
              <a:rPr lang="en-GB" dirty="0"/>
              <a:t>	    while(k &lt; n){</a:t>
            </a:r>
            <a:endParaRPr lang="en-IE" dirty="0"/>
          </a:p>
          <a:p>
            <a:pPr>
              <a:buNone/>
            </a:pPr>
            <a:r>
              <a:rPr lang="en-GB" dirty="0"/>
              <a:t>		      </a:t>
            </a:r>
            <a:r>
              <a:rPr lang="en-GB" dirty="0" err="1"/>
              <a:t>fac</a:t>
            </a:r>
            <a:r>
              <a:rPr lang="en-GB" dirty="0"/>
              <a:t> = </a:t>
            </a:r>
            <a:r>
              <a:rPr lang="en-GB" dirty="0" err="1"/>
              <a:t>fac</a:t>
            </a:r>
            <a:r>
              <a:rPr lang="en-GB" dirty="0"/>
              <a:t>*(k+1);</a:t>
            </a:r>
            <a:endParaRPr lang="en-IE" dirty="0"/>
          </a:p>
          <a:p>
            <a:pPr>
              <a:buNone/>
            </a:pPr>
            <a:r>
              <a:rPr lang="en-GB" dirty="0"/>
              <a:t>		      k++;</a:t>
            </a:r>
            <a:endParaRPr lang="en-IE" dirty="0"/>
          </a:p>
          <a:p>
            <a:pPr>
              <a:buNone/>
            </a:pPr>
            <a:r>
              <a:rPr lang="en-GB" dirty="0"/>
              <a:t>	    }</a:t>
            </a:r>
            <a:endParaRPr lang="en-IE" dirty="0"/>
          </a:p>
          <a:p>
            <a:pPr>
              <a:buNone/>
            </a:pPr>
            <a:r>
              <a:rPr lang="en-GB" dirty="0"/>
              <a:t>	    </a:t>
            </a:r>
            <a:r>
              <a:rPr lang="en-GB" dirty="0" err="1"/>
              <a:t>res.set</a:t>
            </a:r>
            <a:r>
              <a:rPr lang="en-GB" dirty="0"/>
              <a:t>(</a:t>
            </a:r>
            <a:r>
              <a:rPr lang="en-GB" dirty="0" err="1"/>
              <a:t>fac</a:t>
            </a:r>
            <a:r>
              <a:rPr lang="en-GB" dirty="0"/>
              <a:t>);</a:t>
            </a:r>
            <a:endParaRPr lang="en-IE" dirty="0"/>
          </a:p>
          <a:p>
            <a:pPr>
              <a:buNone/>
            </a:pPr>
            <a:r>
              <a:rPr lang="en-GB" dirty="0"/>
              <a:t>	}	</a:t>
            </a:r>
            <a:endParaRPr lang="en-IE" dirty="0"/>
          </a:p>
          <a:p>
            <a:endParaRPr lang="en-IE" dirty="0"/>
          </a:p>
        </p:txBody>
      </p:sp>
      <p:sp>
        <p:nvSpPr>
          <p:cNvPr id="6" name="Slide Number Placeholder 5">
            <a:extLst>
              <a:ext uri="{FF2B5EF4-FFF2-40B4-BE49-F238E27FC236}">
                <a16:creationId xmlns:a16="http://schemas.microsoft.com/office/drawing/2014/main" id="{66EE90F0-314A-4B09-9004-A9CA6285AD76}"/>
              </a:ext>
            </a:extLst>
          </p:cNvPr>
          <p:cNvSpPr>
            <a:spLocks noGrp="1"/>
          </p:cNvSpPr>
          <p:nvPr>
            <p:ph type="sldNum" sz="quarter" idx="12"/>
          </p:nvPr>
        </p:nvSpPr>
        <p:spPr/>
        <p:txBody>
          <a:bodyPr/>
          <a:lstStyle/>
          <a:p>
            <a:fld id="{26944F6C-7B8C-1F48-9BFD-FC1F35051F46}" type="slidenum">
              <a:rPr lang="en-US" smtClean="0"/>
              <a:pPr/>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pPr>
              <a:buNone/>
            </a:pPr>
            <a:r>
              <a:rPr lang="en-GB" dirty="0"/>
              <a:t>     Result res = new Result();</a:t>
            </a:r>
            <a:endParaRPr lang="en-IE" dirty="0"/>
          </a:p>
          <a:p>
            <a:pPr>
              <a:buNone/>
            </a:pPr>
            <a:r>
              <a:rPr lang="en-GB" dirty="0"/>
              <a:t>	 	</a:t>
            </a:r>
            <a:r>
              <a:rPr lang="en-GB" dirty="0" err="1"/>
              <a:t>FacN</a:t>
            </a:r>
            <a:r>
              <a:rPr lang="en-GB" dirty="0"/>
              <a:t> t = new </a:t>
            </a:r>
            <a:r>
              <a:rPr lang="en-GB" dirty="0" err="1"/>
              <a:t>FacN</a:t>
            </a:r>
            <a:r>
              <a:rPr lang="en-GB" dirty="0"/>
              <a:t>(n, res);</a:t>
            </a:r>
            <a:endParaRPr lang="en-IE" dirty="0"/>
          </a:p>
          <a:p>
            <a:pPr>
              <a:buNone/>
            </a:pPr>
            <a:r>
              <a:rPr lang="en-GB" dirty="0"/>
              <a:t>	 	</a:t>
            </a:r>
            <a:r>
              <a:rPr lang="en-GB" dirty="0" err="1"/>
              <a:t>t.start</a:t>
            </a:r>
            <a:r>
              <a:rPr lang="en-GB" dirty="0"/>
              <a:t>();</a:t>
            </a:r>
            <a:endParaRPr lang="en-IE" dirty="0"/>
          </a:p>
          <a:p>
            <a:pPr>
              <a:buNone/>
            </a:pPr>
            <a:r>
              <a:rPr lang="en-GB" dirty="0"/>
              <a:t>	 	try{</a:t>
            </a:r>
            <a:endParaRPr lang="en-IE" dirty="0"/>
          </a:p>
          <a:p>
            <a:pPr>
              <a:buNone/>
            </a:pPr>
            <a:r>
              <a:rPr lang="en-GB" dirty="0"/>
              <a:t>	 		</a:t>
            </a:r>
            <a:r>
              <a:rPr lang="en-GB" dirty="0" err="1"/>
              <a:t>t.join</a:t>
            </a:r>
            <a:r>
              <a:rPr lang="en-GB" dirty="0"/>
              <a:t>();</a:t>
            </a:r>
            <a:endParaRPr lang="en-IE" dirty="0"/>
          </a:p>
          <a:p>
            <a:pPr>
              <a:buNone/>
            </a:pPr>
            <a:r>
              <a:rPr lang="en-GB" dirty="0"/>
              <a:t>	 	}</a:t>
            </a:r>
            <a:endParaRPr lang="en-IE" dirty="0"/>
          </a:p>
          <a:p>
            <a:pPr>
              <a:buNone/>
            </a:pPr>
            <a:r>
              <a:rPr lang="en-GB" dirty="0"/>
              <a:t>	 	catch(</a:t>
            </a:r>
            <a:r>
              <a:rPr lang="en-GB" dirty="0" err="1"/>
              <a:t>InterruptedException</a:t>
            </a:r>
            <a:r>
              <a:rPr lang="en-GB" dirty="0"/>
              <a:t> e){}</a:t>
            </a:r>
            <a:endParaRPr lang="en-IE" dirty="0"/>
          </a:p>
          <a:p>
            <a:pPr>
              <a:buNone/>
            </a:pPr>
            <a:r>
              <a:rPr lang="en-GB" dirty="0"/>
              <a:t>	 	</a:t>
            </a:r>
            <a:r>
              <a:rPr lang="en-GB" dirty="0" err="1"/>
              <a:t>System.out.println</a:t>
            </a:r>
            <a:r>
              <a:rPr lang="en-GB" dirty="0"/>
              <a:t>("</a:t>
            </a:r>
            <a:r>
              <a:rPr lang="en-GB" dirty="0" err="1"/>
              <a:t>Fac</a:t>
            </a:r>
            <a:r>
              <a:rPr lang="en-GB" dirty="0"/>
              <a:t>("+n+") = "+ </a:t>
            </a:r>
            <a:r>
              <a:rPr lang="en-GB" dirty="0" err="1"/>
              <a:t>res.get</a:t>
            </a:r>
            <a:r>
              <a:rPr lang="en-GB" dirty="0"/>
              <a:t>());</a:t>
            </a:r>
            <a:endParaRPr lang="en-IE" dirty="0"/>
          </a:p>
        </p:txBody>
      </p:sp>
      <p:sp>
        <p:nvSpPr>
          <p:cNvPr id="6" name="Slide Number Placeholder 5">
            <a:extLst>
              <a:ext uri="{FF2B5EF4-FFF2-40B4-BE49-F238E27FC236}">
                <a16:creationId xmlns:a16="http://schemas.microsoft.com/office/drawing/2014/main" id="{CD85E472-BF8F-40C4-B6D3-E85D0EDB096F}"/>
              </a:ext>
            </a:extLst>
          </p:cNvPr>
          <p:cNvSpPr>
            <a:spLocks noGrp="1"/>
          </p:cNvSpPr>
          <p:nvPr>
            <p:ph type="sldNum" sz="quarter" idx="12"/>
          </p:nvPr>
        </p:nvSpPr>
        <p:spPr/>
        <p:txBody>
          <a:bodyPr/>
          <a:lstStyle/>
          <a:p>
            <a:fld id="{26944F6C-7B8C-1F48-9BFD-FC1F35051F46}" type="slidenum">
              <a:rPr lang="en-US" smtClean="0"/>
              <a:pPr/>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E"/>
          </a:p>
        </p:txBody>
      </p:sp>
      <p:sp>
        <p:nvSpPr>
          <p:cNvPr id="3" name="Content Placeholder 2"/>
          <p:cNvSpPr>
            <a:spLocks noGrp="1"/>
          </p:cNvSpPr>
          <p:nvPr>
            <p:ph idx="1"/>
          </p:nvPr>
        </p:nvSpPr>
        <p:spPr/>
        <p:txBody>
          <a:bodyPr/>
          <a:lstStyle/>
          <a:p>
            <a:pPr>
              <a:buNone/>
            </a:pPr>
            <a:r>
              <a:rPr lang="en-IE" dirty="0"/>
              <a:t>Note</a:t>
            </a:r>
          </a:p>
          <a:p>
            <a:endParaRPr lang="en-IE" dirty="0"/>
          </a:p>
          <a:p>
            <a:r>
              <a:rPr lang="en-IE" dirty="0"/>
              <a:t>Each thread gets its own instance of Result class</a:t>
            </a:r>
          </a:p>
          <a:p>
            <a:r>
              <a:rPr lang="en-IE" dirty="0"/>
              <a:t>Sharing not covered here</a:t>
            </a:r>
          </a:p>
        </p:txBody>
      </p:sp>
      <p:sp>
        <p:nvSpPr>
          <p:cNvPr id="6" name="Slide Number Placeholder 5">
            <a:extLst>
              <a:ext uri="{FF2B5EF4-FFF2-40B4-BE49-F238E27FC236}">
                <a16:creationId xmlns:a16="http://schemas.microsoft.com/office/drawing/2014/main" id="{9ADD3FFA-2156-4EC7-AF16-32E06F20386E}"/>
              </a:ext>
            </a:extLst>
          </p:cNvPr>
          <p:cNvSpPr>
            <a:spLocks noGrp="1"/>
          </p:cNvSpPr>
          <p:nvPr>
            <p:ph type="sldNum" sz="quarter" idx="12"/>
          </p:nvPr>
        </p:nvSpPr>
        <p:spPr/>
        <p:txBody>
          <a:bodyPr/>
          <a:lstStyle/>
          <a:p>
            <a:fld id="{26944F6C-7B8C-1F48-9BFD-FC1F35051F46}" type="slidenum">
              <a:rPr lang="en-US" smtClean="0"/>
              <a:pPr/>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9F741E3D-9588-6342-8042-DC9C05EBDA28}" type="slidenum">
              <a:rPr lang="en-US"/>
              <a:pPr>
                <a:defRPr/>
              </a:pPr>
              <a:t>84</a:t>
            </a:fld>
            <a:endParaRPr lang="en-US"/>
          </a:p>
        </p:txBody>
      </p:sp>
      <p:sp>
        <p:nvSpPr>
          <p:cNvPr id="43010" name="Rectangle 2"/>
          <p:cNvSpPr>
            <a:spLocks noGrp="1" noChangeArrowheads="1"/>
          </p:cNvSpPr>
          <p:nvPr>
            <p:ph type="title"/>
          </p:nvPr>
        </p:nvSpPr>
        <p:spPr/>
        <p:txBody>
          <a:bodyPr>
            <a:normAutofit fontScale="90000"/>
          </a:bodyPr>
          <a:lstStyle/>
          <a:p>
            <a:pPr eaLnBrk="1" hangingPunct="1">
              <a:defRPr/>
            </a:pPr>
            <a:r>
              <a:rPr lang="en-GB">
                <a:cs typeface="+mj-cs"/>
              </a:rPr>
              <a:t>Exercise</a:t>
            </a:r>
            <a:endParaRPr lang="en-US">
              <a:cs typeface="+mj-cs"/>
            </a:endParaRPr>
          </a:p>
        </p:txBody>
      </p:sp>
      <p:sp>
        <p:nvSpPr>
          <p:cNvPr id="43011" name="Rectangle 3"/>
          <p:cNvSpPr>
            <a:spLocks noGrp="1" noChangeArrowheads="1"/>
          </p:cNvSpPr>
          <p:nvPr>
            <p:ph type="body" idx="1"/>
          </p:nvPr>
        </p:nvSpPr>
        <p:spPr>
          <a:xfrm>
            <a:off x="468313" y="908050"/>
            <a:ext cx="8229600" cy="5184775"/>
          </a:xfrm>
        </p:spPr>
        <p:txBody>
          <a:bodyPr/>
          <a:lstStyle/>
          <a:p>
            <a:pPr eaLnBrk="1" hangingPunct="1">
              <a:lnSpc>
                <a:spcPct val="80000"/>
              </a:lnSpc>
              <a:buFontTx/>
              <a:buNone/>
              <a:defRPr/>
            </a:pPr>
            <a:r>
              <a:rPr lang="en-US" sz="2400">
                <a:latin typeface="Comic Sans MS" charset="0"/>
                <a:cs typeface="+mn-cs"/>
              </a:rPr>
              <a:t>class Timer extends Thread{</a:t>
            </a:r>
          </a:p>
          <a:p>
            <a:pPr eaLnBrk="1" hangingPunct="1">
              <a:lnSpc>
                <a:spcPct val="80000"/>
              </a:lnSpc>
              <a:buFontTx/>
              <a:buNone/>
              <a:defRPr/>
            </a:pPr>
            <a:r>
              <a:rPr lang="en-US" sz="2400">
                <a:latin typeface="Comic Sans MS" charset="0"/>
                <a:cs typeface="+mn-cs"/>
              </a:rPr>
              <a:t>	int x = 0;</a:t>
            </a:r>
          </a:p>
          <a:p>
            <a:pPr eaLnBrk="1" hangingPunct="1">
              <a:lnSpc>
                <a:spcPct val="80000"/>
              </a:lnSpc>
              <a:buFontTx/>
              <a:buNone/>
              <a:defRPr/>
            </a:pPr>
            <a:r>
              <a:rPr lang="en-US" sz="2400">
                <a:latin typeface="Comic Sans MS" charset="0"/>
                <a:cs typeface="+mn-cs"/>
              </a:rPr>
              <a:t>	public void run(){</a:t>
            </a:r>
          </a:p>
          <a:p>
            <a:pPr eaLnBrk="1" hangingPunct="1">
              <a:lnSpc>
                <a:spcPct val="80000"/>
              </a:lnSpc>
              <a:buFontTx/>
              <a:buNone/>
              <a:defRPr/>
            </a:pPr>
            <a:r>
              <a:rPr lang="en-US" sz="2400">
                <a:latin typeface="Comic Sans MS" charset="0"/>
                <a:cs typeface="+mn-cs"/>
              </a:rPr>
              <a:t>		boolean b = true;</a:t>
            </a:r>
          </a:p>
          <a:p>
            <a:pPr eaLnBrk="1" hangingPunct="1">
              <a:lnSpc>
                <a:spcPct val="80000"/>
              </a:lnSpc>
              <a:buFontTx/>
              <a:buNone/>
              <a:defRPr/>
            </a:pPr>
            <a:r>
              <a:rPr lang="en-US" sz="2400">
                <a:latin typeface="Comic Sans MS" charset="0"/>
                <a:cs typeface="+mn-cs"/>
              </a:rPr>
              <a:t>		while(b){</a:t>
            </a:r>
          </a:p>
          <a:p>
            <a:pPr eaLnBrk="1" hangingPunct="1">
              <a:lnSpc>
                <a:spcPct val="80000"/>
              </a:lnSpc>
              <a:buFontTx/>
              <a:buNone/>
              <a:defRPr/>
            </a:pPr>
            <a:r>
              <a:rPr lang="en-US" sz="2400">
                <a:latin typeface="Comic Sans MS" charset="0"/>
                <a:cs typeface="+mn-cs"/>
              </a:rPr>
              <a:t>			try{</a:t>
            </a:r>
          </a:p>
          <a:p>
            <a:pPr eaLnBrk="1" hangingPunct="1">
              <a:lnSpc>
                <a:spcPct val="80000"/>
              </a:lnSpc>
              <a:buFontTx/>
              <a:buNone/>
              <a:defRPr/>
            </a:pPr>
            <a:r>
              <a:rPr lang="en-US" sz="2400">
                <a:latin typeface="Comic Sans MS" charset="0"/>
                <a:cs typeface="+mn-cs"/>
              </a:rPr>
              <a:t>				Thread.sleep(1000);</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catch(InterruptedException e){}</a:t>
            </a:r>
          </a:p>
          <a:p>
            <a:pPr eaLnBrk="1" hangingPunct="1">
              <a:lnSpc>
                <a:spcPct val="80000"/>
              </a:lnSpc>
              <a:buFontTx/>
              <a:buNone/>
              <a:defRPr/>
            </a:pPr>
            <a:r>
              <a:rPr lang="en-US" sz="2400">
                <a:latin typeface="Comic Sans MS" charset="0"/>
                <a:cs typeface="+mn-cs"/>
              </a:rPr>
              <a:t>			x++;</a:t>
            </a:r>
          </a:p>
          <a:p>
            <a:pPr eaLnBrk="1" hangingPunct="1">
              <a:lnSpc>
                <a:spcPct val="80000"/>
              </a:lnSpc>
              <a:buFontTx/>
              <a:buNone/>
              <a:defRPr/>
            </a:pPr>
            <a:r>
              <a:rPr lang="en-US" sz="2400">
                <a:latin typeface="Comic Sans MS" charset="0"/>
                <a:cs typeface="+mn-cs"/>
              </a:rPr>
              <a:t>			System.out.print(x+" ");</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a:t>
            </a:r>
          </a:p>
        </p:txBody>
      </p:sp>
    </p:spTree>
    <p:extLst>
      <p:ext uri="{BB962C8B-B14F-4D97-AF65-F5344CB8AC3E}">
        <p14:creationId xmlns:p14="http://schemas.microsoft.com/office/powerpoint/2010/main" val="336893797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C99E4E98-A6CF-9541-9DDE-6B8181EB8B9F}" type="slidenum">
              <a:rPr lang="en-US"/>
              <a:pPr>
                <a:defRPr/>
              </a:pPr>
              <a:t>85</a:t>
            </a:fld>
            <a:endParaRPr lang="en-US"/>
          </a:p>
        </p:txBody>
      </p:sp>
      <p:sp>
        <p:nvSpPr>
          <p:cNvPr id="54274" name="Rectangle 2"/>
          <p:cNvSpPr>
            <a:spLocks noGrp="1" noChangeArrowheads="1"/>
          </p:cNvSpPr>
          <p:nvPr>
            <p:ph type="title"/>
          </p:nvPr>
        </p:nvSpPr>
        <p:spPr/>
        <p:txBody>
          <a:bodyPr>
            <a:normAutofit fontScale="90000"/>
          </a:bodyPr>
          <a:lstStyle/>
          <a:p>
            <a:pPr eaLnBrk="1" hangingPunct="1">
              <a:defRPr/>
            </a:pPr>
            <a:r>
              <a:rPr lang="en-GB">
                <a:cs typeface="+mj-cs"/>
              </a:rPr>
              <a:t>Exercise</a:t>
            </a:r>
            <a:endParaRPr lang="en-US">
              <a:cs typeface="+mj-cs"/>
            </a:endParaRPr>
          </a:p>
        </p:txBody>
      </p:sp>
      <p:sp>
        <p:nvSpPr>
          <p:cNvPr id="54275" name="Rectangle 3"/>
          <p:cNvSpPr>
            <a:spLocks noGrp="1" noChangeArrowheads="1"/>
          </p:cNvSpPr>
          <p:nvPr>
            <p:ph type="body" idx="1"/>
          </p:nvPr>
        </p:nvSpPr>
        <p:spPr>
          <a:xfrm>
            <a:off x="395288" y="1052513"/>
            <a:ext cx="8229600" cy="5113337"/>
          </a:xfrm>
        </p:spPr>
        <p:txBody>
          <a:bodyPr/>
          <a:lstStyle/>
          <a:p>
            <a:pPr eaLnBrk="1" hangingPunct="1">
              <a:lnSpc>
                <a:spcPct val="90000"/>
              </a:lnSpc>
              <a:buFontTx/>
              <a:buNone/>
              <a:defRPr/>
            </a:pPr>
            <a:r>
              <a:rPr lang="en-US" sz="2400">
                <a:latin typeface="Comic Sans MS" charset="0"/>
                <a:cs typeface="+mn-cs"/>
              </a:rPr>
              <a:t>class Ex1Q2{</a:t>
            </a:r>
          </a:p>
          <a:p>
            <a:pPr eaLnBrk="1" hangingPunct="1">
              <a:lnSpc>
                <a:spcPct val="90000"/>
              </a:lnSpc>
              <a:buFontTx/>
              <a:buNone/>
              <a:defRPr/>
            </a:pPr>
            <a:r>
              <a:rPr lang="en-US" sz="2400">
                <a:latin typeface="Comic Sans MS" charset="0"/>
                <a:cs typeface="+mn-cs"/>
              </a:rPr>
              <a:t>	public static void main(String args[]){</a:t>
            </a:r>
          </a:p>
          <a:p>
            <a:pPr eaLnBrk="1" hangingPunct="1">
              <a:lnSpc>
                <a:spcPct val="90000"/>
              </a:lnSpc>
              <a:buFontTx/>
              <a:buNone/>
              <a:defRPr/>
            </a:pPr>
            <a:r>
              <a:rPr lang="en-US" sz="2400">
                <a:latin typeface="Comic Sans MS" charset="0"/>
                <a:cs typeface="+mn-cs"/>
              </a:rPr>
              <a:t>		Thread t = new Timer();</a:t>
            </a:r>
          </a:p>
          <a:p>
            <a:pPr eaLnBrk="1" hangingPunct="1">
              <a:lnSpc>
                <a:spcPct val="90000"/>
              </a:lnSpc>
              <a:buFontTx/>
              <a:buNone/>
              <a:defRPr/>
            </a:pPr>
            <a:r>
              <a:rPr lang="en-US" sz="2400">
                <a:latin typeface="Comic Sans MS" charset="0"/>
                <a:cs typeface="+mn-cs"/>
              </a:rPr>
              <a:t>		t.start();</a:t>
            </a:r>
          </a:p>
          <a:p>
            <a:pPr eaLnBrk="1" hangingPunct="1">
              <a:lnSpc>
                <a:spcPct val="90000"/>
              </a:lnSpc>
              <a:buFontTx/>
              <a:buNone/>
              <a:defRPr/>
            </a:pPr>
            <a:r>
              <a:rPr lang="en-US" sz="2400">
                <a:latin typeface="Comic Sans MS" charset="0"/>
                <a:cs typeface="+mn-cs"/>
              </a:rPr>
              <a:t>		//let timer run for 10 seconds</a:t>
            </a:r>
          </a:p>
          <a:p>
            <a:pPr eaLnBrk="1" hangingPunct="1">
              <a:lnSpc>
                <a:spcPct val="90000"/>
              </a:lnSpc>
              <a:buFontTx/>
              <a:buNone/>
              <a:defRPr/>
            </a:pPr>
            <a:r>
              <a:rPr lang="en-US" sz="2400">
                <a:latin typeface="Comic Sans MS" charset="0"/>
                <a:cs typeface="+mn-cs"/>
              </a:rPr>
              <a:t>		try{</a:t>
            </a:r>
          </a:p>
          <a:p>
            <a:pPr eaLnBrk="1" hangingPunct="1">
              <a:lnSpc>
                <a:spcPct val="90000"/>
              </a:lnSpc>
              <a:buFontTx/>
              <a:buNone/>
              <a:defRPr/>
            </a:pPr>
            <a:r>
              <a:rPr lang="en-US" sz="2400">
                <a:latin typeface="Comic Sans MS" charset="0"/>
                <a:cs typeface="+mn-cs"/>
              </a:rPr>
              <a:t>				Thread.sleep(10000);</a:t>
            </a:r>
          </a:p>
          <a:p>
            <a:pPr eaLnBrk="1" hangingPunct="1">
              <a:lnSpc>
                <a:spcPct val="90000"/>
              </a:lnSpc>
              <a:buFontTx/>
              <a:buNone/>
              <a:defRPr/>
            </a:pPr>
            <a:r>
              <a:rPr lang="en-US" sz="2400">
                <a:latin typeface="Comic Sans MS" charset="0"/>
                <a:cs typeface="+mn-cs"/>
              </a:rPr>
              <a:t>		}</a:t>
            </a:r>
          </a:p>
          <a:p>
            <a:pPr eaLnBrk="1" hangingPunct="1">
              <a:lnSpc>
                <a:spcPct val="90000"/>
              </a:lnSpc>
              <a:buFontTx/>
              <a:buNone/>
              <a:defRPr/>
            </a:pPr>
            <a:r>
              <a:rPr lang="en-US" sz="2400">
                <a:latin typeface="Comic Sans MS" charset="0"/>
                <a:cs typeface="+mn-cs"/>
              </a:rPr>
              <a:t>		catch(InterruptedException e){}</a:t>
            </a:r>
          </a:p>
          <a:p>
            <a:pPr eaLnBrk="1" hangingPunct="1">
              <a:lnSpc>
                <a:spcPct val="90000"/>
              </a:lnSpc>
              <a:buFontTx/>
              <a:buNone/>
              <a:defRPr/>
            </a:pPr>
            <a:r>
              <a:rPr lang="en-US" sz="2400">
                <a:latin typeface="Comic Sans MS" charset="0"/>
                <a:cs typeface="+mn-cs"/>
              </a:rPr>
              <a:t>		System.exit(0);</a:t>
            </a:r>
          </a:p>
          <a:p>
            <a:pPr eaLnBrk="1" hangingPunct="1">
              <a:lnSpc>
                <a:spcPct val="90000"/>
              </a:lnSpc>
              <a:buFontTx/>
              <a:buNone/>
              <a:defRPr/>
            </a:pPr>
            <a:r>
              <a:rPr lang="en-US" sz="2400">
                <a:latin typeface="Comic Sans MS" charset="0"/>
                <a:cs typeface="+mn-cs"/>
              </a:rPr>
              <a:t>	}</a:t>
            </a:r>
          </a:p>
          <a:p>
            <a:pPr eaLnBrk="1" hangingPunct="1">
              <a:lnSpc>
                <a:spcPct val="90000"/>
              </a:lnSpc>
              <a:buFontTx/>
              <a:buNone/>
              <a:defRPr/>
            </a:pPr>
            <a:r>
              <a:rPr lang="en-US" sz="2400">
                <a:latin typeface="Comic Sans MS" charset="0"/>
                <a:cs typeface="+mn-cs"/>
              </a:rPr>
              <a:t>}</a:t>
            </a:r>
          </a:p>
          <a:p>
            <a:pPr eaLnBrk="1" hangingPunct="1">
              <a:lnSpc>
                <a:spcPct val="90000"/>
              </a:lnSpc>
              <a:defRPr/>
            </a:pPr>
            <a:endParaRPr lang="en-US" sz="2400">
              <a:latin typeface="Comic Sans MS" charset="0"/>
              <a:cs typeface="+mn-cs"/>
            </a:endParaRPr>
          </a:p>
        </p:txBody>
      </p:sp>
    </p:spTree>
    <p:extLst>
      <p:ext uri="{BB962C8B-B14F-4D97-AF65-F5344CB8AC3E}">
        <p14:creationId xmlns:p14="http://schemas.microsoft.com/office/powerpoint/2010/main" val="9165690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7FF1BE39-885E-2B43-8115-E79CCF2A522A}" type="slidenum">
              <a:rPr lang="en-US"/>
              <a:pPr>
                <a:defRPr/>
              </a:pPr>
              <a:t>86</a:t>
            </a:fld>
            <a:endParaRPr lang="en-US"/>
          </a:p>
        </p:txBody>
      </p:sp>
      <p:sp>
        <p:nvSpPr>
          <p:cNvPr id="56322" name="Rectangle 2"/>
          <p:cNvSpPr>
            <a:spLocks noGrp="1" noChangeArrowheads="1"/>
          </p:cNvSpPr>
          <p:nvPr>
            <p:ph type="title"/>
          </p:nvPr>
        </p:nvSpPr>
        <p:spPr/>
        <p:txBody>
          <a:bodyPr>
            <a:normAutofit fontScale="90000"/>
          </a:bodyPr>
          <a:lstStyle/>
          <a:p>
            <a:pPr eaLnBrk="1" hangingPunct="1">
              <a:defRPr/>
            </a:pPr>
            <a:r>
              <a:rPr lang="en-GB">
                <a:cs typeface="+mj-cs"/>
              </a:rPr>
              <a:t>Exercise</a:t>
            </a:r>
            <a:endParaRPr lang="en-US">
              <a:cs typeface="+mj-cs"/>
            </a:endParaRPr>
          </a:p>
        </p:txBody>
      </p:sp>
      <p:sp>
        <p:nvSpPr>
          <p:cNvPr id="56323" name="Rectangle 3"/>
          <p:cNvSpPr>
            <a:spLocks noGrp="1" noChangeArrowheads="1"/>
          </p:cNvSpPr>
          <p:nvPr>
            <p:ph type="body" idx="1"/>
          </p:nvPr>
        </p:nvSpPr>
        <p:spPr>
          <a:xfrm>
            <a:off x="468313" y="981075"/>
            <a:ext cx="8229600" cy="5111750"/>
          </a:xfrm>
        </p:spPr>
        <p:txBody>
          <a:bodyPr>
            <a:normAutofit lnSpcReduction="10000"/>
          </a:bodyPr>
          <a:lstStyle/>
          <a:p>
            <a:pPr eaLnBrk="1" hangingPunct="1">
              <a:lnSpc>
                <a:spcPct val="80000"/>
              </a:lnSpc>
              <a:buFontTx/>
              <a:buNone/>
              <a:defRPr/>
            </a:pPr>
            <a:r>
              <a:rPr lang="en-US" sz="2400">
                <a:latin typeface="Comic Sans MS" charset="0"/>
                <a:cs typeface="+mn-cs"/>
              </a:rPr>
              <a:t>class MessagePrinter implements Runnable {</a:t>
            </a:r>
          </a:p>
          <a:p>
            <a:pPr eaLnBrk="1" hangingPunct="1">
              <a:lnSpc>
                <a:spcPct val="80000"/>
              </a:lnSpc>
              <a:buFontTx/>
              <a:buNone/>
              <a:defRPr/>
            </a:pPr>
            <a:r>
              <a:rPr lang="en-US" sz="2400">
                <a:latin typeface="Comic Sans MS" charset="0"/>
                <a:cs typeface="+mn-cs"/>
              </a:rPr>
              <a:t>    private String message;</a:t>
            </a:r>
          </a:p>
          <a:p>
            <a:pPr eaLnBrk="1" hangingPunct="1">
              <a:lnSpc>
                <a:spcPct val="80000"/>
              </a:lnSpc>
              <a:buFontTx/>
              <a:buNone/>
              <a:defRPr/>
            </a:pPr>
            <a:r>
              <a:rPr lang="en-US" sz="2400">
                <a:latin typeface="Comic Sans MS" charset="0"/>
                <a:cs typeface="+mn-cs"/>
              </a:rPr>
              <a:t>    private boolean b; </a:t>
            </a:r>
          </a:p>
          <a:p>
            <a:pPr eaLnBrk="1" hangingPunct="1">
              <a:lnSpc>
                <a:spcPct val="80000"/>
              </a:lnSpc>
              <a:buFontTx/>
              <a:buNone/>
              <a:defRPr/>
            </a:pPr>
            <a:r>
              <a:rPr lang="en-US" sz="2400">
                <a:latin typeface="Comic Sans MS" charset="0"/>
                <a:cs typeface="+mn-cs"/>
              </a:rPr>
              <a:t>    MessagePrinter(String m){</a:t>
            </a:r>
          </a:p>
          <a:p>
            <a:pPr eaLnBrk="1" hangingPunct="1">
              <a:lnSpc>
                <a:spcPct val="80000"/>
              </a:lnSpc>
              <a:buFontTx/>
              <a:buNone/>
              <a:defRPr/>
            </a:pPr>
            <a:r>
              <a:rPr lang="en-US" sz="2400">
                <a:latin typeface="Comic Sans MS" charset="0"/>
                <a:cs typeface="+mn-cs"/>
              </a:rPr>
              <a:t>        message = m; b = true;</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public void run() {</a:t>
            </a:r>
          </a:p>
          <a:p>
            <a:pPr eaLnBrk="1" hangingPunct="1">
              <a:lnSpc>
                <a:spcPct val="80000"/>
              </a:lnSpc>
              <a:buFontTx/>
              <a:buNone/>
              <a:defRPr/>
            </a:pPr>
            <a:r>
              <a:rPr lang="en-US" sz="2400">
                <a:latin typeface="Comic Sans MS" charset="0"/>
                <a:cs typeface="+mn-cs"/>
              </a:rPr>
              <a:t>        while (b) {</a:t>
            </a:r>
          </a:p>
          <a:p>
            <a:pPr eaLnBrk="1" hangingPunct="1">
              <a:lnSpc>
                <a:spcPct val="80000"/>
              </a:lnSpc>
              <a:buFontTx/>
              <a:buNone/>
              <a:defRPr/>
            </a:pPr>
            <a:r>
              <a:rPr lang="en-US" sz="2400">
                <a:latin typeface="Comic Sans MS" charset="0"/>
                <a:cs typeface="+mn-cs"/>
              </a:rPr>
              <a:t>            System.out.println(message);</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    </a:t>
            </a:r>
          </a:p>
          <a:p>
            <a:pPr eaLnBrk="1" hangingPunct="1">
              <a:lnSpc>
                <a:spcPct val="80000"/>
              </a:lnSpc>
              <a:buFontTx/>
              <a:buNone/>
              <a:defRPr/>
            </a:pPr>
            <a:r>
              <a:rPr lang="en-US" sz="2400">
                <a:latin typeface="Comic Sans MS" charset="0"/>
                <a:cs typeface="+mn-cs"/>
              </a:rPr>
              <a:t>    // public method to stop thread by setting b = false</a:t>
            </a:r>
          </a:p>
          <a:p>
            <a:pPr eaLnBrk="1" hangingPunct="1">
              <a:lnSpc>
                <a:spcPct val="80000"/>
              </a:lnSpc>
              <a:buFontTx/>
              <a:buNone/>
              <a:defRPr/>
            </a:pPr>
            <a:r>
              <a:rPr lang="en-US" sz="2400">
                <a:latin typeface="Comic Sans MS" charset="0"/>
                <a:cs typeface="+mn-cs"/>
              </a:rPr>
              <a:t>    public void stop(){b = false;}</a:t>
            </a:r>
          </a:p>
          <a:p>
            <a:pPr eaLnBrk="1" hangingPunct="1">
              <a:lnSpc>
                <a:spcPct val="80000"/>
              </a:lnSpc>
              <a:buFontTx/>
              <a:buNone/>
              <a:defRPr/>
            </a:pPr>
            <a:r>
              <a:rPr lang="en-US" sz="2400">
                <a:latin typeface="Comic Sans MS" charset="0"/>
                <a:cs typeface="+mn-cs"/>
              </a:rPr>
              <a:t>}</a:t>
            </a:r>
          </a:p>
        </p:txBody>
      </p:sp>
    </p:spTree>
    <p:extLst>
      <p:ext uri="{BB962C8B-B14F-4D97-AF65-F5344CB8AC3E}">
        <p14:creationId xmlns:p14="http://schemas.microsoft.com/office/powerpoint/2010/main" val="11134737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C01E3495-BF27-FE4F-A1B4-C0066FEF287F}" type="slidenum">
              <a:rPr lang="en-US"/>
              <a:pPr>
                <a:defRPr/>
              </a:pPr>
              <a:t>87</a:t>
            </a:fld>
            <a:endParaRPr lang="en-US"/>
          </a:p>
        </p:txBody>
      </p:sp>
      <p:sp>
        <p:nvSpPr>
          <p:cNvPr id="55298" name="Rectangle 2"/>
          <p:cNvSpPr>
            <a:spLocks noGrp="1" noChangeArrowheads="1"/>
          </p:cNvSpPr>
          <p:nvPr>
            <p:ph type="title"/>
          </p:nvPr>
        </p:nvSpPr>
        <p:spPr/>
        <p:txBody>
          <a:bodyPr>
            <a:normAutofit fontScale="90000"/>
          </a:bodyPr>
          <a:lstStyle/>
          <a:p>
            <a:pPr eaLnBrk="1" hangingPunct="1">
              <a:defRPr/>
            </a:pPr>
            <a:r>
              <a:rPr lang="en-GB">
                <a:cs typeface="+mj-cs"/>
              </a:rPr>
              <a:t>Exercise</a:t>
            </a:r>
            <a:endParaRPr lang="en-US">
              <a:cs typeface="+mj-cs"/>
            </a:endParaRPr>
          </a:p>
        </p:txBody>
      </p:sp>
      <p:sp>
        <p:nvSpPr>
          <p:cNvPr id="55299" name="Rectangle 3"/>
          <p:cNvSpPr>
            <a:spLocks noGrp="1" noChangeArrowheads="1"/>
          </p:cNvSpPr>
          <p:nvPr>
            <p:ph type="body" idx="1"/>
          </p:nvPr>
        </p:nvSpPr>
        <p:spPr>
          <a:xfrm>
            <a:off x="539750" y="981075"/>
            <a:ext cx="8229600" cy="5111750"/>
          </a:xfrm>
        </p:spPr>
        <p:txBody>
          <a:bodyPr/>
          <a:lstStyle/>
          <a:p>
            <a:pPr eaLnBrk="1" hangingPunct="1">
              <a:lnSpc>
                <a:spcPct val="80000"/>
              </a:lnSpc>
              <a:buFontTx/>
              <a:buNone/>
              <a:defRPr/>
            </a:pPr>
            <a:r>
              <a:rPr lang="en-US" sz="2000">
                <a:latin typeface="Comic Sans MS" charset="0"/>
                <a:cs typeface="+mn-cs"/>
              </a:rPr>
              <a:t>class Ex1Q3{</a:t>
            </a:r>
          </a:p>
          <a:p>
            <a:pPr eaLnBrk="1" hangingPunct="1">
              <a:lnSpc>
                <a:spcPct val="80000"/>
              </a:lnSpc>
              <a:buFontTx/>
              <a:buNone/>
              <a:defRPr/>
            </a:pPr>
            <a:r>
              <a:rPr lang="en-US" sz="2000">
                <a:latin typeface="Comic Sans MS" charset="0"/>
                <a:cs typeface="+mn-cs"/>
              </a:rPr>
              <a:t>	public static void main(String args[]){</a:t>
            </a:r>
          </a:p>
          <a:p>
            <a:pPr eaLnBrk="1" hangingPunct="1">
              <a:lnSpc>
                <a:spcPct val="80000"/>
              </a:lnSpc>
              <a:buFontTx/>
              <a:buNone/>
              <a:defRPr/>
            </a:pPr>
            <a:r>
              <a:rPr lang="en-US" sz="2000">
                <a:latin typeface="Comic Sans MS" charset="0"/>
                <a:cs typeface="+mn-cs"/>
              </a:rPr>
              <a:t>		MessagePrinter ms = new MessagePrinter("Happy Days gave</a:t>
            </a:r>
          </a:p>
          <a:p>
            <a:pPr eaLnBrk="1" hangingPunct="1">
              <a:lnSpc>
                <a:spcPct val="80000"/>
              </a:lnSpc>
              <a:buFontTx/>
              <a:buNone/>
              <a:defRPr/>
            </a:pPr>
            <a:r>
              <a:rPr lang="en-US" sz="2000">
                <a:latin typeface="Comic Sans MS" charset="0"/>
                <a:cs typeface="+mn-cs"/>
              </a:rPr>
              <a:t>							 Sam a laugh");</a:t>
            </a:r>
          </a:p>
          <a:p>
            <a:pPr eaLnBrk="1" hangingPunct="1">
              <a:lnSpc>
                <a:spcPct val="80000"/>
              </a:lnSpc>
              <a:buFontTx/>
              <a:buNone/>
              <a:defRPr/>
            </a:pPr>
            <a:r>
              <a:rPr lang="en-US" sz="2000">
                <a:latin typeface="Comic Sans MS" charset="0"/>
                <a:cs typeface="+mn-cs"/>
              </a:rPr>
              <a:t>		Thread t = new Thread(ms);</a:t>
            </a:r>
          </a:p>
          <a:p>
            <a:pPr eaLnBrk="1" hangingPunct="1">
              <a:lnSpc>
                <a:spcPct val="80000"/>
              </a:lnSpc>
              <a:buFontTx/>
              <a:buNone/>
              <a:defRPr/>
            </a:pPr>
            <a:r>
              <a:rPr lang="en-US" sz="2000">
                <a:latin typeface="Comic Sans MS" charset="0"/>
                <a:cs typeface="+mn-cs"/>
              </a:rPr>
              <a:t>		t.start();</a:t>
            </a:r>
          </a:p>
          <a:p>
            <a:pPr eaLnBrk="1" hangingPunct="1">
              <a:lnSpc>
                <a:spcPct val="80000"/>
              </a:lnSpc>
              <a:buFontTx/>
              <a:buNone/>
              <a:defRPr/>
            </a:pPr>
            <a:r>
              <a:rPr lang="en-US" sz="2000">
                <a:latin typeface="Comic Sans MS" charset="0"/>
                <a:cs typeface="+mn-cs"/>
              </a:rPr>
              <a:t>		try{</a:t>
            </a:r>
          </a:p>
          <a:p>
            <a:pPr eaLnBrk="1" hangingPunct="1">
              <a:lnSpc>
                <a:spcPct val="80000"/>
              </a:lnSpc>
              <a:buFontTx/>
              <a:buNone/>
              <a:defRPr/>
            </a:pPr>
            <a:r>
              <a:rPr lang="en-US" sz="2000">
                <a:latin typeface="Comic Sans MS" charset="0"/>
                <a:cs typeface="+mn-cs"/>
              </a:rPr>
              <a:t>			t.join(2000);</a:t>
            </a:r>
          </a:p>
          <a:p>
            <a:pPr eaLnBrk="1" hangingPunct="1">
              <a:lnSpc>
                <a:spcPct val="80000"/>
              </a:lnSpc>
              <a:buFontTx/>
              <a:buNone/>
              <a:defRPr/>
            </a:pPr>
            <a:r>
              <a:rPr lang="en-US" sz="2000">
                <a:latin typeface="Comic Sans MS" charset="0"/>
                <a:cs typeface="+mn-cs"/>
              </a:rPr>
              <a:t>		}</a:t>
            </a:r>
          </a:p>
          <a:p>
            <a:pPr eaLnBrk="1" hangingPunct="1">
              <a:lnSpc>
                <a:spcPct val="80000"/>
              </a:lnSpc>
              <a:buFontTx/>
              <a:buNone/>
              <a:defRPr/>
            </a:pPr>
            <a:r>
              <a:rPr lang="en-US" sz="2000">
                <a:latin typeface="Comic Sans MS" charset="0"/>
                <a:cs typeface="+mn-cs"/>
              </a:rPr>
              <a:t>		catch(InterruptedException e){}</a:t>
            </a:r>
          </a:p>
          <a:p>
            <a:pPr eaLnBrk="1" hangingPunct="1">
              <a:lnSpc>
                <a:spcPct val="80000"/>
              </a:lnSpc>
              <a:buFontTx/>
              <a:buNone/>
              <a:defRPr/>
            </a:pPr>
            <a:r>
              <a:rPr lang="en-US" sz="2000">
                <a:latin typeface="Comic Sans MS" charset="0"/>
                <a:cs typeface="+mn-cs"/>
              </a:rPr>
              <a:t>		// Note that stop method belongs to the Runnable class</a:t>
            </a:r>
          </a:p>
          <a:p>
            <a:pPr eaLnBrk="1" hangingPunct="1">
              <a:lnSpc>
                <a:spcPct val="80000"/>
              </a:lnSpc>
              <a:buFontTx/>
              <a:buNone/>
              <a:defRPr/>
            </a:pPr>
            <a:r>
              <a:rPr lang="en-US" sz="2000">
                <a:latin typeface="Comic Sans MS" charset="0"/>
                <a:cs typeface="+mn-cs"/>
              </a:rPr>
              <a:t>		// and not the thread</a:t>
            </a:r>
          </a:p>
          <a:p>
            <a:pPr eaLnBrk="1" hangingPunct="1">
              <a:lnSpc>
                <a:spcPct val="80000"/>
              </a:lnSpc>
              <a:buFontTx/>
              <a:buNone/>
              <a:defRPr/>
            </a:pPr>
            <a:r>
              <a:rPr lang="en-US" sz="2000">
                <a:latin typeface="Comic Sans MS" charset="0"/>
                <a:cs typeface="+mn-cs"/>
              </a:rPr>
              <a:t>		ms.stop();</a:t>
            </a:r>
          </a:p>
          <a:p>
            <a:pPr eaLnBrk="1" hangingPunct="1">
              <a:lnSpc>
                <a:spcPct val="80000"/>
              </a:lnSpc>
              <a:buFontTx/>
              <a:buNone/>
              <a:defRPr/>
            </a:pPr>
            <a:r>
              <a:rPr lang="en-US" sz="2000">
                <a:latin typeface="Comic Sans MS" charset="0"/>
                <a:cs typeface="+mn-cs"/>
              </a:rPr>
              <a:t>		System.out.println("MessagePrinter stopped");</a:t>
            </a:r>
          </a:p>
          <a:p>
            <a:pPr eaLnBrk="1" hangingPunct="1">
              <a:lnSpc>
                <a:spcPct val="80000"/>
              </a:lnSpc>
              <a:buFontTx/>
              <a:buNone/>
              <a:defRPr/>
            </a:pPr>
            <a:r>
              <a:rPr lang="en-US" sz="2000">
                <a:latin typeface="Comic Sans MS" charset="0"/>
                <a:cs typeface="+mn-cs"/>
              </a:rPr>
              <a:t>	}</a:t>
            </a:r>
          </a:p>
          <a:p>
            <a:pPr eaLnBrk="1" hangingPunct="1">
              <a:lnSpc>
                <a:spcPct val="80000"/>
              </a:lnSpc>
              <a:buFontTx/>
              <a:buNone/>
              <a:defRPr/>
            </a:pPr>
            <a:r>
              <a:rPr lang="en-US" sz="2000">
                <a:latin typeface="Comic Sans MS" charset="0"/>
                <a:cs typeface="+mn-cs"/>
              </a:rPr>
              <a:t>}</a:t>
            </a:r>
          </a:p>
          <a:p>
            <a:pPr eaLnBrk="1" hangingPunct="1">
              <a:lnSpc>
                <a:spcPct val="80000"/>
              </a:lnSpc>
              <a:defRPr/>
            </a:pPr>
            <a:endParaRPr lang="en-US" sz="2000">
              <a:latin typeface="Comic Sans MS" charset="0"/>
              <a:cs typeface="+mn-cs"/>
            </a:endParaRPr>
          </a:p>
        </p:txBody>
      </p:sp>
    </p:spTree>
    <p:extLst>
      <p:ext uri="{BB962C8B-B14F-4D97-AF65-F5344CB8AC3E}">
        <p14:creationId xmlns:p14="http://schemas.microsoft.com/office/powerpoint/2010/main" val="31024348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C2ED09D-B8EE-F64D-A92F-60CDB09802D0}" type="slidenum">
              <a:rPr lang="en-US"/>
              <a:pPr>
                <a:defRPr/>
              </a:pPr>
              <a:t>88</a:t>
            </a:fld>
            <a:endParaRPr lang="en-US"/>
          </a:p>
        </p:txBody>
      </p:sp>
      <p:sp>
        <p:nvSpPr>
          <p:cNvPr id="57346" name="Rectangle 2"/>
          <p:cNvSpPr>
            <a:spLocks noGrp="1" noChangeArrowheads="1"/>
          </p:cNvSpPr>
          <p:nvPr>
            <p:ph type="title"/>
          </p:nvPr>
        </p:nvSpPr>
        <p:spPr>
          <a:xfrm>
            <a:off x="457200" y="274638"/>
            <a:ext cx="8229600" cy="80962"/>
          </a:xfrm>
        </p:spPr>
        <p:txBody>
          <a:bodyPr>
            <a:normAutofit fontScale="90000"/>
          </a:bodyPr>
          <a:lstStyle/>
          <a:p>
            <a:pPr eaLnBrk="1" hangingPunct="1">
              <a:defRPr/>
            </a:pPr>
            <a:endParaRPr lang="en-US" sz="3200">
              <a:cs typeface="+mj-cs"/>
            </a:endParaRPr>
          </a:p>
        </p:txBody>
      </p:sp>
      <p:sp>
        <p:nvSpPr>
          <p:cNvPr id="57347" name="Rectangle 3"/>
          <p:cNvSpPr>
            <a:spLocks noGrp="1" noChangeArrowheads="1"/>
          </p:cNvSpPr>
          <p:nvPr>
            <p:ph type="body" idx="1"/>
          </p:nvPr>
        </p:nvSpPr>
        <p:spPr>
          <a:xfrm>
            <a:off x="468313" y="333375"/>
            <a:ext cx="8229600" cy="5759450"/>
          </a:xfrm>
        </p:spPr>
        <p:txBody>
          <a:bodyPr>
            <a:normAutofit lnSpcReduction="10000"/>
          </a:bodyPr>
          <a:lstStyle/>
          <a:p>
            <a:pPr eaLnBrk="1" hangingPunct="1">
              <a:lnSpc>
                <a:spcPct val="80000"/>
              </a:lnSpc>
              <a:buFontTx/>
              <a:buNone/>
              <a:defRPr/>
            </a:pPr>
            <a:r>
              <a:rPr lang="en-US" sz="2400">
                <a:latin typeface="Comic Sans MS" charset="0"/>
                <a:cs typeface="+mn-cs"/>
              </a:rPr>
              <a:t>class PrimeGenerator implements Runnable{</a:t>
            </a:r>
          </a:p>
          <a:p>
            <a:pPr eaLnBrk="1" hangingPunct="1">
              <a:lnSpc>
                <a:spcPct val="80000"/>
              </a:lnSpc>
              <a:buFontTx/>
              <a:buNone/>
              <a:defRPr/>
            </a:pPr>
            <a:r>
              <a:rPr lang="en-US" sz="2400">
                <a:latin typeface="Comic Sans MS" charset="0"/>
                <a:cs typeface="+mn-cs"/>
              </a:rPr>
              <a:t>	long nPrime = 2;</a:t>
            </a:r>
          </a:p>
          <a:p>
            <a:pPr eaLnBrk="1" hangingPunct="1">
              <a:lnSpc>
                <a:spcPct val="80000"/>
              </a:lnSpc>
              <a:buFontTx/>
              <a:buNone/>
              <a:defRPr/>
            </a:pPr>
            <a:r>
              <a:rPr lang="en-US" sz="2400">
                <a:latin typeface="Comic Sans MS" charset="0"/>
                <a:cs typeface="+mn-cs"/>
              </a:rPr>
              <a:t>	boolean go = true;</a:t>
            </a:r>
          </a:p>
          <a:p>
            <a:pPr eaLnBrk="1" hangingPunct="1">
              <a:lnSpc>
                <a:spcPct val="80000"/>
              </a:lnSpc>
              <a:buFontTx/>
              <a:buNone/>
              <a:defRPr/>
            </a:pPr>
            <a:r>
              <a:rPr lang="en-US" sz="2400">
                <a:latin typeface="Comic Sans MS" charset="0"/>
                <a:cs typeface="+mn-cs"/>
              </a:rPr>
              <a:t>	public void run(){</a:t>
            </a:r>
          </a:p>
          <a:p>
            <a:pPr eaLnBrk="1" hangingPunct="1">
              <a:lnSpc>
                <a:spcPct val="80000"/>
              </a:lnSpc>
              <a:buFontTx/>
              <a:buNone/>
              <a:defRPr/>
            </a:pPr>
            <a:r>
              <a:rPr lang="en-US" sz="2400">
                <a:latin typeface="Comic Sans MS" charset="0"/>
                <a:cs typeface="+mn-cs"/>
              </a:rPr>
              <a:t>		while(go){</a:t>
            </a:r>
          </a:p>
          <a:p>
            <a:pPr eaLnBrk="1" hangingPunct="1">
              <a:lnSpc>
                <a:spcPct val="80000"/>
              </a:lnSpc>
              <a:buFontTx/>
              <a:buNone/>
              <a:defRPr/>
            </a:pPr>
            <a:r>
              <a:rPr lang="en-US" sz="2400">
                <a:latin typeface="Comic Sans MS" charset="0"/>
                <a:cs typeface="+mn-cs"/>
              </a:rPr>
              <a:t>			System.out.print(nPrime+" ");</a:t>
            </a:r>
          </a:p>
          <a:p>
            <a:pPr eaLnBrk="1" hangingPunct="1">
              <a:lnSpc>
                <a:spcPct val="80000"/>
              </a:lnSpc>
              <a:buFontTx/>
              <a:buNone/>
              <a:defRPr/>
            </a:pPr>
            <a:r>
              <a:rPr lang="en-US" sz="2400">
                <a:latin typeface="Comic Sans MS" charset="0"/>
                <a:cs typeface="+mn-cs"/>
              </a:rPr>
              <a:t>			try{</a:t>
            </a:r>
          </a:p>
          <a:p>
            <a:pPr eaLnBrk="1" hangingPunct="1">
              <a:lnSpc>
                <a:spcPct val="80000"/>
              </a:lnSpc>
              <a:buFontTx/>
              <a:buNone/>
              <a:defRPr/>
            </a:pPr>
            <a:r>
              <a:rPr lang="en-US" sz="2400">
                <a:latin typeface="Comic Sans MS" charset="0"/>
                <a:cs typeface="+mn-cs"/>
              </a:rPr>
              <a:t>				Thread.sleep(500);</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catch(InterruptedException e){}</a:t>
            </a:r>
          </a:p>
          <a:p>
            <a:pPr eaLnBrk="1" hangingPunct="1">
              <a:lnSpc>
                <a:spcPct val="80000"/>
              </a:lnSpc>
              <a:buFontTx/>
              <a:buNone/>
              <a:defRPr/>
            </a:pPr>
            <a:r>
              <a:rPr lang="en-US" sz="2400">
                <a:latin typeface="Comic Sans MS" charset="0"/>
                <a:cs typeface="+mn-cs"/>
              </a:rPr>
              <a:t>			nPrime = getNextPrime(nPrime);</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private static long getNextPrime(long n){ … }</a:t>
            </a:r>
          </a:p>
          <a:p>
            <a:pPr eaLnBrk="1" hangingPunct="1">
              <a:lnSpc>
                <a:spcPct val="80000"/>
              </a:lnSpc>
              <a:buFontTx/>
              <a:buNone/>
              <a:defRPr/>
            </a:pPr>
            <a:r>
              <a:rPr lang="en-US" sz="2400">
                <a:latin typeface="Comic Sans MS" charset="0"/>
                <a:cs typeface="+mn-cs"/>
              </a:rPr>
              <a:t>	public void stop(){</a:t>
            </a:r>
          </a:p>
          <a:p>
            <a:pPr eaLnBrk="1" hangingPunct="1">
              <a:lnSpc>
                <a:spcPct val="80000"/>
              </a:lnSpc>
              <a:buFontTx/>
              <a:buNone/>
              <a:defRPr/>
            </a:pPr>
            <a:r>
              <a:rPr lang="en-US" sz="2400">
                <a:latin typeface="Comic Sans MS" charset="0"/>
                <a:cs typeface="+mn-cs"/>
              </a:rPr>
              <a:t>		go = false;</a:t>
            </a:r>
          </a:p>
          <a:p>
            <a:pPr eaLnBrk="1" hangingPunct="1">
              <a:lnSpc>
                <a:spcPct val="80000"/>
              </a:lnSpc>
              <a:buFontTx/>
              <a:buNone/>
              <a:defRPr/>
            </a:pPr>
            <a:r>
              <a:rPr lang="en-US" sz="2400">
                <a:latin typeface="Comic Sans MS" charset="0"/>
                <a:cs typeface="+mn-cs"/>
              </a:rPr>
              <a:t>	}}</a:t>
            </a:r>
          </a:p>
        </p:txBody>
      </p:sp>
    </p:spTree>
    <p:extLst>
      <p:ext uri="{BB962C8B-B14F-4D97-AF65-F5344CB8AC3E}">
        <p14:creationId xmlns:p14="http://schemas.microsoft.com/office/powerpoint/2010/main" val="417444509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B3CA531D-D0F1-7545-8811-17CFE43B3E3D}" type="slidenum">
              <a:rPr lang="en-US"/>
              <a:pPr>
                <a:defRPr/>
              </a:pPr>
              <a:t>89</a:t>
            </a:fld>
            <a:endParaRPr lang="en-US"/>
          </a:p>
        </p:txBody>
      </p:sp>
      <p:sp>
        <p:nvSpPr>
          <p:cNvPr id="58370" name="Rectangle 2"/>
          <p:cNvSpPr>
            <a:spLocks noGrp="1" noChangeArrowheads="1"/>
          </p:cNvSpPr>
          <p:nvPr>
            <p:ph type="title"/>
          </p:nvPr>
        </p:nvSpPr>
        <p:spPr>
          <a:xfrm>
            <a:off x="457200" y="274638"/>
            <a:ext cx="8229600" cy="130175"/>
          </a:xfrm>
        </p:spPr>
        <p:txBody>
          <a:bodyPr>
            <a:normAutofit fontScale="90000"/>
          </a:bodyPr>
          <a:lstStyle/>
          <a:p>
            <a:pPr eaLnBrk="1" hangingPunct="1">
              <a:defRPr/>
            </a:pPr>
            <a:endParaRPr lang="en-US" sz="3200">
              <a:cs typeface="+mj-cs"/>
            </a:endParaRPr>
          </a:p>
        </p:txBody>
      </p:sp>
      <p:sp>
        <p:nvSpPr>
          <p:cNvPr id="58371" name="Rectangle 3"/>
          <p:cNvSpPr>
            <a:spLocks noGrp="1" noChangeArrowheads="1"/>
          </p:cNvSpPr>
          <p:nvPr>
            <p:ph type="body" idx="1"/>
          </p:nvPr>
        </p:nvSpPr>
        <p:spPr>
          <a:xfrm>
            <a:off x="395288" y="620713"/>
            <a:ext cx="8229600" cy="5616575"/>
          </a:xfrm>
        </p:spPr>
        <p:txBody>
          <a:bodyPr/>
          <a:lstStyle/>
          <a:p>
            <a:pPr eaLnBrk="1" hangingPunct="1">
              <a:lnSpc>
                <a:spcPct val="90000"/>
              </a:lnSpc>
              <a:buFontTx/>
              <a:buNone/>
              <a:defRPr/>
            </a:pPr>
            <a:r>
              <a:rPr lang="en-US" sz="2400">
                <a:latin typeface="Comic Sans MS" charset="0"/>
                <a:cs typeface="+mn-cs"/>
              </a:rPr>
              <a:t>	private static long getNextPrime(long n){</a:t>
            </a:r>
          </a:p>
          <a:p>
            <a:pPr eaLnBrk="1" hangingPunct="1">
              <a:lnSpc>
                <a:spcPct val="90000"/>
              </a:lnSpc>
              <a:buFontTx/>
              <a:buNone/>
              <a:defRPr/>
            </a:pPr>
            <a:r>
              <a:rPr lang="en-US" sz="2400">
                <a:latin typeface="Comic Sans MS" charset="0"/>
                <a:cs typeface="+mn-cs"/>
              </a:rPr>
              <a:t>		if(n == 2) return 3;</a:t>
            </a:r>
          </a:p>
          <a:p>
            <a:pPr eaLnBrk="1" hangingPunct="1">
              <a:lnSpc>
                <a:spcPct val="90000"/>
              </a:lnSpc>
              <a:buFontTx/>
              <a:buNone/>
              <a:defRPr/>
            </a:pPr>
            <a:r>
              <a:rPr lang="en-US" sz="2400">
                <a:latin typeface="Comic Sans MS" charset="0"/>
                <a:cs typeface="+mn-cs"/>
              </a:rPr>
              <a:t>		else{// n odd </a:t>
            </a:r>
          </a:p>
          <a:p>
            <a:pPr eaLnBrk="1" hangingPunct="1">
              <a:lnSpc>
                <a:spcPct val="90000"/>
              </a:lnSpc>
              <a:buFontTx/>
              <a:buNone/>
              <a:defRPr/>
            </a:pPr>
            <a:r>
              <a:rPr lang="en-US" sz="2400">
                <a:latin typeface="Comic Sans MS" charset="0"/>
                <a:cs typeface="+mn-cs"/>
              </a:rPr>
              <a:t>		    boolean prime = false;</a:t>
            </a:r>
          </a:p>
          <a:p>
            <a:pPr eaLnBrk="1" hangingPunct="1">
              <a:lnSpc>
                <a:spcPct val="90000"/>
              </a:lnSpc>
              <a:buFontTx/>
              <a:buNone/>
              <a:defRPr/>
            </a:pPr>
            <a:r>
              <a:rPr lang="en-US" sz="2400">
                <a:latin typeface="Comic Sans MS" charset="0"/>
                <a:cs typeface="+mn-cs"/>
              </a:rPr>
              <a:t>		    while(!prime){</a:t>
            </a:r>
          </a:p>
          <a:p>
            <a:pPr eaLnBrk="1" hangingPunct="1">
              <a:lnSpc>
                <a:spcPct val="90000"/>
              </a:lnSpc>
              <a:buFontTx/>
              <a:buNone/>
              <a:defRPr/>
            </a:pPr>
            <a:r>
              <a:rPr lang="en-US" sz="2400">
                <a:latin typeface="Comic Sans MS" charset="0"/>
                <a:cs typeface="+mn-cs"/>
              </a:rPr>
              <a:t>			int j;</a:t>
            </a:r>
          </a:p>
          <a:p>
            <a:pPr eaLnBrk="1" hangingPunct="1">
              <a:lnSpc>
                <a:spcPct val="90000"/>
              </a:lnSpc>
              <a:buFontTx/>
              <a:buNone/>
              <a:defRPr/>
            </a:pPr>
            <a:r>
              <a:rPr lang="en-US" sz="2400">
                <a:latin typeface="Comic Sans MS" charset="0"/>
                <a:cs typeface="+mn-cs"/>
              </a:rPr>
              <a:t>			n = n + 2;</a:t>
            </a:r>
          </a:p>
          <a:p>
            <a:pPr eaLnBrk="1" hangingPunct="1">
              <a:lnSpc>
                <a:spcPct val="90000"/>
              </a:lnSpc>
              <a:buFontTx/>
              <a:buNone/>
              <a:defRPr/>
            </a:pPr>
            <a:r>
              <a:rPr lang="en-US" sz="2400">
                <a:latin typeface="Comic Sans MS" charset="0"/>
                <a:cs typeface="+mn-cs"/>
              </a:rPr>
              <a:t>			for(j = 3; j &lt; n &amp;&amp; n % j != 0; j = j + 2);</a:t>
            </a:r>
          </a:p>
          <a:p>
            <a:pPr eaLnBrk="1" hangingPunct="1">
              <a:lnSpc>
                <a:spcPct val="90000"/>
              </a:lnSpc>
              <a:buFontTx/>
              <a:buNone/>
              <a:defRPr/>
            </a:pPr>
            <a:r>
              <a:rPr lang="en-US" sz="2400">
                <a:latin typeface="Comic Sans MS" charset="0"/>
                <a:cs typeface="+mn-cs"/>
              </a:rPr>
              <a:t>			prime = j == n;</a:t>
            </a:r>
          </a:p>
          <a:p>
            <a:pPr eaLnBrk="1" hangingPunct="1">
              <a:lnSpc>
                <a:spcPct val="90000"/>
              </a:lnSpc>
              <a:buFontTx/>
              <a:buNone/>
              <a:defRPr/>
            </a:pPr>
            <a:r>
              <a:rPr lang="en-US" sz="2400">
                <a:latin typeface="Comic Sans MS" charset="0"/>
                <a:cs typeface="+mn-cs"/>
              </a:rPr>
              <a:t>		     }</a:t>
            </a:r>
          </a:p>
          <a:p>
            <a:pPr eaLnBrk="1" hangingPunct="1">
              <a:lnSpc>
                <a:spcPct val="90000"/>
              </a:lnSpc>
              <a:buFontTx/>
              <a:buNone/>
              <a:defRPr/>
            </a:pPr>
            <a:r>
              <a:rPr lang="en-US" sz="2400">
                <a:latin typeface="Comic Sans MS" charset="0"/>
                <a:cs typeface="+mn-cs"/>
              </a:rPr>
              <a:t>		    return n;</a:t>
            </a:r>
          </a:p>
          <a:p>
            <a:pPr eaLnBrk="1" hangingPunct="1">
              <a:lnSpc>
                <a:spcPct val="90000"/>
              </a:lnSpc>
              <a:buFontTx/>
              <a:buNone/>
              <a:defRPr/>
            </a:pPr>
            <a:r>
              <a:rPr lang="en-US" sz="2400">
                <a:latin typeface="Comic Sans MS" charset="0"/>
                <a:cs typeface="+mn-cs"/>
              </a:rPr>
              <a:t>		}</a:t>
            </a:r>
          </a:p>
          <a:p>
            <a:pPr eaLnBrk="1" hangingPunct="1">
              <a:lnSpc>
                <a:spcPct val="90000"/>
              </a:lnSpc>
              <a:buFontTx/>
              <a:buNone/>
              <a:defRPr/>
            </a:pPr>
            <a:r>
              <a:rPr lang="en-US" sz="2400">
                <a:latin typeface="Comic Sans MS" charset="0"/>
                <a:cs typeface="+mn-cs"/>
              </a:rPr>
              <a:t>	}</a:t>
            </a:r>
          </a:p>
          <a:p>
            <a:pPr eaLnBrk="1" hangingPunct="1">
              <a:lnSpc>
                <a:spcPct val="90000"/>
              </a:lnSpc>
              <a:defRPr/>
            </a:pPr>
            <a:endParaRPr lang="en-US" sz="2400">
              <a:latin typeface="Comic Sans MS" charset="0"/>
              <a:cs typeface="+mn-cs"/>
            </a:endParaRPr>
          </a:p>
        </p:txBody>
      </p:sp>
    </p:spTree>
    <p:extLst>
      <p:ext uri="{BB962C8B-B14F-4D97-AF65-F5344CB8AC3E}">
        <p14:creationId xmlns:p14="http://schemas.microsoft.com/office/powerpoint/2010/main" val="2042898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D1C45A2B-4A0B-EE4D-AC02-81FEB73B3AA7}" type="slidenum">
              <a:rPr lang="en-US"/>
              <a:pPr>
                <a:defRPr/>
              </a:pPr>
              <a:t>90</a:t>
            </a:fld>
            <a:endParaRPr lang="en-US"/>
          </a:p>
        </p:txBody>
      </p:sp>
      <p:sp>
        <p:nvSpPr>
          <p:cNvPr id="64514" name="Rectangle 2"/>
          <p:cNvSpPr>
            <a:spLocks noGrp="1" noChangeArrowheads="1"/>
          </p:cNvSpPr>
          <p:nvPr>
            <p:ph type="title"/>
          </p:nvPr>
        </p:nvSpPr>
        <p:spPr/>
        <p:txBody>
          <a:bodyPr>
            <a:normAutofit fontScale="90000"/>
          </a:bodyPr>
          <a:lstStyle/>
          <a:p>
            <a:pPr eaLnBrk="1" hangingPunct="1">
              <a:defRPr/>
            </a:pPr>
            <a:r>
              <a:rPr lang="en-GB">
                <a:cs typeface="+mj-cs"/>
              </a:rPr>
              <a:t>CPU Scheduler</a:t>
            </a:r>
            <a:endParaRPr lang="en-US">
              <a:cs typeface="+mj-cs"/>
            </a:endParaRPr>
          </a:p>
        </p:txBody>
      </p:sp>
      <p:sp>
        <p:nvSpPr>
          <p:cNvPr id="64515" name="Rectangle 3"/>
          <p:cNvSpPr>
            <a:spLocks noGrp="1" noChangeArrowheads="1"/>
          </p:cNvSpPr>
          <p:nvPr>
            <p:ph type="body" idx="1"/>
          </p:nvPr>
        </p:nvSpPr>
        <p:spPr>
          <a:xfrm>
            <a:off x="468313" y="908050"/>
            <a:ext cx="8229600" cy="5184775"/>
          </a:xfrm>
        </p:spPr>
        <p:txBody>
          <a:bodyPr/>
          <a:lstStyle/>
          <a:p>
            <a:pPr eaLnBrk="1" hangingPunct="1">
              <a:lnSpc>
                <a:spcPct val="80000"/>
              </a:lnSpc>
              <a:buFontTx/>
              <a:buNone/>
              <a:defRPr/>
            </a:pPr>
            <a:r>
              <a:rPr lang="en-AU" sz="2800">
                <a:cs typeface="+mn-cs"/>
              </a:rPr>
              <a:t>	</a:t>
            </a:r>
          </a:p>
          <a:p>
            <a:pPr eaLnBrk="1" hangingPunct="1">
              <a:lnSpc>
                <a:spcPct val="80000"/>
              </a:lnSpc>
              <a:defRPr/>
            </a:pPr>
            <a:r>
              <a:rPr lang="en-AU" sz="2800">
                <a:cs typeface="+mn-cs"/>
              </a:rPr>
              <a:t>A suggestion is to set the priority of the scheduler to max and use the two other levels to manage threads under its control. </a:t>
            </a:r>
          </a:p>
          <a:p>
            <a:pPr eaLnBrk="1" hangingPunct="1">
              <a:lnSpc>
                <a:spcPct val="80000"/>
              </a:lnSpc>
              <a:defRPr/>
            </a:pPr>
            <a:r>
              <a:rPr lang="en-AU" sz="2800">
                <a:cs typeface="+mn-cs"/>
              </a:rPr>
              <a:t>Only one thread is at the normal priority level at any one time. </a:t>
            </a:r>
          </a:p>
          <a:p>
            <a:pPr eaLnBrk="1" hangingPunct="1">
              <a:lnSpc>
                <a:spcPct val="80000"/>
              </a:lnSpc>
              <a:defRPr/>
            </a:pPr>
            <a:r>
              <a:rPr lang="en-AU" sz="2800">
                <a:cs typeface="+mn-cs"/>
              </a:rPr>
              <a:t>The scheduler sleeps for a timeslice and then forces a context switch because it pre-empts the currently executing thread. </a:t>
            </a:r>
          </a:p>
          <a:p>
            <a:pPr eaLnBrk="1" hangingPunct="1">
              <a:lnSpc>
                <a:spcPct val="80000"/>
              </a:lnSpc>
              <a:defRPr/>
            </a:pPr>
            <a:r>
              <a:rPr lang="en-AU" sz="2800">
                <a:cs typeface="+mn-cs"/>
              </a:rPr>
              <a:t>It then changes its priority to low and selects the next thread to run by setting its priority to normal. </a:t>
            </a:r>
          </a:p>
          <a:p>
            <a:pPr eaLnBrk="1" hangingPunct="1">
              <a:lnSpc>
                <a:spcPct val="80000"/>
              </a:lnSpc>
              <a:defRPr/>
            </a:pPr>
            <a:r>
              <a:rPr lang="en-AU" sz="2800">
                <a:cs typeface="+mn-cs"/>
              </a:rPr>
              <a:t>It then puts itself to sleep to allow it execute.</a:t>
            </a:r>
            <a:endParaRPr lang="en-US" sz="2800">
              <a:cs typeface="+mn-cs"/>
            </a:endParaRPr>
          </a:p>
        </p:txBody>
      </p:sp>
    </p:spTree>
    <p:extLst>
      <p:ext uri="{BB962C8B-B14F-4D97-AF65-F5344CB8AC3E}">
        <p14:creationId xmlns:p14="http://schemas.microsoft.com/office/powerpoint/2010/main" val="2347771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CDEB5F9A-1A15-CD4F-B9C6-F4A8940C98FD}" type="slidenum">
              <a:rPr lang="en-US"/>
              <a:pPr>
                <a:defRPr/>
              </a:pPr>
              <a:t>91</a:t>
            </a:fld>
            <a:endParaRPr lang="en-US"/>
          </a:p>
        </p:txBody>
      </p:sp>
      <p:sp>
        <p:nvSpPr>
          <p:cNvPr id="62466" name="Rectangle 2"/>
          <p:cNvSpPr>
            <a:spLocks noGrp="1" noChangeArrowheads="1"/>
          </p:cNvSpPr>
          <p:nvPr>
            <p:ph type="title"/>
          </p:nvPr>
        </p:nvSpPr>
        <p:spPr>
          <a:xfrm flipV="1">
            <a:off x="457200" y="188913"/>
            <a:ext cx="8229600" cy="85725"/>
          </a:xfrm>
        </p:spPr>
        <p:txBody>
          <a:bodyPr>
            <a:normAutofit fontScale="90000"/>
          </a:bodyPr>
          <a:lstStyle/>
          <a:p>
            <a:pPr eaLnBrk="1" hangingPunct="1">
              <a:defRPr/>
            </a:pPr>
            <a:endParaRPr lang="en-US" sz="3200">
              <a:cs typeface="+mj-cs"/>
            </a:endParaRPr>
          </a:p>
        </p:txBody>
      </p:sp>
      <p:sp>
        <p:nvSpPr>
          <p:cNvPr id="62467" name="Rectangle 3"/>
          <p:cNvSpPr>
            <a:spLocks noGrp="1" noChangeArrowheads="1"/>
          </p:cNvSpPr>
          <p:nvPr>
            <p:ph type="body" idx="1"/>
          </p:nvPr>
        </p:nvSpPr>
        <p:spPr>
          <a:xfrm>
            <a:off x="468313" y="188913"/>
            <a:ext cx="8229600" cy="5903912"/>
          </a:xfrm>
        </p:spPr>
        <p:txBody>
          <a:bodyPr/>
          <a:lstStyle/>
          <a:p>
            <a:pPr eaLnBrk="1" hangingPunct="1">
              <a:lnSpc>
                <a:spcPct val="80000"/>
              </a:lnSpc>
              <a:buFontTx/>
              <a:buNone/>
              <a:defRPr/>
            </a:pPr>
            <a:r>
              <a:rPr lang="en-US" sz="2400">
                <a:latin typeface="Comic Sans MS" charset="0"/>
                <a:cs typeface="+mn-cs"/>
              </a:rPr>
              <a:t>import java.util.*;</a:t>
            </a:r>
          </a:p>
          <a:p>
            <a:pPr eaLnBrk="1" hangingPunct="1">
              <a:lnSpc>
                <a:spcPct val="80000"/>
              </a:lnSpc>
              <a:buFontTx/>
              <a:buNone/>
              <a:defRPr/>
            </a:pPr>
            <a:r>
              <a:rPr lang="en-US" sz="2400">
                <a:latin typeface="Comic Sans MS" charset="0"/>
                <a:cs typeface="+mn-cs"/>
              </a:rPr>
              <a:t>public class CPUScheduler extends Thread {</a:t>
            </a:r>
          </a:p>
          <a:p>
            <a:pPr eaLnBrk="1" hangingPunct="1">
              <a:lnSpc>
                <a:spcPct val="80000"/>
              </a:lnSpc>
              <a:buFontTx/>
              <a:buNone/>
              <a:defRPr/>
            </a:pPr>
            <a:r>
              <a:rPr lang="en-US" sz="2400">
                <a:latin typeface="Comic Sans MS" charset="0"/>
                <a:cs typeface="+mn-cs"/>
              </a:rPr>
              <a:t>	private int timeslice;		</a:t>
            </a:r>
          </a:p>
          <a:p>
            <a:pPr eaLnBrk="1" hangingPunct="1">
              <a:lnSpc>
                <a:spcPct val="80000"/>
              </a:lnSpc>
              <a:buFontTx/>
              <a:buNone/>
              <a:defRPr/>
            </a:pPr>
            <a:r>
              <a:rPr lang="en-US" sz="2400">
                <a:latin typeface="Comic Sans MS" charset="0"/>
                <a:cs typeface="+mn-cs"/>
              </a:rPr>
              <a:t>	private ArrayList&lt;Thread&gt; threads;</a:t>
            </a:r>
          </a:p>
          <a:p>
            <a:pPr eaLnBrk="1" hangingPunct="1">
              <a:lnSpc>
                <a:spcPct val="80000"/>
              </a:lnSpc>
              <a:buFontTx/>
              <a:buNone/>
              <a:defRPr/>
            </a:pPr>
            <a:r>
              <a:rPr lang="en-US" sz="2400">
                <a:latin typeface="Comic Sans MS" charset="0"/>
                <a:cs typeface="+mn-cs"/>
              </a:rPr>
              <a:t>	private int tIndex = 0; </a:t>
            </a:r>
          </a:p>
          <a:p>
            <a:pPr eaLnBrk="1" hangingPunct="1">
              <a:lnSpc>
                <a:spcPct val="80000"/>
              </a:lnSpc>
              <a:buFontTx/>
              <a:buNone/>
              <a:defRPr/>
            </a:pPr>
            <a:endParaRPr lang="en-US" sz="2400">
              <a:latin typeface="Comic Sans MS" charset="0"/>
              <a:cs typeface="+mn-cs"/>
            </a:endParaRPr>
          </a:p>
          <a:p>
            <a:pPr eaLnBrk="1" hangingPunct="1">
              <a:lnSpc>
                <a:spcPct val="80000"/>
              </a:lnSpc>
              <a:buFontTx/>
              <a:buNone/>
              <a:defRPr/>
            </a:pPr>
            <a:r>
              <a:rPr lang="en-US" sz="2400">
                <a:latin typeface="Comic Sans MS" charset="0"/>
                <a:cs typeface="+mn-cs"/>
              </a:rPr>
              <a:t>	public CPUScheduler(int t) {</a:t>
            </a:r>
          </a:p>
          <a:p>
            <a:pPr eaLnBrk="1" hangingPunct="1">
              <a:lnSpc>
                <a:spcPct val="80000"/>
              </a:lnSpc>
              <a:buFontTx/>
              <a:buNone/>
              <a:defRPr/>
            </a:pPr>
            <a:r>
              <a:rPr lang="en-US" sz="2400">
                <a:latin typeface="Comic Sans MS" charset="0"/>
                <a:cs typeface="+mn-cs"/>
              </a:rPr>
              <a:t>		threads = new ArrayList&lt;Thread&gt;();</a:t>
            </a:r>
          </a:p>
          <a:p>
            <a:pPr eaLnBrk="1" hangingPunct="1">
              <a:lnSpc>
                <a:spcPct val="80000"/>
              </a:lnSpc>
              <a:buFontTx/>
              <a:buNone/>
              <a:defRPr/>
            </a:pPr>
            <a:r>
              <a:rPr lang="en-US" sz="2400">
                <a:latin typeface="Comic Sans MS" charset="0"/>
                <a:cs typeface="+mn-cs"/>
              </a:rPr>
              <a:t>		timeslice = t;</a:t>
            </a:r>
          </a:p>
          <a:p>
            <a:pPr eaLnBrk="1" hangingPunct="1">
              <a:lnSpc>
                <a:spcPct val="80000"/>
              </a:lnSpc>
              <a:buFontTx/>
              <a:buNone/>
              <a:defRPr/>
            </a:pPr>
            <a:r>
              <a:rPr lang="en-US" sz="2400">
                <a:latin typeface="Comic Sans MS" charset="0"/>
                <a:cs typeface="+mn-cs"/>
              </a:rPr>
              <a:t>		setPriority(Thread.MAX_PRIORITY);</a:t>
            </a:r>
          </a:p>
          <a:p>
            <a:pPr eaLnBrk="1" hangingPunct="1">
              <a:lnSpc>
                <a:spcPct val="80000"/>
              </a:lnSpc>
              <a:buFontTx/>
              <a:buNone/>
              <a:defRPr/>
            </a:pPr>
            <a:r>
              <a:rPr lang="en-US" sz="2400">
                <a:latin typeface="Comic Sans MS" charset="0"/>
                <a:cs typeface="+mn-cs"/>
              </a:rPr>
              <a:t>		setDaemon(true);</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synchronized void addThread(Thread t) {</a:t>
            </a:r>
          </a:p>
          <a:p>
            <a:pPr eaLnBrk="1" hangingPunct="1">
              <a:lnSpc>
                <a:spcPct val="80000"/>
              </a:lnSpc>
              <a:buFontTx/>
              <a:buNone/>
              <a:defRPr/>
            </a:pPr>
            <a:r>
              <a:rPr lang="en-US" sz="2400">
                <a:latin typeface="Comic Sans MS" charset="0"/>
                <a:cs typeface="+mn-cs"/>
              </a:rPr>
              <a:t>		threads.add(t);</a:t>
            </a:r>
          </a:p>
          <a:p>
            <a:pPr eaLnBrk="1" hangingPunct="1">
              <a:lnSpc>
                <a:spcPct val="80000"/>
              </a:lnSpc>
              <a:buFontTx/>
              <a:buNone/>
              <a:defRPr/>
            </a:pPr>
            <a:r>
              <a:rPr lang="en-US" sz="2400">
                <a:latin typeface="Comic Sans MS" charset="0"/>
                <a:cs typeface="+mn-cs"/>
              </a:rPr>
              <a:t>		t.setPriority(Thread.MIN_PRIORITY);</a:t>
            </a:r>
          </a:p>
          <a:p>
            <a:pPr eaLnBrk="1" hangingPunct="1">
              <a:lnSpc>
                <a:spcPct val="80000"/>
              </a:lnSpc>
              <a:buFontTx/>
              <a:buNone/>
              <a:defRPr/>
            </a:pPr>
            <a:r>
              <a:rPr lang="en-US" sz="2400">
                <a:latin typeface="Comic Sans MS" charset="0"/>
                <a:cs typeface="+mn-cs"/>
              </a:rPr>
              <a:t>	}</a:t>
            </a:r>
          </a:p>
        </p:txBody>
      </p:sp>
    </p:spTree>
    <p:extLst>
      <p:ext uri="{BB962C8B-B14F-4D97-AF65-F5344CB8AC3E}">
        <p14:creationId xmlns:p14="http://schemas.microsoft.com/office/powerpoint/2010/main" val="207194865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0C401204-A918-7047-BF3D-6ECB0660F395}" type="slidenum">
              <a:rPr lang="en-US"/>
              <a:pPr>
                <a:defRPr/>
              </a:pPr>
              <a:t>92</a:t>
            </a:fld>
            <a:endParaRPr lang="en-US"/>
          </a:p>
        </p:txBody>
      </p:sp>
      <p:sp>
        <p:nvSpPr>
          <p:cNvPr id="59394" name="Rectangle 2"/>
          <p:cNvSpPr>
            <a:spLocks noGrp="1" noChangeArrowheads="1"/>
          </p:cNvSpPr>
          <p:nvPr>
            <p:ph type="title"/>
          </p:nvPr>
        </p:nvSpPr>
        <p:spPr>
          <a:xfrm>
            <a:off x="457200" y="274638"/>
            <a:ext cx="8229600" cy="69850"/>
          </a:xfrm>
        </p:spPr>
        <p:txBody>
          <a:bodyPr>
            <a:normAutofit fontScale="90000"/>
          </a:bodyPr>
          <a:lstStyle/>
          <a:p>
            <a:pPr eaLnBrk="1" hangingPunct="1">
              <a:defRPr/>
            </a:pPr>
            <a:endParaRPr lang="en-US" sz="3200">
              <a:cs typeface="+mj-cs"/>
            </a:endParaRPr>
          </a:p>
        </p:txBody>
      </p:sp>
      <p:sp>
        <p:nvSpPr>
          <p:cNvPr id="59395" name="Rectangle 3"/>
          <p:cNvSpPr>
            <a:spLocks noGrp="1" noChangeArrowheads="1"/>
          </p:cNvSpPr>
          <p:nvPr>
            <p:ph type="body" idx="1"/>
          </p:nvPr>
        </p:nvSpPr>
        <p:spPr>
          <a:xfrm>
            <a:off x="468313" y="188913"/>
            <a:ext cx="8229600" cy="5832475"/>
          </a:xfrm>
        </p:spPr>
        <p:txBody>
          <a:bodyPr/>
          <a:lstStyle/>
          <a:p>
            <a:pPr eaLnBrk="1" hangingPunct="1">
              <a:lnSpc>
                <a:spcPct val="90000"/>
              </a:lnSpc>
              <a:buFontTx/>
              <a:buNone/>
              <a:defRPr/>
            </a:pPr>
            <a:r>
              <a:rPr lang="en-US" sz="2800">
                <a:cs typeface="+mn-cs"/>
              </a:rPr>
              <a:t> </a:t>
            </a:r>
            <a:r>
              <a:rPr lang="en-US" sz="2800">
                <a:latin typeface="Comic Sans MS" charset="0"/>
                <a:cs typeface="+mn-cs"/>
              </a:rPr>
              <a:t>private Thread getNextThread(){</a:t>
            </a:r>
          </a:p>
          <a:p>
            <a:pPr eaLnBrk="1" hangingPunct="1">
              <a:lnSpc>
                <a:spcPct val="90000"/>
              </a:lnSpc>
              <a:buFontTx/>
              <a:buNone/>
              <a:defRPr/>
            </a:pPr>
            <a:r>
              <a:rPr lang="en-US" sz="2800">
                <a:latin typeface="Comic Sans MS" charset="0"/>
                <a:cs typeface="+mn-cs"/>
              </a:rPr>
              <a:t>    	if (threads.size() == 0)</a:t>
            </a:r>
          </a:p>
          <a:p>
            <a:pPr eaLnBrk="1" hangingPunct="1">
              <a:lnSpc>
                <a:spcPct val="90000"/>
              </a:lnSpc>
              <a:buFontTx/>
              <a:buNone/>
              <a:defRPr/>
            </a:pPr>
            <a:r>
              <a:rPr lang="en-US" sz="2800">
                <a:latin typeface="Comic Sans MS" charset="0"/>
                <a:cs typeface="+mn-cs"/>
              </a:rPr>
              <a:t>    	  return null;</a:t>
            </a:r>
          </a:p>
          <a:p>
            <a:pPr eaLnBrk="1" hangingPunct="1">
              <a:lnSpc>
                <a:spcPct val="90000"/>
              </a:lnSpc>
              <a:buFontTx/>
              <a:buNone/>
              <a:defRPr/>
            </a:pPr>
            <a:r>
              <a:rPr lang="en-US" sz="2800">
                <a:latin typeface="Comic Sans MS" charset="0"/>
                <a:cs typeface="+mn-cs"/>
              </a:rPr>
              <a:t>    	else{</a:t>
            </a:r>
          </a:p>
          <a:p>
            <a:pPr eaLnBrk="1" hangingPunct="1">
              <a:lnSpc>
                <a:spcPct val="90000"/>
              </a:lnSpc>
              <a:buFontTx/>
              <a:buNone/>
              <a:defRPr/>
            </a:pPr>
            <a:r>
              <a:rPr lang="en-US" sz="2800">
                <a:latin typeface="Comic Sans MS" charset="0"/>
                <a:cs typeface="+mn-cs"/>
              </a:rPr>
              <a:t>    		int j = tIndex;</a:t>
            </a:r>
          </a:p>
          <a:p>
            <a:pPr eaLnBrk="1" hangingPunct="1">
              <a:lnSpc>
                <a:spcPct val="90000"/>
              </a:lnSpc>
              <a:buFontTx/>
              <a:buNone/>
              <a:defRPr/>
            </a:pPr>
            <a:r>
              <a:rPr lang="en-US" sz="2800">
                <a:latin typeface="Comic Sans MS" charset="0"/>
                <a:cs typeface="+mn-cs"/>
              </a:rPr>
              <a:t>    		if(tIndex == threads.size()-1)</a:t>
            </a:r>
          </a:p>
          <a:p>
            <a:pPr eaLnBrk="1" hangingPunct="1">
              <a:lnSpc>
                <a:spcPct val="90000"/>
              </a:lnSpc>
              <a:buFontTx/>
              <a:buNone/>
              <a:defRPr/>
            </a:pPr>
            <a:r>
              <a:rPr lang="en-US" sz="2800">
                <a:latin typeface="Comic Sans MS" charset="0"/>
                <a:cs typeface="+mn-cs"/>
              </a:rPr>
              <a:t>    		   tIndex = 0;</a:t>
            </a:r>
          </a:p>
          <a:p>
            <a:pPr eaLnBrk="1" hangingPunct="1">
              <a:lnSpc>
                <a:spcPct val="90000"/>
              </a:lnSpc>
              <a:buFontTx/>
              <a:buNone/>
              <a:defRPr/>
            </a:pPr>
            <a:r>
              <a:rPr lang="en-US" sz="2800">
                <a:latin typeface="Comic Sans MS" charset="0"/>
                <a:cs typeface="+mn-cs"/>
              </a:rPr>
              <a:t>    		else</a:t>
            </a:r>
          </a:p>
          <a:p>
            <a:pPr eaLnBrk="1" hangingPunct="1">
              <a:lnSpc>
                <a:spcPct val="90000"/>
              </a:lnSpc>
              <a:buFontTx/>
              <a:buNone/>
              <a:defRPr/>
            </a:pPr>
            <a:r>
              <a:rPr lang="en-US" sz="2800">
                <a:latin typeface="Comic Sans MS" charset="0"/>
                <a:cs typeface="+mn-cs"/>
              </a:rPr>
              <a:t>    		   tIndex = tIndex + 1;</a:t>
            </a:r>
          </a:p>
          <a:p>
            <a:pPr eaLnBrk="1" hangingPunct="1">
              <a:lnSpc>
                <a:spcPct val="90000"/>
              </a:lnSpc>
              <a:buFontTx/>
              <a:buNone/>
              <a:defRPr/>
            </a:pPr>
            <a:r>
              <a:rPr lang="en-US" sz="2800">
                <a:latin typeface="Comic Sans MS" charset="0"/>
                <a:cs typeface="+mn-cs"/>
              </a:rPr>
              <a:t>    		return (Thread)threads.get(j);</a:t>
            </a:r>
          </a:p>
          <a:p>
            <a:pPr eaLnBrk="1" hangingPunct="1">
              <a:lnSpc>
                <a:spcPct val="90000"/>
              </a:lnSpc>
              <a:buFontTx/>
              <a:buNone/>
              <a:defRPr/>
            </a:pPr>
            <a:r>
              <a:rPr lang="en-US" sz="2800">
                <a:latin typeface="Comic Sans MS" charset="0"/>
                <a:cs typeface="+mn-cs"/>
              </a:rPr>
              <a:t>    	}</a:t>
            </a:r>
          </a:p>
          <a:p>
            <a:pPr eaLnBrk="1" hangingPunct="1">
              <a:lnSpc>
                <a:spcPct val="90000"/>
              </a:lnSpc>
              <a:buFontTx/>
              <a:buNone/>
              <a:defRPr/>
            </a:pPr>
            <a:r>
              <a:rPr lang="en-US" sz="2800">
                <a:latin typeface="Comic Sans MS" charset="0"/>
                <a:cs typeface="+mn-cs"/>
              </a:rPr>
              <a:t>    }</a:t>
            </a:r>
          </a:p>
        </p:txBody>
      </p:sp>
    </p:spTree>
    <p:extLst>
      <p:ext uri="{BB962C8B-B14F-4D97-AF65-F5344CB8AC3E}">
        <p14:creationId xmlns:p14="http://schemas.microsoft.com/office/powerpoint/2010/main" val="273849090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9C5CEE85-8BDB-FD45-B48C-41B18C6286D9}" type="slidenum">
              <a:rPr lang="en-US"/>
              <a:pPr>
                <a:defRPr/>
              </a:pPr>
              <a:t>93</a:t>
            </a:fld>
            <a:endParaRPr lang="en-US"/>
          </a:p>
        </p:txBody>
      </p:sp>
      <p:sp>
        <p:nvSpPr>
          <p:cNvPr id="60418" name="Rectangle 2"/>
          <p:cNvSpPr>
            <a:spLocks noGrp="1" noChangeArrowheads="1"/>
          </p:cNvSpPr>
          <p:nvPr>
            <p:ph type="title"/>
          </p:nvPr>
        </p:nvSpPr>
        <p:spPr>
          <a:xfrm flipV="1">
            <a:off x="457200" y="188913"/>
            <a:ext cx="8229600" cy="85725"/>
          </a:xfrm>
        </p:spPr>
        <p:txBody>
          <a:bodyPr>
            <a:normAutofit fontScale="90000"/>
          </a:bodyPr>
          <a:lstStyle/>
          <a:p>
            <a:pPr eaLnBrk="1" hangingPunct="1">
              <a:defRPr/>
            </a:pPr>
            <a:endParaRPr lang="en-US" sz="3200">
              <a:cs typeface="+mj-cs"/>
            </a:endParaRPr>
          </a:p>
        </p:txBody>
      </p:sp>
      <p:sp>
        <p:nvSpPr>
          <p:cNvPr id="60419" name="Rectangle 3"/>
          <p:cNvSpPr>
            <a:spLocks noGrp="1" noChangeArrowheads="1"/>
          </p:cNvSpPr>
          <p:nvPr>
            <p:ph type="body" idx="1"/>
          </p:nvPr>
        </p:nvSpPr>
        <p:spPr>
          <a:xfrm>
            <a:off x="468313" y="188913"/>
            <a:ext cx="8229600" cy="5903912"/>
          </a:xfrm>
        </p:spPr>
        <p:txBody>
          <a:bodyPr/>
          <a:lstStyle/>
          <a:p>
            <a:pPr eaLnBrk="1" hangingPunct="1">
              <a:lnSpc>
                <a:spcPct val="80000"/>
              </a:lnSpc>
              <a:buFontTx/>
              <a:buNone/>
              <a:defRPr/>
            </a:pPr>
            <a:r>
              <a:rPr lang="en-US" sz="2400">
                <a:latin typeface="Comic Sans MS" charset="0"/>
                <a:cs typeface="+mn-cs"/>
              </a:rPr>
              <a:t>private void removeThread(Thread t) {</a:t>
            </a:r>
          </a:p>
          <a:p>
            <a:pPr eaLnBrk="1" hangingPunct="1">
              <a:lnSpc>
                <a:spcPct val="80000"/>
              </a:lnSpc>
              <a:buFontTx/>
              <a:buNone/>
              <a:defRPr/>
            </a:pPr>
            <a:r>
              <a:rPr lang="en-US" sz="2400">
                <a:latin typeface="Comic Sans MS" charset="0"/>
                <a:cs typeface="+mn-cs"/>
              </a:rPr>
              <a:t>		boolean found = false;</a:t>
            </a:r>
          </a:p>
          <a:p>
            <a:pPr eaLnBrk="1" hangingPunct="1">
              <a:lnSpc>
                <a:spcPct val="80000"/>
              </a:lnSpc>
              <a:buFontTx/>
              <a:buNone/>
              <a:defRPr/>
            </a:pPr>
            <a:r>
              <a:rPr lang="en-US" sz="2400">
                <a:latin typeface="Comic Sans MS" charset="0"/>
                <a:cs typeface="+mn-cs"/>
              </a:rPr>
              <a:t>		int j = 0;</a:t>
            </a:r>
          </a:p>
          <a:p>
            <a:pPr eaLnBrk="1" hangingPunct="1">
              <a:lnSpc>
                <a:spcPct val="80000"/>
              </a:lnSpc>
              <a:buFontTx/>
              <a:buNone/>
              <a:defRPr/>
            </a:pPr>
            <a:r>
              <a:rPr lang="en-US" sz="2400">
                <a:latin typeface="Comic Sans MS" charset="0"/>
                <a:cs typeface="+mn-cs"/>
              </a:rPr>
              <a:t>		while(j &lt; threads.size() &amp;&amp; !found){</a:t>
            </a:r>
          </a:p>
          <a:p>
            <a:pPr eaLnBrk="1" hangingPunct="1">
              <a:lnSpc>
                <a:spcPct val="80000"/>
              </a:lnSpc>
              <a:buFontTx/>
              <a:buNone/>
              <a:defRPr/>
            </a:pPr>
            <a:r>
              <a:rPr lang="en-US" sz="2400">
                <a:latin typeface="Comic Sans MS" charset="0"/>
                <a:cs typeface="+mn-cs"/>
              </a:rPr>
              <a:t>			Thread t1 = (Thread)threads.get(j);</a:t>
            </a:r>
          </a:p>
          <a:p>
            <a:pPr eaLnBrk="1" hangingPunct="1">
              <a:lnSpc>
                <a:spcPct val="80000"/>
              </a:lnSpc>
              <a:buFontTx/>
              <a:buNone/>
              <a:defRPr/>
            </a:pPr>
            <a:r>
              <a:rPr lang="en-US" sz="2400">
                <a:latin typeface="Comic Sans MS" charset="0"/>
                <a:cs typeface="+mn-cs"/>
              </a:rPr>
              <a:t>			if(t == t1)</a:t>
            </a:r>
          </a:p>
          <a:p>
            <a:pPr eaLnBrk="1" hangingPunct="1">
              <a:lnSpc>
                <a:spcPct val="80000"/>
              </a:lnSpc>
              <a:buFontTx/>
              <a:buNone/>
              <a:defRPr/>
            </a:pPr>
            <a:r>
              <a:rPr lang="en-US" sz="2400">
                <a:latin typeface="Comic Sans MS" charset="0"/>
                <a:cs typeface="+mn-cs"/>
              </a:rPr>
              <a:t>			  found = true;</a:t>
            </a:r>
          </a:p>
          <a:p>
            <a:pPr eaLnBrk="1" hangingPunct="1">
              <a:lnSpc>
                <a:spcPct val="80000"/>
              </a:lnSpc>
              <a:buFontTx/>
              <a:buNone/>
              <a:defRPr/>
            </a:pPr>
            <a:r>
              <a:rPr lang="en-US" sz="2400">
                <a:latin typeface="Comic Sans MS" charset="0"/>
                <a:cs typeface="+mn-cs"/>
              </a:rPr>
              <a:t>			else</a:t>
            </a:r>
          </a:p>
          <a:p>
            <a:pPr eaLnBrk="1" hangingPunct="1">
              <a:lnSpc>
                <a:spcPct val="80000"/>
              </a:lnSpc>
              <a:buFontTx/>
              <a:buNone/>
              <a:defRPr/>
            </a:pPr>
            <a:r>
              <a:rPr lang="en-US" sz="2400">
                <a:latin typeface="Comic Sans MS" charset="0"/>
                <a:cs typeface="+mn-cs"/>
              </a:rPr>
              <a:t>			  ; //skip</a:t>
            </a:r>
          </a:p>
          <a:p>
            <a:pPr eaLnBrk="1" hangingPunct="1">
              <a:lnSpc>
                <a:spcPct val="80000"/>
              </a:lnSpc>
              <a:buFontTx/>
              <a:buNone/>
              <a:defRPr/>
            </a:pPr>
            <a:r>
              <a:rPr lang="en-US" sz="2400">
                <a:latin typeface="Comic Sans MS" charset="0"/>
                <a:cs typeface="+mn-cs"/>
              </a:rPr>
              <a:t>		}</a:t>
            </a:r>
          </a:p>
          <a:p>
            <a:pPr eaLnBrk="1" hangingPunct="1">
              <a:lnSpc>
                <a:spcPct val="80000"/>
              </a:lnSpc>
              <a:buFontTx/>
              <a:buNone/>
              <a:defRPr/>
            </a:pPr>
            <a:r>
              <a:rPr lang="en-US" sz="2400">
                <a:latin typeface="Comic Sans MS" charset="0"/>
                <a:cs typeface="+mn-cs"/>
              </a:rPr>
              <a:t>		if(found)</a:t>
            </a:r>
          </a:p>
          <a:p>
            <a:pPr eaLnBrk="1" hangingPunct="1">
              <a:lnSpc>
                <a:spcPct val="80000"/>
              </a:lnSpc>
              <a:buFontTx/>
              <a:buNone/>
              <a:defRPr/>
            </a:pPr>
            <a:r>
              <a:rPr lang="en-US" sz="2400">
                <a:latin typeface="Comic Sans MS" charset="0"/>
                <a:cs typeface="+mn-cs"/>
              </a:rPr>
              <a:t>		   threads.remove(j);</a:t>
            </a:r>
          </a:p>
          <a:p>
            <a:pPr eaLnBrk="1" hangingPunct="1">
              <a:lnSpc>
                <a:spcPct val="80000"/>
              </a:lnSpc>
              <a:buFontTx/>
              <a:buNone/>
              <a:defRPr/>
            </a:pPr>
            <a:r>
              <a:rPr lang="en-US" sz="2400">
                <a:latin typeface="Comic Sans MS" charset="0"/>
                <a:cs typeface="+mn-cs"/>
              </a:rPr>
              <a:t>		else</a:t>
            </a:r>
          </a:p>
          <a:p>
            <a:pPr eaLnBrk="1" hangingPunct="1">
              <a:lnSpc>
                <a:spcPct val="80000"/>
              </a:lnSpc>
              <a:buFontTx/>
              <a:buNone/>
              <a:defRPr/>
            </a:pPr>
            <a:r>
              <a:rPr lang="en-US" sz="2400">
                <a:latin typeface="Comic Sans MS" charset="0"/>
                <a:cs typeface="+mn-cs"/>
              </a:rPr>
              <a:t>		  ; //skip</a:t>
            </a:r>
          </a:p>
          <a:p>
            <a:pPr eaLnBrk="1" hangingPunct="1">
              <a:lnSpc>
                <a:spcPct val="80000"/>
              </a:lnSpc>
              <a:buFontTx/>
              <a:buNone/>
              <a:defRPr/>
            </a:pPr>
            <a:r>
              <a:rPr lang="en-US" sz="2400">
                <a:latin typeface="Comic Sans MS" charset="0"/>
                <a:cs typeface="+mn-cs"/>
              </a:rPr>
              <a:t>   }</a:t>
            </a:r>
          </a:p>
        </p:txBody>
      </p:sp>
    </p:spTree>
    <p:extLst>
      <p:ext uri="{BB962C8B-B14F-4D97-AF65-F5344CB8AC3E}">
        <p14:creationId xmlns:p14="http://schemas.microsoft.com/office/powerpoint/2010/main" val="364088577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B8E0827C-6A32-DF4A-8045-17052B687843}" type="slidenum">
              <a:rPr lang="en-US"/>
              <a:pPr>
                <a:defRPr/>
              </a:pPr>
              <a:t>94</a:t>
            </a:fld>
            <a:endParaRPr lang="en-US"/>
          </a:p>
        </p:txBody>
      </p:sp>
      <p:sp>
        <p:nvSpPr>
          <p:cNvPr id="61442" name="Rectangle 2"/>
          <p:cNvSpPr>
            <a:spLocks noGrp="1" noChangeArrowheads="1"/>
          </p:cNvSpPr>
          <p:nvPr>
            <p:ph type="title"/>
          </p:nvPr>
        </p:nvSpPr>
        <p:spPr>
          <a:xfrm>
            <a:off x="457200" y="274638"/>
            <a:ext cx="8229600" cy="69850"/>
          </a:xfrm>
        </p:spPr>
        <p:txBody>
          <a:bodyPr>
            <a:normAutofit fontScale="90000"/>
          </a:bodyPr>
          <a:lstStyle/>
          <a:p>
            <a:pPr eaLnBrk="1" hangingPunct="1">
              <a:defRPr/>
            </a:pPr>
            <a:endParaRPr lang="en-US" sz="3200">
              <a:cs typeface="+mj-cs"/>
            </a:endParaRPr>
          </a:p>
        </p:txBody>
      </p:sp>
      <p:sp>
        <p:nvSpPr>
          <p:cNvPr id="61443" name="Rectangle 3"/>
          <p:cNvSpPr>
            <a:spLocks noGrp="1" noChangeArrowheads="1"/>
          </p:cNvSpPr>
          <p:nvPr>
            <p:ph type="body" idx="1"/>
          </p:nvPr>
        </p:nvSpPr>
        <p:spPr>
          <a:xfrm>
            <a:off x="457200" y="476250"/>
            <a:ext cx="8229600" cy="5649913"/>
          </a:xfrm>
        </p:spPr>
        <p:txBody>
          <a:bodyPr/>
          <a:lstStyle/>
          <a:p>
            <a:pPr eaLnBrk="1" hangingPunct="1">
              <a:lnSpc>
                <a:spcPct val="80000"/>
              </a:lnSpc>
              <a:buFontTx/>
              <a:buNone/>
              <a:defRPr/>
            </a:pPr>
            <a:r>
              <a:rPr lang="en-US" sz="2400">
                <a:latin typeface="Comic Sans MS" charset="0"/>
                <a:cs typeface="+mn-cs"/>
              </a:rPr>
              <a:t>public void run() {</a:t>
            </a:r>
          </a:p>
          <a:p>
            <a:pPr eaLnBrk="1" hangingPunct="1">
              <a:lnSpc>
                <a:spcPct val="80000"/>
              </a:lnSpc>
              <a:buFontTx/>
              <a:buNone/>
              <a:defRPr/>
            </a:pPr>
            <a:r>
              <a:rPr lang="en-US" sz="2400">
                <a:latin typeface="Comic Sans MS" charset="0"/>
                <a:cs typeface="+mn-cs"/>
              </a:rPr>
              <a:t>	Thread current;</a:t>
            </a:r>
          </a:p>
          <a:p>
            <a:pPr eaLnBrk="1" hangingPunct="1">
              <a:lnSpc>
                <a:spcPct val="80000"/>
              </a:lnSpc>
              <a:buFontTx/>
              <a:buNone/>
              <a:defRPr/>
            </a:pPr>
            <a:r>
              <a:rPr lang="en-US" sz="2400">
                <a:latin typeface="Comic Sans MS" charset="0"/>
                <a:cs typeface="+mn-cs"/>
              </a:rPr>
              <a:t>	while (true) {</a:t>
            </a:r>
          </a:p>
          <a:p>
            <a:pPr eaLnBrk="1" hangingPunct="1">
              <a:lnSpc>
                <a:spcPct val="80000"/>
              </a:lnSpc>
              <a:buFontTx/>
              <a:buNone/>
              <a:defRPr/>
            </a:pPr>
            <a:r>
              <a:rPr lang="en-US" sz="2400">
                <a:latin typeface="Comic Sans MS" charset="0"/>
                <a:cs typeface="+mn-cs"/>
              </a:rPr>
              <a:t>		System.out.println(threads.size());</a:t>
            </a:r>
          </a:p>
          <a:p>
            <a:pPr eaLnBrk="1" hangingPunct="1">
              <a:lnSpc>
                <a:spcPct val="80000"/>
              </a:lnSpc>
              <a:buFontTx/>
              <a:buNone/>
              <a:defRPr/>
            </a:pPr>
            <a:r>
              <a:rPr lang="en-US" sz="2400">
                <a:latin typeface="Comic Sans MS" charset="0"/>
                <a:cs typeface="+mn-cs"/>
              </a:rPr>
              <a:t>		current = getNextThread();</a:t>
            </a:r>
          </a:p>
          <a:p>
            <a:pPr eaLnBrk="1" hangingPunct="1">
              <a:lnSpc>
                <a:spcPct val="80000"/>
              </a:lnSpc>
              <a:buFontTx/>
              <a:buNone/>
              <a:defRPr/>
            </a:pPr>
            <a:r>
              <a:rPr lang="en-US" sz="2400">
                <a:latin typeface="Comic Sans MS" charset="0"/>
                <a:cs typeface="+mn-cs"/>
              </a:rPr>
              <a:t>		if (current == null)</a:t>
            </a:r>
          </a:p>
          <a:p>
            <a:pPr eaLnBrk="1" hangingPunct="1">
              <a:lnSpc>
                <a:spcPct val="80000"/>
              </a:lnSpc>
              <a:buFontTx/>
              <a:buNone/>
              <a:defRPr/>
            </a:pPr>
            <a:r>
              <a:rPr lang="en-US" sz="2400">
                <a:latin typeface="Comic Sans MS" charset="0"/>
                <a:cs typeface="+mn-cs"/>
              </a:rPr>
              <a:t>			return;</a:t>
            </a:r>
          </a:p>
          <a:p>
            <a:pPr eaLnBrk="1" hangingPunct="1">
              <a:lnSpc>
                <a:spcPct val="80000"/>
              </a:lnSpc>
              <a:buFontTx/>
              <a:buNone/>
              <a:defRPr/>
            </a:pPr>
            <a:r>
              <a:rPr lang="en-US" sz="2400">
                <a:latin typeface="Comic Sans MS" charset="0"/>
                <a:cs typeface="+mn-cs"/>
              </a:rPr>
              <a:t>		try {</a:t>
            </a:r>
          </a:p>
          <a:p>
            <a:pPr eaLnBrk="1" hangingPunct="1">
              <a:lnSpc>
                <a:spcPct val="80000"/>
              </a:lnSpc>
              <a:buFontTx/>
              <a:buNone/>
              <a:defRPr/>
            </a:pPr>
            <a:r>
              <a:rPr lang="en-US" sz="2400">
                <a:latin typeface="Comic Sans MS" charset="0"/>
                <a:cs typeface="+mn-cs"/>
              </a:rPr>
              <a:t>				current.setPriority(Thread.NORM_PRIORITY);</a:t>
            </a:r>
          </a:p>
          <a:p>
            <a:pPr eaLnBrk="1" hangingPunct="1">
              <a:lnSpc>
                <a:spcPct val="80000"/>
              </a:lnSpc>
              <a:buFontTx/>
              <a:buNone/>
              <a:defRPr/>
            </a:pPr>
            <a:r>
              <a:rPr lang="en-US" sz="2400">
                <a:latin typeface="Comic Sans MS" charset="0"/>
                <a:cs typeface="+mn-cs"/>
              </a:rPr>
              <a:t>		} catch (Exception e) {</a:t>
            </a:r>
          </a:p>
          <a:p>
            <a:pPr eaLnBrk="1" hangingPunct="1">
              <a:lnSpc>
                <a:spcPct val="80000"/>
              </a:lnSpc>
              <a:buFontTx/>
              <a:buNone/>
              <a:defRPr/>
            </a:pPr>
            <a:r>
              <a:rPr lang="en-US" sz="2400">
                <a:latin typeface="Comic Sans MS" charset="0"/>
                <a:cs typeface="+mn-cs"/>
              </a:rPr>
              <a:t>		   removeThread(current);</a:t>
            </a:r>
          </a:p>
          <a:p>
            <a:pPr eaLnBrk="1" hangingPunct="1">
              <a:lnSpc>
                <a:spcPct val="80000"/>
              </a:lnSpc>
              <a:buFontTx/>
              <a:buNone/>
              <a:defRPr/>
            </a:pPr>
            <a:r>
              <a:rPr lang="en-US" sz="2400">
                <a:latin typeface="Comic Sans MS" charset="0"/>
                <a:cs typeface="+mn-cs"/>
              </a:rPr>
              <a:t>		  continue; </a:t>
            </a:r>
          </a:p>
          <a:p>
            <a:pPr eaLnBrk="1" hangingPunct="1">
              <a:lnSpc>
                <a:spcPct val="80000"/>
              </a:lnSpc>
              <a:buFontTx/>
              <a:buNone/>
              <a:defRPr/>
            </a:pPr>
            <a:r>
              <a:rPr lang="en-US" sz="2400">
                <a:latin typeface="Comic Sans MS" charset="0"/>
                <a:cs typeface="+mn-cs"/>
              </a:rPr>
              <a:t>           // end current iteration and begin new one</a:t>
            </a:r>
          </a:p>
          <a:p>
            <a:pPr eaLnBrk="1" hangingPunct="1">
              <a:lnSpc>
                <a:spcPct val="80000"/>
              </a:lnSpc>
              <a:buFontTx/>
              <a:buNone/>
              <a:defRPr/>
            </a:pPr>
            <a:r>
              <a:rPr lang="en-US" sz="2400">
                <a:latin typeface="Comic Sans MS" charset="0"/>
                <a:cs typeface="+mn-cs"/>
              </a:rPr>
              <a:t>	}</a:t>
            </a:r>
            <a:r>
              <a:rPr lang="en-US" sz="1800">
                <a:latin typeface="Comic Sans MS" charset="0"/>
                <a:cs typeface="+mn-cs"/>
              </a:rPr>
              <a:t>			</a:t>
            </a:r>
          </a:p>
        </p:txBody>
      </p:sp>
    </p:spTree>
    <p:extLst>
      <p:ext uri="{BB962C8B-B14F-4D97-AF65-F5344CB8AC3E}">
        <p14:creationId xmlns:p14="http://schemas.microsoft.com/office/powerpoint/2010/main" val="25516558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1E90D0EC-7C81-5745-B70B-EAA016D03E5B}" type="slidenum">
              <a:rPr lang="en-US"/>
              <a:pPr>
                <a:defRPr/>
              </a:pPr>
              <a:t>95</a:t>
            </a:fld>
            <a:endParaRPr lang="en-US"/>
          </a:p>
        </p:txBody>
      </p:sp>
      <p:sp>
        <p:nvSpPr>
          <p:cNvPr id="63490" name="Rectangle 2"/>
          <p:cNvSpPr>
            <a:spLocks noGrp="1" noChangeArrowheads="1"/>
          </p:cNvSpPr>
          <p:nvPr>
            <p:ph type="title"/>
          </p:nvPr>
        </p:nvSpPr>
        <p:spPr>
          <a:xfrm>
            <a:off x="468313" y="0"/>
            <a:ext cx="8229600" cy="188913"/>
          </a:xfrm>
        </p:spPr>
        <p:txBody>
          <a:bodyPr>
            <a:normAutofit fontScale="90000"/>
          </a:bodyPr>
          <a:lstStyle/>
          <a:p>
            <a:pPr eaLnBrk="1" hangingPunct="1">
              <a:defRPr/>
            </a:pPr>
            <a:endParaRPr lang="en-US" sz="3200">
              <a:cs typeface="+mj-cs"/>
            </a:endParaRPr>
          </a:p>
        </p:txBody>
      </p:sp>
      <p:sp>
        <p:nvSpPr>
          <p:cNvPr id="63491" name="Rectangle 3"/>
          <p:cNvSpPr>
            <a:spLocks noGrp="1" noChangeArrowheads="1"/>
          </p:cNvSpPr>
          <p:nvPr>
            <p:ph type="body" idx="1"/>
          </p:nvPr>
        </p:nvSpPr>
        <p:spPr>
          <a:xfrm>
            <a:off x="468313" y="188913"/>
            <a:ext cx="8229600" cy="5903912"/>
          </a:xfrm>
        </p:spPr>
        <p:txBody>
          <a:bodyPr/>
          <a:lstStyle/>
          <a:p>
            <a:pPr lvl="1" eaLnBrk="1" hangingPunct="1">
              <a:lnSpc>
                <a:spcPct val="80000"/>
              </a:lnSpc>
              <a:buFontTx/>
              <a:buNone/>
              <a:defRPr/>
            </a:pPr>
            <a:endParaRPr lang="en-US" sz="2400">
              <a:latin typeface="Comic Sans MS" charset="0"/>
            </a:endParaRPr>
          </a:p>
          <a:p>
            <a:pPr lvl="1" eaLnBrk="1" hangingPunct="1">
              <a:lnSpc>
                <a:spcPct val="80000"/>
              </a:lnSpc>
              <a:buFontTx/>
              <a:buNone/>
              <a:defRPr/>
            </a:pPr>
            <a:r>
              <a:rPr lang="en-US" sz="2400">
                <a:latin typeface="Comic Sans MS" charset="0"/>
              </a:rPr>
              <a:t>try {</a:t>
            </a:r>
          </a:p>
          <a:p>
            <a:pPr lvl="1" eaLnBrk="1" hangingPunct="1">
              <a:lnSpc>
                <a:spcPct val="80000"/>
              </a:lnSpc>
              <a:buFontTx/>
              <a:buNone/>
              <a:defRPr/>
            </a:pPr>
            <a:r>
              <a:rPr lang="en-US" sz="2400">
                <a:latin typeface="Comic Sans MS" charset="0"/>
              </a:rPr>
              <a:t>	Thread.sleep(timeslice);</a:t>
            </a:r>
          </a:p>
          <a:p>
            <a:pPr lvl="1" eaLnBrk="1" hangingPunct="1">
              <a:lnSpc>
                <a:spcPct val="80000"/>
              </a:lnSpc>
              <a:buFontTx/>
              <a:buNone/>
              <a:defRPr/>
            </a:pPr>
            <a:r>
              <a:rPr lang="en-US" sz="2400">
                <a:latin typeface="Comic Sans MS" charset="0"/>
              </a:rPr>
              <a:t>} </a:t>
            </a:r>
          </a:p>
          <a:p>
            <a:pPr lvl="1" eaLnBrk="1" hangingPunct="1">
              <a:lnSpc>
                <a:spcPct val="80000"/>
              </a:lnSpc>
              <a:buFontTx/>
              <a:buNone/>
              <a:defRPr/>
            </a:pPr>
            <a:r>
              <a:rPr lang="en-US" sz="2400">
                <a:latin typeface="Comic Sans MS" charset="0"/>
              </a:rPr>
              <a:t>catch (InterruptedException ie) {};</a:t>
            </a:r>
          </a:p>
          <a:p>
            <a:pPr lvl="1" eaLnBrk="1" hangingPunct="1">
              <a:lnSpc>
                <a:spcPct val="80000"/>
              </a:lnSpc>
              <a:buFontTx/>
              <a:buNone/>
              <a:defRPr/>
            </a:pPr>
            <a:r>
              <a:rPr lang="en-US" sz="2400">
                <a:latin typeface="Comic Sans MS" charset="0"/>
              </a:rPr>
              <a:t>try {</a:t>
            </a:r>
          </a:p>
          <a:p>
            <a:pPr lvl="1" eaLnBrk="1" hangingPunct="1">
              <a:lnSpc>
                <a:spcPct val="80000"/>
              </a:lnSpc>
              <a:buFontTx/>
              <a:buNone/>
              <a:defRPr/>
            </a:pPr>
            <a:r>
              <a:rPr lang="en-US" sz="2400">
                <a:latin typeface="Comic Sans MS" charset="0"/>
              </a:rPr>
              <a:t>		current.setPriority(Thread.MIN_PRIORITY);</a:t>
            </a:r>
          </a:p>
          <a:p>
            <a:pPr lvl="1" eaLnBrk="1" hangingPunct="1">
              <a:lnSpc>
                <a:spcPct val="80000"/>
              </a:lnSpc>
              <a:buFontTx/>
              <a:buNone/>
              <a:defRPr/>
            </a:pPr>
            <a:r>
              <a:rPr lang="en-US" sz="2400">
                <a:latin typeface="Comic Sans MS" charset="0"/>
              </a:rPr>
              <a:t>}</a:t>
            </a:r>
          </a:p>
          <a:p>
            <a:pPr lvl="1" eaLnBrk="1" hangingPunct="1">
              <a:lnSpc>
                <a:spcPct val="80000"/>
              </a:lnSpc>
              <a:buFontTx/>
              <a:buNone/>
              <a:defRPr/>
            </a:pPr>
            <a:r>
              <a:rPr lang="en-US" sz="2400">
                <a:latin typeface="Comic Sans MS" charset="0"/>
              </a:rPr>
              <a:t>catch (Exception e) {</a:t>
            </a:r>
          </a:p>
          <a:p>
            <a:pPr lvl="1" eaLnBrk="1" hangingPunct="1">
              <a:lnSpc>
                <a:spcPct val="80000"/>
              </a:lnSpc>
              <a:buFontTx/>
              <a:buNone/>
              <a:defRPr/>
            </a:pPr>
            <a:r>
              <a:rPr lang="en-US" sz="2400">
                <a:latin typeface="Comic Sans MS" charset="0"/>
              </a:rPr>
              <a:t>	removeThread(current);</a:t>
            </a:r>
          </a:p>
          <a:p>
            <a:pPr lvl="1" eaLnBrk="1" hangingPunct="1">
              <a:lnSpc>
                <a:spcPct val="80000"/>
              </a:lnSpc>
              <a:buFontTx/>
              <a:buNone/>
              <a:defRPr/>
            </a:pPr>
            <a:r>
              <a:rPr lang="en-US" sz="2400">
                <a:latin typeface="Comic Sans MS" charset="0"/>
              </a:rPr>
              <a:t>	continue;</a:t>
            </a:r>
          </a:p>
          <a:p>
            <a:pPr lvl="1" eaLnBrk="1" hangingPunct="1">
              <a:lnSpc>
                <a:spcPct val="80000"/>
              </a:lnSpc>
              <a:buFontTx/>
              <a:buNone/>
              <a:defRPr/>
            </a:pPr>
            <a:r>
              <a:rPr lang="en-US" sz="2400">
                <a:latin typeface="Comic Sans MS" charset="0"/>
              </a:rPr>
              <a:t>     // end current iteration and begin new one</a:t>
            </a:r>
          </a:p>
          <a:p>
            <a:pPr lvl="1" eaLnBrk="1" hangingPunct="1">
              <a:lnSpc>
                <a:spcPct val="80000"/>
              </a:lnSpc>
              <a:buFontTx/>
              <a:buNone/>
              <a:defRPr/>
            </a:pPr>
            <a:r>
              <a:rPr lang="en-US" sz="2400">
                <a:latin typeface="Comic Sans MS" charset="0"/>
              </a:rPr>
              <a:t>}</a:t>
            </a:r>
          </a:p>
          <a:p>
            <a:pPr eaLnBrk="1" hangingPunct="1">
              <a:lnSpc>
                <a:spcPct val="80000"/>
              </a:lnSpc>
              <a:buFontTx/>
              <a:buNone/>
              <a:defRPr/>
            </a:pPr>
            <a:r>
              <a:rPr lang="en-US" sz="2400">
                <a:latin typeface="Comic Sans MS" charset="0"/>
                <a:cs typeface="+mn-cs"/>
              </a:rPr>
              <a:t>}}}</a:t>
            </a:r>
          </a:p>
          <a:p>
            <a:pPr eaLnBrk="1" hangingPunct="1">
              <a:lnSpc>
                <a:spcPct val="80000"/>
              </a:lnSpc>
              <a:defRPr/>
            </a:pPr>
            <a:endParaRPr lang="en-US" sz="1600">
              <a:cs typeface="+mn-cs"/>
            </a:endParaRPr>
          </a:p>
        </p:txBody>
      </p:sp>
    </p:spTree>
    <p:extLst>
      <p:ext uri="{BB962C8B-B14F-4D97-AF65-F5344CB8AC3E}">
        <p14:creationId xmlns:p14="http://schemas.microsoft.com/office/powerpoint/2010/main" val="3631461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505</TotalTime>
  <Words>5366</Words>
  <Application>Microsoft Office PowerPoint</Application>
  <PresentationFormat>On-screen Show (4:3)</PresentationFormat>
  <Paragraphs>986</Paragraphs>
  <Slides>95</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95</vt:i4>
      </vt:variant>
    </vt:vector>
  </HeadingPairs>
  <TitlesOfParts>
    <vt:vector size="99" baseType="lpstr">
      <vt:lpstr>Arial</vt:lpstr>
      <vt:lpstr>Calibri</vt:lpstr>
      <vt:lpstr>Comic Sans MS</vt:lpstr>
      <vt:lpstr>Office Theme</vt:lpstr>
      <vt:lpstr>Introduction to Parallel and Distributed Programming</vt:lpstr>
      <vt:lpstr>PowerPoint Presentation</vt:lpstr>
      <vt:lpstr>PowerPoint Presentation</vt:lpstr>
      <vt:lpstr>Why Concurrency?</vt:lpstr>
      <vt:lpstr>Concurrent Processes</vt:lpstr>
      <vt:lpstr>Concurrent processes</vt:lpstr>
      <vt:lpstr>Concurrent Processing</vt:lpstr>
      <vt:lpstr> Advantages of Parallel Programming </vt:lpstr>
      <vt:lpstr>Threads</vt:lpstr>
      <vt:lpstr>Two types of Multi-tasking</vt:lpstr>
      <vt:lpstr>Programming languages</vt:lpstr>
      <vt:lpstr>Concurrent Paradigm</vt:lpstr>
      <vt:lpstr>Concurrent Paradigm</vt:lpstr>
      <vt:lpstr>Parallel Search</vt:lpstr>
      <vt:lpstr>Performance</vt:lpstr>
      <vt:lpstr>Modeling systems that involve different types of task</vt:lpstr>
      <vt:lpstr>Embedded System</vt:lpstr>
      <vt:lpstr>PowerPoint Presentation</vt:lpstr>
      <vt:lpstr>Aperiodic tasks</vt:lpstr>
      <vt:lpstr>Robustness</vt:lpstr>
      <vt:lpstr>Problems with Concurrency</vt:lpstr>
      <vt:lpstr>Sharing a Resource</vt:lpstr>
      <vt:lpstr>PowerPoint Presentation</vt:lpstr>
      <vt:lpstr>PowerPoint Presentation</vt:lpstr>
      <vt:lpstr>Deadlock and Starvation </vt:lpstr>
      <vt:lpstr>Deadlock avoidance</vt:lpstr>
      <vt:lpstr>PowerPoint Presentation</vt:lpstr>
      <vt:lpstr>Consequences for Programmers</vt:lpstr>
      <vt:lpstr>History of Concurrent Programming</vt:lpstr>
      <vt:lpstr>History of Concurrent Programming</vt:lpstr>
      <vt:lpstr>Reading List</vt:lpstr>
      <vt:lpstr>Course Content</vt:lpstr>
      <vt:lpstr>Assessment</vt:lpstr>
      <vt:lpstr>PowerPoint Presentation</vt:lpstr>
      <vt:lpstr>Processes and Win32</vt:lpstr>
      <vt:lpstr>Shared Memory Model</vt:lpstr>
      <vt:lpstr>PowerPoint Presentation</vt:lpstr>
      <vt:lpstr>Thread</vt:lpstr>
      <vt:lpstr>Threads</vt:lpstr>
      <vt:lpstr>Threads</vt:lpstr>
      <vt:lpstr>Threads</vt:lpstr>
      <vt:lpstr>Threads</vt:lpstr>
      <vt:lpstr>PowerPoint Presentation</vt:lpstr>
      <vt:lpstr>PowerPoint Presentation</vt:lpstr>
      <vt:lpstr>PowerPoint Presentation</vt:lpstr>
      <vt:lpstr>Threads</vt:lpstr>
      <vt:lpstr>Threads</vt:lpstr>
      <vt:lpstr>PowerPoint Presentation</vt:lpstr>
      <vt:lpstr>Thread Methods</vt:lpstr>
      <vt:lpstr>sleep()</vt:lpstr>
      <vt:lpstr>MessagePrinter Thread</vt:lpstr>
      <vt:lpstr>PowerPoint Presentation</vt:lpstr>
      <vt:lpstr>PowerPoint Presentation</vt:lpstr>
      <vt:lpstr>PowerPoint Presentation</vt:lpstr>
      <vt:lpstr>PowerPoint Presentation</vt:lpstr>
      <vt:lpstr>Threads Ex 2</vt:lpstr>
      <vt:lpstr>Threads</vt:lpstr>
      <vt:lpstr>Threads</vt:lpstr>
      <vt:lpstr>Threads</vt:lpstr>
      <vt:lpstr>Threads</vt:lpstr>
      <vt:lpstr>PowerPoint Presentation</vt:lpstr>
      <vt:lpstr>Output</vt:lpstr>
      <vt:lpstr>PowerPoint Presentation</vt:lpstr>
      <vt:lpstr>Threads</vt:lpstr>
      <vt:lpstr>Threads</vt:lpstr>
      <vt:lpstr>Thread States</vt:lpstr>
      <vt:lpstr>PowerPoint Presentation</vt:lpstr>
      <vt:lpstr>PowerPoint Presentation</vt:lpstr>
      <vt:lpstr>Thread Priority</vt:lpstr>
      <vt:lpstr>Threads</vt:lpstr>
      <vt:lpstr>Threads</vt:lpstr>
      <vt:lpstr>Stopping a Thread</vt:lpstr>
      <vt:lpstr>EggTimer</vt:lpstr>
      <vt:lpstr>PowerPoint Presentation</vt:lpstr>
      <vt:lpstr>Asynchronous Procedures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vt:lpstr>
      <vt:lpstr>Exercise</vt:lpstr>
      <vt:lpstr>Exercise</vt:lpstr>
      <vt:lpstr>Exercise</vt:lpstr>
      <vt:lpstr>PowerPoint Presentation</vt:lpstr>
      <vt:lpstr>PowerPoint Presentation</vt:lpstr>
      <vt:lpstr>CPU Scheduler</vt:lpstr>
      <vt:lpstr>PowerPoint Presentation</vt:lpstr>
      <vt:lpstr>PowerPoint Presentation</vt:lpstr>
      <vt:lpstr>PowerPoint Presentation</vt:lpstr>
      <vt:lpstr>PowerPoint Presentation</vt:lpstr>
      <vt:lpstr>PowerPoint Presentation</vt:lpstr>
    </vt:vector>
  </TitlesOfParts>
  <Company>Griffith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Tony Mullins</dc:creator>
  <cp:lastModifiedBy>osama,abushama</cp:lastModifiedBy>
  <cp:revision>44</cp:revision>
  <dcterms:created xsi:type="dcterms:W3CDTF">2013-09-24T16:08:41Z</dcterms:created>
  <dcterms:modified xsi:type="dcterms:W3CDTF">2020-02-02T11:14:26Z</dcterms:modified>
</cp:coreProperties>
</file>